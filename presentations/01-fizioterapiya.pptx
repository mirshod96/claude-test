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 autoCompressPictures="0">
  <p:sldMasterIdLst>
    <p:sldMasterId id="2147483648" r:id="rId1"/>
  </p:sldMasterIdLst>
  <p:sldSz cx="12192119" cy="6858000" type="custom"/>
  <p:notesSz cx="12192119" cy="6858000"/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  <Relationship Id="rId15" Type="http://schemas.openxmlformats.org/officeDocument/2006/relationships/slide" Target="slides/slide13.xml"/>
  <Relationship Id="rId16" Type="http://schemas.openxmlformats.org/officeDocument/2006/relationships/slide" Target="slides/slide14.xml"/>
  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63B40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63B4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>
            <a:spLocks noGrp="1"/>
          </p:cNvSpPr>
          <p:nvPr/>
        </p:nvSpPr>
        <p:spPr>
          <a:xfrm>
            <a:off x="0" y="0"/>
            <a:ext cx="2520000" cy="6858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4"/>
          <p:cNvSpPr txBox="1"/>
          <p:nvPr/>
        </p:nvSpPr>
        <p:spPr>
          <a:xfrm>
            <a:off x="216000" y="180000"/>
            <a:ext cx="79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1" dirty="0" smtClean="0">
                <a:solidFill>
                  <a:srgbClr val="1DE0C4"/>
                </a:solidFill>
                <a:latin typeface="Calibri"/>
              </a:rPr>
              <a:t>FIZIOTERAPIYA  ·  REPRODUKTIV SALOMATLIK</a:t>
            </a:r>
          </a:p>
        </p:txBody>
      </p:sp>
      <p:sp>
        <p:nvSpPr>
          <p:cNvPr id="5" name="t5"/>
          <p:cNvSpPr txBox="1"/>
          <p:nvPr/>
        </p:nvSpPr>
        <p:spPr>
          <a:xfrm>
            <a:off x="216000" y="720000"/>
            <a:ext cx="7920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700" b="1" dirty="0" smtClean="0">
                <a:solidFill>
                  <a:srgbClr val="FFFFFF"/>
                </a:solidFill>
                <a:latin typeface="Calibri"/>
              </a:rPr>
              <a:t>Akusherlik-ginekologiya hamda</a:t>
            </a:r>
          </a:p>
          <a:p>
            <a:pPr algn="l" indent="0" marL="0"/>
            <a:r>
              <a:rPr lang="uz-UZ" sz="2700" b="1" dirty="0" smtClean="0">
                <a:solidFill>
                  <a:srgbClr val="FFFFFF"/>
                </a:solidFill>
                <a:latin typeface="Calibri"/>
              </a:rPr>
              <a:t>urologik-andrologik amaliyotda</a:t>
            </a:r>
          </a:p>
          <a:p>
            <a:pPr algn="l" indent="0" marL="0"/>
            <a:r>
              <a:rPr lang="uz-UZ" sz="2700" b="1" dirty="0" smtClean="0">
                <a:solidFill>
                  <a:srgbClr val="1DE0C4"/>
                </a:solidFill>
                <a:latin typeface="Calibri"/>
              </a:rPr>
              <a:t>fizioterapiya</a:t>
            </a:r>
          </a:p>
        </p:txBody>
      </p:sp>
      <p:sp>
        <p:nvSpPr>
          <p:cNvPr id="6" name="t6"/>
          <p:cNvSpPr txBox="1"/>
          <p:nvPr/>
        </p:nvSpPr>
        <p:spPr>
          <a:xfrm>
            <a:off x="216000" y="2232000"/>
            <a:ext cx="86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BDEEE7"/>
                </a:solidFill>
                <a:latin typeface="Calibri"/>
              </a:rPr>
              <a:t>Jismoniy omillarning davolash-tiklash kuchidan reproduktiv</a:t>
            </a:r>
          </a:p>
          <a:p>
            <a:pPr algn="l" indent="0" marL="0"/>
            <a:r>
              <a:rPr lang="uz-UZ" sz="1400" b="0" dirty="0" smtClean="0">
                <a:solidFill>
                  <a:srgbClr val="BDEEE7"/>
                </a:solidFill>
                <a:latin typeface="Calibri"/>
              </a:rPr>
              <a:t>salomatlikni mustahkamlashda foydalanish — zamonaviy yondashuv.</a:t>
            </a:r>
          </a:p>
        </p:txBody>
      </p:sp>
      <p:sp>
        <p:nvSpPr>
          <p:cNvPr id="7" name="t7"/>
          <p:cNvSpPr txBox="1"/>
          <p:nvPr/>
        </p:nvSpPr>
        <p:spPr>
          <a:xfrm>
            <a:off x="216000" y="2988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13B3A6"/>
                </a:solidFill>
                <a:latin typeface="Calibri"/>
              </a:rPr>
              <a:t>PhysioMed  ·  2026  ·  14 slayd</a:t>
            </a:r>
          </a:p>
        </p:txBody>
      </p:sp>
    </p:spTree>
  </p:cSld>
  <p:clrMapOvr>
    <a:masterClr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TAQDIMOT REJASI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216000" y="7992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41999" y="720000"/>
            <a:ext cx="527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01 – Fizioterapiya tushunchasi va o'rni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216000" y="11016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341999" y="1022400"/>
            <a:ext cx="527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02 – Maqsad va vazifalari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216000" y="14040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341999" y="1324800"/>
            <a:ext cx="527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03 – Asosiy fizik omillar va usullar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216000" y="17064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341999" y="1627200"/>
            <a:ext cx="527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04 – Akusherlikda qo'llanilishi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6120000" y="7992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13"/>
          <p:cNvSpPr txBox="1"/>
          <p:nvPr/>
        </p:nvSpPr>
        <p:spPr>
          <a:xfrm>
            <a:off x="6245999" y="7200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05 – Ginekologiyada qo'llanilishi</a:t>
            </a:r>
          </a:p>
        </p:txBody>
      </p:sp>
      <p:sp>
        <p:nvSpPr>
          <p:cNvPr id="14" name="r14"/>
          <p:cNvSpPr>
            <a:spLocks noGrp="1"/>
          </p:cNvSpPr>
          <p:nvPr/>
        </p:nvSpPr>
        <p:spPr>
          <a:xfrm>
            <a:off x="6120000" y="11016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6245999" y="10224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06 – Tos tubi mushaklari reabilitatsiyasi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120000" y="14040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6245999" y="13248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07 – Urologiya va andrologiyada</a:t>
            </a:r>
          </a:p>
        </p:txBody>
      </p:sp>
      <p:sp>
        <p:nvSpPr>
          <p:cNvPr id="18" name="r18"/>
          <p:cNvSpPr>
            <a:spLocks noGrp="1"/>
          </p:cNvSpPr>
          <p:nvPr/>
        </p:nvSpPr>
        <p:spPr>
          <a:xfrm>
            <a:off x="6120000" y="17064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19"/>
          <p:cNvSpPr txBox="1"/>
          <p:nvPr/>
        </p:nvSpPr>
        <p:spPr>
          <a:xfrm>
            <a:off x="6245999" y="16272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08 – Ko'rsatma, qarshi ko'rsatma, xulosa</a:t>
            </a:r>
          </a:p>
        </p:txBody>
      </p:sp>
    </p:spTree>
  </p:cSld>
  <p:clrMapOvr>
    <a:masterClr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01 · FIZIOTERAPIYA NIMA?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79200" cy="1980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96000" y="720000"/>
            <a:ext cx="558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Fizioterapiya — tabiiy va sun'iy jismoniy omillar</a:t>
            </a:r>
          </a:p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(elektr, magnit, ultratovush, issiqlik, suv) yordamida</a:t>
            </a:r>
          </a:p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kasalliklarni davolash va organizmni tiklash sohasidir.</a:t>
            </a:r>
          </a:p>
        </p:txBody>
      </p:sp>
      <p:sp>
        <p:nvSpPr>
          <p:cNvPr id="6" name="t6"/>
          <p:cNvSpPr txBox="1"/>
          <p:nvPr/>
        </p:nvSpPr>
        <p:spPr>
          <a:xfrm>
            <a:off x="396000" y="1728000"/>
            <a:ext cx="54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13B3A6"/>
                </a:solidFill>
                <a:latin typeface="Calibri"/>
              </a:rPr>
              <a:t>Dorisiz  ·  Og'riqsiz  ·  Kam nojo'ya ta'sir</a:t>
            </a:r>
          </a:p>
        </p:txBody>
      </p:sp>
      <p:sp>
        <p:nvSpPr>
          <p:cNvPr id="7" name="r7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8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Calibri"/>
              </a:rPr>
              <a:t>Reproduktiv tibbiyotda ahamiyati</a:t>
            </a:r>
          </a:p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6623999" y="13392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6749998" y="12600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Surunkali yallig'lanishlarni kamaytiradi</a:t>
            </a:r>
          </a:p>
        </p:txBody>
      </p:sp>
      <p:sp>
        <p:nvSpPr>
          <p:cNvPr id="11" name="r11"/>
          <p:cNvSpPr>
            <a:spLocks noGrp="1"/>
          </p:cNvSpPr>
          <p:nvPr/>
        </p:nvSpPr>
        <p:spPr>
          <a:xfrm>
            <a:off x="6623999" y="16416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12"/>
          <p:cNvSpPr txBox="1"/>
          <p:nvPr/>
        </p:nvSpPr>
        <p:spPr>
          <a:xfrm>
            <a:off x="6749998" y="15624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Qon va limfa aylanishini yaxshilaydi</a:t>
            </a:r>
          </a:p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6623999" y="19440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6749998" y="18648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Bitishmalar va og'riqni yumshatadi</a:t>
            </a:r>
          </a:p>
        </p:txBody>
      </p:sp>
      <p:sp>
        <p:nvSpPr>
          <p:cNvPr id="15" name="r15"/>
          <p:cNvSpPr>
            <a:spLocks noGrp="1"/>
          </p:cNvSpPr>
          <p:nvPr/>
        </p:nvSpPr>
        <p:spPr>
          <a:xfrm>
            <a:off x="6623999" y="22464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16"/>
          <p:cNvSpPr txBox="1"/>
          <p:nvPr/>
        </p:nvSpPr>
        <p:spPr>
          <a:xfrm>
            <a:off x="6749998" y="21672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Dorilar samarasini kuchaytiradi</a:t>
            </a:r>
          </a:p>
        </p:txBody>
      </p:sp>
    </p:spTree>
  </p:cSld>
  <p:clrMapOvr>
    <a:masterClr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02 · FIZIOTERAPIYANING VAZIFALARI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720000"/>
            <a:ext cx="3780000" cy="1008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288000" y="8856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Og'riqni bartaraf etish</a:t>
            </a:r>
          </a:p>
        </p:txBody>
      </p:sp>
      <p:sp>
        <p:nvSpPr>
          <p:cNvPr id="7" name="t7"/>
          <p:cNvSpPr txBox="1"/>
          <p:nvPr/>
        </p:nvSpPr>
        <p:spPr>
          <a:xfrm>
            <a:off x="288000" y="1206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Analgetik ta'sir orqali tos sohasidagi og'riqni kamaytirish.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4176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4176000" y="720000"/>
            <a:ext cx="3780000" cy="1008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4284000" y="8856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Yallig'lanishga qarshi</a:t>
            </a:r>
          </a:p>
        </p:txBody>
      </p:sp>
      <p:sp>
        <p:nvSpPr>
          <p:cNvPr id="11" name="t11"/>
          <p:cNvSpPr txBox="1"/>
          <p:nvPr/>
        </p:nvSpPr>
        <p:spPr>
          <a:xfrm>
            <a:off x="4284000" y="1206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Infiltratlarni so'rdirish, shishni kamaytirish.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8172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8172000" y="720000"/>
            <a:ext cx="3780000" cy="1008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8280000" y="8856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Qon aylanishini yaxshilash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8280000" y="1206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Mahalliy mikrosirkulyatsiya va to'qima oziqlanishi.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180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r17"/>
          <p:cNvSpPr>
            <a:spLocks noGrp="1"/>
          </p:cNvSpPr>
          <p:nvPr/>
        </p:nvSpPr>
        <p:spPr>
          <a:xfrm>
            <a:off x="180000" y="1889999"/>
            <a:ext cx="3780000" cy="1008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18"/>
          <p:cNvSpPr txBox="1"/>
          <p:nvPr/>
        </p:nvSpPr>
        <p:spPr>
          <a:xfrm>
            <a:off x="288000" y="20555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Funksiyani tiklash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288000" y="2375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Organlar va mushaklarning normal faoliyatini tiklash.</a:t>
            </a:r>
          </a:p>
        </p:txBody>
      </p:sp>
      <p:sp>
        <p:nvSpPr>
          <p:cNvPr id="20" name="r20"/>
          <p:cNvSpPr>
            <a:spLocks noGrp="1"/>
          </p:cNvSpPr>
          <p:nvPr/>
        </p:nvSpPr>
        <p:spPr>
          <a:xfrm>
            <a:off x="4176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r21"/>
          <p:cNvSpPr>
            <a:spLocks noGrp="1"/>
          </p:cNvSpPr>
          <p:nvPr/>
        </p:nvSpPr>
        <p:spPr>
          <a:xfrm>
            <a:off x="4176000" y="1889999"/>
            <a:ext cx="3780000" cy="1008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22"/>
          <p:cNvSpPr txBox="1"/>
          <p:nvPr/>
        </p:nvSpPr>
        <p:spPr>
          <a:xfrm>
            <a:off x="4284000" y="20555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Profilaktika</a:t>
            </a:r>
          </a:p>
        </p:txBody>
      </p:sp>
      <p:sp>
        <p:nvSpPr>
          <p:cNvPr id="23" name="t23"/>
          <p:cNvSpPr txBox="1"/>
          <p:nvPr/>
        </p:nvSpPr>
        <p:spPr>
          <a:xfrm>
            <a:off x="4284000" y="2375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Surunkalashuv va asoratlarning oldini olish.</a:t>
            </a:r>
          </a:p>
        </p:txBody>
      </p:sp>
      <p:sp>
        <p:nvSpPr>
          <p:cNvPr id="24" name="r24"/>
          <p:cNvSpPr>
            <a:spLocks noGrp="1"/>
          </p:cNvSpPr>
          <p:nvPr/>
        </p:nvSpPr>
        <p:spPr>
          <a:xfrm>
            <a:off x="8172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>
            <a:spLocks noGrp="1"/>
          </p:cNvSpPr>
          <p:nvPr/>
        </p:nvSpPr>
        <p:spPr>
          <a:xfrm>
            <a:off x="8172000" y="1889999"/>
            <a:ext cx="3780000" cy="1008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 txBox="1"/>
          <p:nvPr/>
        </p:nvSpPr>
        <p:spPr>
          <a:xfrm>
            <a:off x="8280000" y="20555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Hayot sifatini oshirish</a:t>
            </a:r>
          </a:p>
        </p:txBody>
      </p:sp>
      <p:sp>
        <p:nvSpPr>
          <p:cNvPr id="27" name="t27"/>
          <p:cNvSpPr txBox="1"/>
          <p:nvPr/>
        </p:nvSpPr>
        <p:spPr>
          <a:xfrm>
            <a:off x="8280000" y="2375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Reproduktiv salomatlik va umumiy holatni yaxshilash.</a:t>
            </a:r>
          </a:p>
        </p:txBody>
      </p:sp>
    </p:spTree>
  </p:cSld>
  <p:clrMapOvr>
    <a:masterClr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03 · ASOSIY FIZIK OMILLAR VA USULLAR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720000"/>
            <a:ext cx="3780000" cy="1008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288000" y="8856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Elektroterapiya</a:t>
            </a:r>
          </a:p>
        </p:txBody>
      </p:sp>
      <p:sp>
        <p:nvSpPr>
          <p:cNvPr id="7" name="t7"/>
          <p:cNvSpPr txBox="1"/>
          <p:nvPr/>
        </p:nvSpPr>
        <p:spPr>
          <a:xfrm>
            <a:off x="288000" y="1206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Galvanizatsiya, elektroforez, SMT, interferensiya toklari.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4176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4176000" y="720000"/>
            <a:ext cx="3780000" cy="1008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4284000" y="8856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Magnitoterapiya</a:t>
            </a:r>
          </a:p>
        </p:txBody>
      </p:sp>
      <p:sp>
        <p:nvSpPr>
          <p:cNvPr id="11" name="t11"/>
          <p:cNvSpPr txBox="1"/>
          <p:nvPr/>
        </p:nvSpPr>
        <p:spPr>
          <a:xfrm>
            <a:off x="4284000" y="1206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Doimiy va o'zgaruvchan magnit maydoni — yallig'lanishga qarshi.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8172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8172000" y="720000"/>
            <a:ext cx="3780000" cy="1008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8280000" y="8856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Lazeroterapiya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8280000" y="1206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Past intensivlikdagi lazer — to'qima regeneratsiyasini tezlashtiradi.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180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r17"/>
          <p:cNvSpPr>
            <a:spLocks noGrp="1"/>
          </p:cNvSpPr>
          <p:nvPr/>
        </p:nvSpPr>
        <p:spPr>
          <a:xfrm>
            <a:off x="180000" y="1889999"/>
            <a:ext cx="3780000" cy="1008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18"/>
          <p:cNvSpPr txBox="1"/>
          <p:nvPr/>
        </p:nvSpPr>
        <p:spPr>
          <a:xfrm>
            <a:off x="288000" y="20555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Ultratovush / Fonoforez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288000" y="2375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Mikromassaj effekti va dorilarni to'qimaga yetkazish.</a:t>
            </a:r>
          </a:p>
        </p:txBody>
      </p:sp>
      <p:sp>
        <p:nvSpPr>
          <p:cNvPr id="20" name="r20"/>
          <p:cNvSpPr>
            <a:spLocks noGrp="1"/>
          </p:cNvSpPr>
          <p:nvPr/>
        </p:nvSpPr>
        <p:spPr>
          <a:xfrm>
            <a:off x="4176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r21"/>
          <p:cNvSpPr>
            <a:spLocks noGrp="1"/>
          </p:cNvSpPr>
          <p:nvPr/>
        </p:nvSpPr>
        <p:spPr>
          <a:xfrm>
            <a:off x="4176000" y="1889999"/>
            <a:ext cx="3780000" cy="1008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22"/>
          <p:cNvSpPr txBox="1"/>
          <p:nvPr/>
        </p:nvSpPr>
        <p:spPr>
          <a:xfrm>
            <a:off x="4284000" y="20555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Yorug'lik / UFO</a:t>
            </a:r>
          </a:p>
        </p:txBody>
      </p:sp>
      <p:sp>
        <p:nvSpPr>
          <p:cNvPr id="23" name="t23"/>
          <p:cNvSpPr txBox="1"/>
          <p:nvPr/>
        </p:nvSpPr>
        <p:spPr>
          <a:xfrm>
            <a:off x="4284000" y="2375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Infraqizil, ultrabinafsha nurlanish — bakteritsid ta'sir.</a:t>
            </a:r>
          </a:p>
        </p:txBody>
      </p:sp>
      <p:sp>
        <p:nvSpPr>
          <p:cNvPr id="24" name="r24"/>
          <p:cNvSpPr>
            <a:spLocks noGrp="1"/>
          </p:cNvSpPr>
          <p:nvPr/>
        </p:nvSpPr>
        <p:spPr>
          <a:xfrm>
            <a:off x="8172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>
            <a:spLocks noGrp="1"/>
          </p:cNvSpPr>
          <p:nvPr/>
        </p:nvSpPr>
        <p:spPr>
          <a:xfrm>
            <a:off x="8172000" y="1889999"/>
            <a:ext cx="3780000" cy="1008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 txBox="1"/>
          <p:nvPr/>
        </p:nvSpPr>
        <p:spPr>
          <a:xfrm>
            <a:off x="8280000" y="20555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Termoterapiya</a:t>
            </a:r>
          </a:p>
        </p:txBody>
      </p:sp>
      <p:sp>
        <p:nvSpPr>
          <p:cNvPr id="27" name="t27"/>
          <p:cNvSpPr txBox="1"/>
          <p:nvPr/>
        </p:nvSpPr>
        <p:spPr>
          <a:xfrm>
            <a:off x="8280000" y="2375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Loy, parafin, mineral vannalar va kurort omillari.</a:t>
            </a:r>
          </a:p>
        </p:txBody>
      </p:sp>
    </p:spTree>
  </p:cSld>
  <p:clrMapOvr>
    <a:masterClr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04 · AKUSHERLIKDA FIZIOTERAPIYA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216000" y="7992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41999" y="7200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Homiladorlik davrida: erta toksikoz, bel og'riqlari (ko'rsatma bo'yicha)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216000" y="11016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341999" y="10224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Tug'ruqdan keyin: bachadon involyutsiyasini tezlashtirish, tikuvlar bitishi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216000" y="14040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341999" y="13248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Laktostaz va mastit: ultratovush va magnit terapiya bilan davolash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216000" y="17064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341999" y="16272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Episiotomiya / sezar: chandiqlarni yumshatish, bitishmalar profilaktikasi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13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Calibri"/>
              </a:rPr>
              <a:t>Asosiy effektlar</a:t>
            </a:r>
          </a:p>
        </p:txBody>
      </p:sp>
      <p:sp>
        <p:nvSpPr>
          <p:cNvPr id="14" name="r14"/>
          <p:cNvSpPr>
            <a:spLocks noGrp="1"/>
          </p:cNvSpPr>
          <p:nvPr/>
        </p:nvSpPr>
        <p:spPr>
          <a:xfrm>
            <a:off x="6623999" y="13392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6749998" y="12600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Bachadon qisqaruvini rag'batlantirish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623999" y="16416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6749998" y="15624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Yiringli-yallig'lanish asoratlari profilaktikasi</a:t>
            </a:r>
          </a:p>
        </p:txBody>
      </p:sp>
      <p:sp>
        <p:nvSpPr>
          <p:cNvPr id="18" name="r18"/>
          <p:cNvSpPr>
            <a:spLocks noGrp="1"/>
          </p:cNvSpPr>
          <p:nvPr/>
        </p:nvSpPr>
        <p:spPr>
          <a:xfrm>
            <a:off x="6623999" y="19440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19"/>
          <p:cNvSpPr txBox="1"/>
          <p:nvPr/>
        </p:nvSpPr>
        <p:spPr>
          <a:xfrm>
            <a:off x="6749998" y="18648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Tikuvlar tez bitishi va og'riq kamayishi</a:t>
            </a:r>
          </a:p>
        </p:txBody>
      </p:sp>
      <p:sp>
        <p:nvSpPr>
          <p:cNvPr id="20" name="r20"/>
          <p:cNvSpPr>
            <a:spLocks noGrp="1"/>
          </p:cNvSpPr>
          <p:nvPr/>
        </p:nvSpPr>
        <p:spPr>
          <a:xfrm>
            <a:off x="6623999" y="22464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21"/>
          <p:cNvSpPr txBox="1"/>
          <p:nvPr/>
        </p:nvSpPr>
        <p:spPr>
          <a:xfrm>
            <a:off x="6749998" y="21672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Laktatsiyani me'yorlashtirish</a:t>
            </a:r>
          </a:p>
        </p:txBody>
      </p:sp>
    </p:spTree>
  </p:cSld>
  <p:clrMapOvr>
    <a:masterClr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05 · GINEKOLOGIYADA FIZIOTERAPIYA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720000"/>
            <a:ext cx="115200" cy="1152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360000" y="810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Calibri"/>
              </a:rPr>
              <a:t>Surunkali yallig'lanishlar</a:t>
            </a:r>
          </a:p>
        </p:txBody>
      </p:sp>
      <p:sp>
        <p:nvSpPr>
          <p:cNvPr id="7" name="t7"/>
          <p:cNvSpPr txBox="1"/>
          <p:nvPr/>
        </p:nvSpPr>
        <p:spPr>
          <a:xfrm>
            <a:off x="360000" y="1133999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Calibri"/>
              </a:rPr>
              <a:t>Salpingooforit, endometrit — infiltratlarni so'rdirish.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6192000" y="720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6192000" y="720000"/>
            <a:ext cx="115200" cy="11520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6372000" y="810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Calibri"/>
              </a:rPr>
              <a:t>Bepushtlik</a:t>
            </a:r>
          </a:p>
        </p:txBody>
      </p:sp>
      <p:sp>
        <p:nvSpPr>
          <p:cNvPr id="11" name="t11"/>
          <p:cNvSpPr txBox="1"/>
          <p:nvPr/>
        </p:nvSpPr>
        <p:spPr>
          <a:xfrm>
            <a:off x="6372000" y="1133999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Calibri"/>
              </a:rPr>
              <a:t>Naysimon-peritoneal bepushtlikda bitishmalarni yumshatish.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180000" y="2034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180000" y="2034000"/>
            <a:ext cx="115200" cy="11520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360000" y="2124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Calibri"/>
              </a:rPr>
              <a:t>Menstrual buzilishlar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360000" y="2447999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Calibri"/>
              </a:rPr>
              <a:t>Algodismenoreya va gormonal nomutanosiblikda yordamchi vosita.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192000" y="2034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r17"/>
          <p:cNvSpPr>
            <a:spLocks noGrp="1"/>
          </p:cNvSpPr>
          <p:nvPr/>
        </p:nvSpPr>
        <p:spPr>
          <a:xfrm>
            <a:off x="6192000" y="2034000"/>
            <a:ext cx="115200" cy="1152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18"/>
          <p:cNvSpPr txBox="1"/>
          <p:nvPr/>
        </p:nvSpPr>
        <p:spPr>
          <a:xfrm>
            <a:off x="6372000" y="2124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Calibri"/>
              </a:rPr>
              <a:t>Operatsiyadan keyin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6372000" y="2447999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Calibri"/>
              </a:rPr>
              <a:t>Reabilitatsiya, chandiq va bitishmalar profilaktikasi.</a:t>
            </a:r>
          </a:p>
        </p:txBody>
      </p:sp>
    </p:spTree>
  </p:cSld>
  <p:clrMapOvr>
    <a:masterClr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06 · TOS TUBI MUSHAKLARINI TIKLASH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79200" cy="1980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96000" y="720000"/>
            <a:ext cx="55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Tos tubi disfunksiyasi — siydik tutolmaslik, jinsiy a'zolar</a:t>
            </a:r>
          </a:p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tushishi va og'riqning asosiy sababidir. Maxsus reabilitatsiya</a:t>
            </a:r>
          </a:p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juda yuqori samaradorlikka ega.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216000" y="16272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341999" y="15480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Kegel mashqlari — mushak tonusini mustahkamlash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216000" y="19296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341999" y="18504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BFB (biologik teskari aloqa) — nazorat ostida mashq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216000" y="22320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341999" y="21528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Elektromiostimulyatsiya — zaiflashgan mushaklarni faollashtirish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13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Calibri"/>
              </a:rPr>
              <a:t>Ko'rsatkichlar</a:t>
            </a:r>
          </a:p>
        </p:txBody>
      </p:sp>
      <p:sp>
        <p:nvSpPr>
          <p:cNvPr id="14" name="r14"/>
          <p:cNvSpPr>
            <a:spLocks noGrp="1"/>
          </p:cNvSpPr>
          <p:nvPr/>
        </p:nvSpPr>
        <p:spPr>
          <a:xfrm>
            <a:off x="6623999" y="13392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6749998" y="12600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Tug'ruqdan keyingi tiklanish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623999" y="16416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6749998" y="15624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Stress-inkontinensiya davosi</a:t>
            </a:r>
          </a:p>
        </p:txBody>
      </p:sp>
      <p:sp>
        <p:nvSpPr>
          <p:cNvPr id="18" name="r18"/>
          <p:cNvSpPr>
            <a:spLocks noGrp="1"/>
          </p:cNvSpPr>
          <p:nvPr/>
        </p:nvSpPr>
        <p:spPr>
          <a:xfrm>
            <a:off x="6623999" y="19440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19"/>
          <p:cNvSpPr txBox="1"/>
          <p:nvPr/>
        </p:nvSpPr>
        <p:spPr>
          <a:xfrm>
            <a:off x="6749998" y="18648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Jinsiy funksiyani yaxshilash</a:t>
            </a:r>
          </a:p>
        </p:txBody>
      </p:sp>
      <p:sp>
        <p:nvSpPr>
          <p:cNvPr id="20" name="t20"/>
          <p:cNvSpPr txBox="1"/>
          <p:nvPr/>
        </p:nvSpPr>
        <p:spPr>
          <a:xfrm>
            <a:off x="6623999" y="1224000"/>
            <a:ext cx="504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1" dirty="0" smtClean="0">
                <a:solidFill>
                  <a:srgbClr val="1DE0C4"/>
                </a:solidFill>
                <a:latin typeface="Calibri"/>
              </a:rPr>
              <a:t>70% — siydik tutish nazorati yaxshilanishi</a:t>
            </a:r>
          </a:p>
        </p:txBody>
      </p:sp>
    </p:spTree>
  </p:cSld>
  <p:clrMapOvr>
    <a:masterClr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07 · UROLOGIK AMALIYOTDA FIZIOTERAPIYA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720000"/>
            <a:ext cx="115200" cy="1152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360000" y="810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Calibri"/>
              </a:rPr>
              <a:t>Surunkali prostatit</a:t>
            </a:r>
          </a:p>
        </p:txBody>
      </p:sp>
      <p:sp>
        <p:nvSpPr>
          <p:cNvPr id="7" name="t7"/>
          <p:cNvSpPr txBox="1"/>
          <p:nvPr/>
        </p:nvSpPr>
        <p:spPr>
          <a:xfrm>
            <a:off x="360000" y="1133999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Calibri"/>
              </a:rPr>
              <a:t>Magnit-lazer va elektrostimulyatsiya — qon aylanishini yaxshilaydi.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6192000" y="720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6192000" y="720000"/>
            <a:ext cx="115200" cy="11520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6372000" y="810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Calibri"/>
              </a:rPr>
              <a:t>Siydik tutolmaslik</a:t>
            </a:r>
          </a:p>
        </p:txBody>
      </p:sp>
      <p:sp>
        <p:nvSpPr>
          <p:cNvPr id="11" name="t11"/>
          <p:cNvSpPr txBox="1"/>
          <p:nvPr/>
        </p:nvSpPr>
        <p:spPr>
          <a:xfrm>
            <a:off x="6372000" y="1133999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Calibri"/>
              </a:rPr>
              <a:t>Tos tubi elektrostimulyatsiyasi va BFB orqali qovuq nazoratini tiklash.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180000" y="2034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180000" y="2034000"/>
            <a:ext cx="115200" cy="11520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360000" y="2124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Calibri"/>
              </a:rPr>
              <a:t>Siydik-tosh kasalligi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360000" y="2447999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Calibri"/>
              </a:rPr>
              <a:t>Ultratovush va vibroterapiya mayda toshlar chiqishiga ko'maklashadi.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192000" y="2034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r17"/>
          <p:cNvSpPr>
            <a:spLocks noGrp="1"/>
          </p:cNvSpPr>
          <p:nvPr/>
        </p:nvSpPr>
        <p:spPr>
          <a:xfrm>
            <a:off x="6192000" y="2034000"/>
            <a:ext cx="115200" cy="1152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18"/>
          <p:cNvSpPr txBox="1"/>
          <p:nvPr/>
        </p:nvSpPr>
        <p:spPr>
          <a:xfrm>
            <a:off x="6372000" y="2124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Calibri"/>
              </a:rPr>
              <a:t>Sistit va uretrit</a:t>
            </a:r>
          </a:p>
        </p:txBody>
      </p:sp>
      <p:sp>
        <p:nvSpPr>
          <p:cNvPr id="19" name="t19"/>
          <p:cNvSpPr txBox="1"/>
          <p:nvPr/>
        </p:nvSpPr>
        <p:spPr>
          <a:xfrm>
            <a:off x="6372000" y="2447999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Calibri"/>
              </a:rPr>
              <a:t>Yallig'lanishga qarshi, og'riqni kamaytiruvchi protseduralar.</a:t>
            </a:r>
          </a:p>
        </p:txBody>
      </p:sp>
    </p:spTree>
  </p:cSld>
  <p:clrMapOvr>
    <a:masterClr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08 · ANDROLOGIK AMALIYOTDA FIZIOTERAPIYA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216000" y="7992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41999" y="7200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Erektil disfunksiya: magnit-lazer va zarba to'lqinli terapiya (LI-ESWT)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216000" y="11016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341999" y="10224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Erkak bepushtligi: spermatogenezni yaxshilash, dimlanishni kamaytirish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216000" y="14040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341999" y="13248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Surunkali tos og'rig'i: elektro- va magnitoterapiya bilan kompleks davolash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216000" y="17064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341999" y="1627200"/>
            <a:ext cx="56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Calibri"/>
              </a:rPr>
              <a:t>Peyroni kasalligi: fonoforez va lazer bilan chandiqlarni yumshatish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13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Calibri"/>
              </a:rPr>
              <a:t>Zamonaviy yo'nalish</a:t>
            </a:r>
          </a:p>
        </p:txBody>
      </p:sp>
      <p:sp>
        <p:nvSpPr>
          <p:cNvPr id="14" name="r14"/>
          <p:cNvSpPr>
            <a:spLocks noGrp="1"/>
          </p:cNvSpPr>
          <p:nvPr/>
        </p:nvSpPr>
        <p:spPr>
          <a:xfrm>
            <a:off x="6623999" y="13392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6749998" y="12600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Fiziologik tiklanish — dorisiz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6623999" y="16416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6749998" y="15624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Qon tomir yangilanishi (angiogenez)</a:t>
            </a:r>
          </a:p>
        </p:txBody>
      </p:sp>
      <p:sp>
        <p:nvSpPr>
          <p:cNvPr id="18" name="r18"/>
          <p:cNvSpPr>
            <a:spLocks noGrp="1"/>
          </p:cNvSpPr>
          <p:nvPr/>
        </p:nvSpPr>
        <p:spPr>
          <a:xfrm>
            <a:off x="6623999" y="19440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19"/>
          <p:cNvSpPr txBox="1"/>
          <p:nvPr/>
        </p:nvSpPr>
        <p:spPr>
          <a:xfrm>
            <a:off x="6749998" y="1864800"/>
            <a:ext cx="491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Calibri"/>
              </a:rPr>
              <a:t>Xavfsiz va chidamli usul</a:t>
            </a:r>
          </a:p>
        </p:txBody>
      </p:sp>
    </p:spTree>
  </p:cSld>
  <p:clrMapOvr>
    <a:masterClr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09 · KO'RSATMA VA QARSHI KO'RSATMALAR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684000"/>
            <a:ext cx="5688000" cy="2700000"/>
          </a:xfrm>
          <a:prstGeom prst="rect">
            <a:avLst/>
          </a:prstGeom>
          <a:solidFill>
            <a:srgbClr val="E9FBF7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324000" y="792000"/>
            <a:ext cx="50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0A7D70"/>
                </a:solidFill>
                <a:latin typeface="Calibri"/>
              </a:rPr>
              <a:t>KO'RSATMALAR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324000" y="12312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449999" y="11520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Calibri"/>
              </a:rPr>
              <a:t>Surunkali yallig'lanish jarayonlari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324000" y="15336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449999" y="14544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Calibri"/>
              </a:rPr>
              <a:t>Bitishma kasalligi va chandiqlar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324000" y="18360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449999" y="17568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Calibri"/>
              </a:rPr>
              <a:t>Reabilitatsiya (operatsiya / tug'ruqdan keyin)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324000" y="21384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13"/>
          <p:cNvSpPr txBox="1"/>
          <p:nvPr/>
        </p:nvSpPr>
        <p:spPr>
          <a:xfrm>
            <a:off x="449999" y="20592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Calibri"/>
              </a:rPr>
              <a:t>Surunkali og'riq sindromlari</a:t>
            </a:r>
          </a:p>
        </p:txBody>
      </p:sp>
      <p:sp>
        <p:nvSpPr>
          <p:cNvPr id="14" name="r14"/>
          <p:cNvSpPr>
            <a:spLocks noGrp="1"/>
          </p:cNvSpPr>
          <p:nvPr/>
        </p:nvSpPr>
        <p:spPr>
          <a:xfrm>
            <a:off x="324000" y="24408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15"/>
          <p:cNvSpPr txBox="1"/>
          <p:nvPr/>
        </p:nvSpPr>
        <p:spPr>
          <a:xfrm>
            <a:off x="449999" y="23616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Calibri"/>
              </a:rPr>
              <a:t>Funksional bepushtlik shakllari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324000" y="27432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449999" y="26640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Calibri"/>
              </a:rPr>
              <a:t>Tos tubi disfunksiyasi</a:t>
            </a:r>
          </a:p>
        </p:txBody>
      </p:sp>
      <p:sp>
        <p:nvSpPr>
          <p:cNvPr id="18" name="r18"/>
          <p:cNvSpPr>
            <a:spLocks noGrp="1"/>
          </p:cNvSpPr>
          <p:nvPr/>
        </p:nvSpPr>
        <p:spPr>
          <a:xfrm>
            <a:off x="6228000" y="684000"/>
            <a:ext cx="5688000" cy="2700000"/>
          </a:xfrm>
          <a:prstGeom prst="rect">
            <a:avLst/>
          </a:prstGeom>
          <a:solidFill>
            <a:srgbClr val="FFF0F2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19"/>
          <p:cNvSpPr txBox="1"/>
          <p:nvPr/>
        </p:nvSpPr>
        <p:spPr>
          <a:xfrm>
            <a:off x="6372000" y="792000"/>
            <a:ext cx="50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C64363"/>
                </a:solidFill>
                <a:latin typeface="Calibri"/>
              </a:rPr>
              <a:t>QARSHI KO'RSATMALAR</a:t>
            </a:r>
          </a:p>
        </p:txBody>
      </p:sp>
      <p:sp>
        <p:nvSpPr>
          <p:cNvPr id="20" name="r20"/>
          <p:cNvSpPr>
            <a:spLocks noGrp="1"/>
          </p:cNvSpPr>
          <p:nvPr/>
        </p:nvSpPr>
        <p:spPr>
          <a:xfrm>
            <a:off x="6372000" y="12312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21"/>
          <p:cNvSpPr txBox="1"/>
          <p:nvPr/>
        </p:nvSpPr>
        <p:spPr>
          <a:xfrm>
            <a:off x="6497999" y="11520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Calibri"/>
              </a:rPr>
              <a:t>Xavfli o'smalar (onkologiya)</a:t>
            </a:r>
          </a:p>
        </p:txBody>
      </p:sp>
      <p:sp>
        <p:nvSpPr>
          <p:cNvPr id="22" name="r22"/>
          <p:cNvSpPr>
            <a:spLocks noGrp="1"/>
          </p:cNvSpPr>
          <p:nvPr/>
        </p:nvSpPr>
        <p:spPr>
          <a:xfrm>
            <a:off x="6372000" y="15336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23"/>
          <p:cNvSpPr txBox="1"/>
          <p:nvPr/>
        </p:nvSpPr>
        <p:spPr>
          <a:xfrm>
            <a:off x="6497999" y="14544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Calibri"/>
              </a:rPr>
              <a:t>O'tkir yiringli jarayonlar va isitma</a:t>
            </a:r>
          </a:p>
        </p:txBody>
      </p:sp>
      <p:sp>
        <p:nvSpPr>
          <p:cNvPr id="24" name="r24"/>
          <p:cNvSpPr>
            <a:spLocks noGrp="1"/>
          </p:cNvSpPr>
          <p:nvPr/>
        </p:nvSpPr>
        <p:spPr>
          <a:xfrm>
            <a:off x="6372000" y="18360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25"/>
          <p:cNvSpPr txBox="1"/>
          <p:nvPr/>
        </p:nvSpPr>
        <p:spPr>
          <a:xfrm>
            <a:off x="6497999" y="17568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Calibri"/>
              </a:rPr>
              <a:t>Qon ketish va qon kasalliklari</a:t>
            </a:r>
          </a:p>
        </p:txBody>
      </p:sp>
      <p:sp>
        <p:nvSpPr>
          <p:cNvPr id="26" name="r26"/>
          <p:cNvSpPr>
            <a:spLocks noGrp="1"/>
          </p:cNvSpPr>
          <p:nvPr/>
        </p:nvSpPr>
        <p:spPr>
          <a:xfrm>
            <a:off x="6372000" y="21384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27"/>
          <p:cNvSpPr txBox="1"/>
          <p:nvPr/>
        </p:nvSpPr>
        <p:spPr>
          <a:xfrm>
            <a:off x="6497999" y="20592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Calibri"/>
              </a:rPr>
              <a:t>Dekompensatsiyalangan og'ir holatlar</a:t>
            </a:r>
          </a:p>
        </p:txBody>
      </p:sp>
      <p:sp>
        <p:nvSpPr>
          <p:cNvPr id="28" name="r28"/>
          <p:cNvSpPr>
            <a:spLocks noGrp="1"/>
          </p:cNvSpPr>
          <p:nvPr/>
        </p:nvSpPr>
        <p:spPr>
          <a:xfrm>
            <a:off x="6372000" y="24408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29"/>
          <p:cNvSpPr txBox="1"/>
          <p:nvPr/>
        </p:nvSpPr>
        <p:spPr>
          <a:xfrm>
            <a:off x="6497999" y="23616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Calibri"/>
              </a:rPr>
              <a:t>Yurak-qon tomir yetishmovchiligi (og'ir)</a:t>
            </a:r>
          </a:p>
        </p:txBody>
      </p:sp>
      <p:sp>
        <p:nvSpPr>
          <p:cNvPr id="30" name="r30"/>
          <p:cNvSpPr>
            <a:spLocks noGrp="1"/>
          </p:cNvSpPr>
          <p:nvPr/>
        </p:nvSpPr>
        <p:spPr>
          <a:xfrm>
            <a:off x="6372000" y="27432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31"/>
          <p:cNvSpPr txBox="1"/>
          <p:nvPr/>
        </p:nvSpPr>
        <p:spPr>
          <a:xfrm>
            <a:off x="6497999" y="2664000"/>
            <a:ext cx="509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Calibri"/>
              </a:rPr>
              <a:t>Fizik omilga individual chidamsizlik</a:t>
            </a:r>
          </a:p>
        </p:txBody>
      </p:sp>
    </p:spTree>
  </p:cSld>
  <p:clrMapOvr>
    <a:masterClr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10 · INNOVATSION FIZIOTERAPIYA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180000" y="720000"/>
            <a:ext cx="3816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5"/>
          <p:cNvSpPr>
            <a:spLocks noGrp="1"/>
          </p:cNvSpPr>
          <p:nvPr/>
        </p:nvSpPr>
        <p:spPr>
          <a:xfrm>
            <a:off x="180000" y="720000"/>
            <a:ext cx="3816000" cy="1008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6"/>
          <p:cNvSpPr txBox="1"/>
          <p:nvPr/>
        </p:nvSpPr>
        <p:spPr>
          <a:xfrm>
            <a:off x="288000" y="885600"/>
            <a:ext cx="3636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Zarba to'lqinli terapiya</a:t>
            </a:r>
          </a:p>
        </p:txBody>
      </p:sp>
      <p:sp>
        <p:nvSpPr>
          <p:cNvPr id="7" name="t7"/>
          <p:cNvSpPr txBox="1"/>
          <p:nvPr/>
        </p:nvSpPr>
        <p:spPr>
          <a:xfrm>
            <a:off x="288000" y="1206000"/>
            <a:ext cx="3636000" cy="63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ED va Peyroni kasalligida angiogenez va to'qima yangilanishi.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4212000" y="720000"/>
            <a:ext cx="3816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9"/>
          <p:cNvSpPr>
            <a:spLocks noGrp="1"/>
          </p:cNvSpPr>
          <p:nvPr/>
        </p:nvSpPr>
        <p:spPr>
          <a:xfrm>
            <a:off x="4212000" y="720000"/>
            <a:ext cx="3816000" cy="1008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 txBox="1"/>
          <p:nvPr/>
        </p:nvSpPr>
        <p:spPr>
          <a:xfrm>
            <a:off x="4320000" y="885600"/>
            <a:ext cx="3636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BFB platformalar</a:t>
            </a:r>
          </a:p>
        </p:txBody>
      </p:sp>
      <p:sp>
        <p:nvSpPr>
          <p:cNvPr id="11" name="t11"/>
          <p:cNvSpPr txBox="1"/>
          <p:nvPr/>
        </p:nvSpPr>
        <p:spPr>
          <a:xfrm>
            <a:off x="4320000" y="1206000"/>
            <a:ext cx="3636000" cy="63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Aqlli sensorlar bilan tos tubi mushaklari treningi.</a:t>
            </a:r>
          </a:p>
        </p:txBody>
      </p:sp>
      <p:sp>
        <p:nvSpPr>
          <p:cNvPr id="12" name="r12"/>
          <p:cNvSpPr>
            <a:spLocks noGrp="1"/>
          </p:cNvSpPr>
          <p:nvPr/>
        </p:nvSpPr>
        <p:spPr>
          <a:xfrm>
            <a:off x="8244000" y="720000"/>
            <a:ext cx="3816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>
            <a:spLocks noGrp="1"/>
          </p:cNvSpPr>
          <p:nvPr/>
        </p:nvSpPr>
        <p:spPr>
          <a:xfrm>
            <a:off x="8244000" y="720000"/>
            <a:ext cx="3816000" cy="1008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 txBox="1"/>
          <p:nvPr/>
        </p:nvSpPr>
        <p:spPr>
          <a:xfrm>
            <a:off x="8352000" y="885600"/>
            <a:ext cx="3636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Calibri"/>
              </a:rPr>
              <a:t>Teletibbiyot + fizioterapiya</a:t>
            </a:r>
          </a:p>
        </p:txBody>
      </p:sp>
      <p:sp>
        <p:nvSpPr>
          <p:cNvPr id="15" name="t15"/>
          <p:cNvSpPr txBox="1"/>
          <p:nvPr/>
        </p:nvSpPr>
        <p:spPr>
          <a:xfrm>
            <a:off x="8352000" y="1206000"/>
            <a:ext cx="3636000" cy="63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Masofadan reabilitatsiya nazorati va dasturlar.</a:t>
            </a:r>
          </a:p>
        </p:txBody>
      </p:sp>
      <p:sp>
        <p:nvSpPr>
          <p:cNvPr id="16" name="r16"/>
          <p:cNvSpPr>
            <a:spLocks noGrp="1"/>
          </p:cNvSpPr>
          <p:nvPr/>
        </p:nvSpPr>
        <p:spPr>
          <a:xfrm>
            <a:off x="180000" y="1980000"/>
            <a:ext cx="3911999" cy="792000"/>
          </a:xfrm>
          <a:prstGeom prst="rect">
            <a:avLst/>
          </a:prstGeom>
          <a:solidFill>
            <a:srgbClr val="E9FB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17"/>
          <p:cNvSpPr txBox="1"/>
          <p:nvPr/>
        </p:nvSpPr>
        <p:spPr>
          <a:xfrm>
            <a:off x="252000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13B3A6"/>
                </a:solidFill>
                <a:latin typeface="Calibri"/>
              </a:rPr>
              <a:t>40%</a:t>
            </a:r>
          </a:p>
        </p:txBody>
      </p:sp>
      <p:sp>
        <p:nvSpPr>
          <p:cNvPr id="18" name="t18"/>
          <p:cNvSpPr txBox="1"/>
          <p:nvPr/>
        </p:nvSpPr>
        <p:spPr>
          <a:xfrm>
            <a:off x="252000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Surunkali og'riq kamayishi</a:t>
            </a:r>
          </a:p>
        </p:txBody>
      </p:sp>
      <p:sp>
        <p:nvSpPr>
          <p:cNvPr id="19" name="r19"/>
          <p:cNvSpPr>
            <a:spLocks noGrp="1"/>
          </p:cNvSpPr>
          <p:nvPr/>
        </p:nvSpPr>
        <p:spPr>
          <a:xfrm>
            <a:off x="4199999" y="1980000"/>
            <a:ext cx="3911999" cy="792000"/>
          </a:xfrm>
          <a:prstGeom prst="rect">
            <a:avLst/>
          </a:prstGeom>
          <a:solidFill>
            <a:srgbClr val="E9FBF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20"/>
          <p:cNvSpPr txBox="1"/>
          <p:nvPr/>
        </p:nvSpPr>
        <p:spPr>
          <a:xfrm>
            <a:off x="4271999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13B3A6"/>
                </a:solidFill>
                <a:latin typeface="Calibri"/>
              </a:rPr>
              <a:t>2x</a:t>
            </a:r>
          </a:p>
        </p:txBody>
      </p:sp>
      <p:sp>
        <p:nvSpPr>
          <p:cNvPr id="21" name="t21"/>
          <p:cNvSpPr txBox="1"/>
          <p:nvPr/>
        </p:nvSpPr>
        <p:spPr>
          <a:xfrm>
            <a:off x="4271999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Reabilitatsiya tezligi</a:t>
            </a:r>
          </a:p>
        </p:txBody>
      </p:sp>
      <p:sp>
        <p:nvSpPr>
          <p:cNvPr id="22" name="r22"/>
          <p:cNvSpPr>
            <a:spLocks noGrp="1"/>
          </p:cNvSpPr>
          <p:nvPr/>
        </p:nvSpPr>
        <p:spPr>
          <a:xfrm>
            <a:off x="8219998" y="1980000"/>
            <a:ext cx="3911999" cy="792000"/>
          </a:xfrm>
          <a:prstGeom prst="rect">
            <a:avLst/>
          </a:prstGeom>
          <a:solidFill>
            <a:srgbClr val="E9FBF7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23"/>
          <p:cNvSpPr txBox="1"/>
          <p:nvPr/>
        </p:nvSpPr>
        <p:spPr>
          <a:xfrm>
            <a:off x="8291998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13B3A6"/>
                </a:solidFill>
                <a:latin typeface="Calibri"/>
              </a:rPr>
              <a:t>90%+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8291998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5E7D80"/>
                </a:solidFill>
                <a:latin typeface="Calibri"/>
              </a:rPr>
              <a:t>Bemorlar qoniqishi</a:t>
            </a:r>
          </a:p>
        </p:txBody>
      </p:sp>
    </p:spTree>
  </p:cSld>
  <p:clrMapOvr>
    <a:masterClr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Calibri"/>
              </a:rPr>
              <a:t>ASOSIY XULOSALAR</a:t>
            </a:r>
          </a:p>
        </p:txBody>
      </p:sp>
      <p:sp>
        <p:nvSpPr>
          <p:cNvPr id="4" name="r4"/>
          <p:cNvSpPr>
            <a:spLocks noGrp="1"/>
          </p:cNvSpPr>
          <p:nvPr/>
        </p:nvSpPr>
        <p:spPr>
          <a:xfrm>
            <a:off x="360000" y="8712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 txBox="1"/>
          <p:nvPr/>
        </p:nvSpPr>
        <p:spPr>
          <a:xfrm>
            <a:off x="485999" y="792000"/>
            <a:ext cx="110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06262A"/>
                </a:solidFill>
                <a:latin typeface="Calibri"/>
              </a:rPr>
              <a:t>Fizioterapiya — akusherlik-ginekologiya va urologik-andrologiyada kompleks davolashning samarali bo'g'ini.</a:t>
            </a:r>
          </a:p>
        </p:txBody>
      </p:sp>
      <p:sp>
        <p:nvSpPr>
          <p:cNvPr id="6" name="r6"/>
          <p:cNvSpPr>
            <a:spLocks noGrp="1"/>
          </p:cNvSpPr>
          <p:nvPr/>
        </p:nvSpPr>
        <p:spPr>
          <a:xfrm>
            <a:off x="360000" y="11736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7"/>
          <p:cNvSpPr txBox="1"/>
          <p:nvPr/>
        </p:nvSpPr>
        <p:spPr>
          <a:xfrm>
            <a:off x="485999" y="1094400"/>
            <a:ext cx="110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06262A"/>
                </a:solidFill>
                <a:latin typeface="Calibri"/>
              </a:rPr>
              <a:t>Dorisiz, og'riqsiz va kam nojo'ya ta'sirli bo'lib, dorilar samarasini kuchaytiradi.</a:t>
            </a:r>
          </a:p>
        </p:txBody>
      </p:sp>
      <p:sp>
        <p:nvSpPr>
          <p:cNvPr id="8" name="r8"/>
          <p:cNvSpPr>
            <a:spLocks noGrp="1"/>
          </p:cNvSpPr>
          <p:nvPr/>
        </p:nvSpPr>
        <p:spPr>
          <a:xfrm>
            <a:off x="360000" y="14760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9"/>
          <p:cNvSpPr txBox="1"/>
          <p:nvPr/>
        </p:nvSpPr>
        <p:spPr>
          <a:xfrm>
            <a:off x="485999" y="1396800"/>
            <a:ext cx="110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06262A"/>
                </a:solidFill>
                <a:latin typeface="Calibri"/>
              </a:rPr>
              <a:t>Tos tubi reabilitatsiyasi va zamonaviy usullar hayot sifatini sezilarli oshiradi.</a:t>
            </a:r>
          </a:p>
        </p:txBody>
      </p:sp>
      <p:sp>
        <p:nvSpPr>
          <p:cNvPr id="10" name="r10"/>
          <p:cNvSpPr>
            <a:spLocks noGrp="1"/>
          </p:cNvSpPr>
          <p:nvPr/>
        </p:nvSpPr>
        <p:spPr>
          <a:xfrm>
            <a:off x="360000" y="17784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11"/>
          <p:cNvSpPr txBox="1"/>
          <p:nvPr/>
        </p:nvSpPr>
        <p:spPr>
          <a:xfrm>
            <a:off x="485999" y="1699200"/>
            <a:ext cx="11034001" cy="280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06262A"/>
                </a:solidFill>
                <a:latin typeface="Calibri"/>
              </a:rPr>
              <a:t>Har bir holatda ko'rsatma va qarshi ko'rsatmalarni qat'iy hisobga olish shart.</a:t>
            </a:r>
          </a:p>
        </p:txBody>
      </p:sp>
    </p:spTree>
  </p:cSld>
  <p:clrMapOvr>
    <a:masterClr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63B40"/>
        </a:solidFill>
        <a:effectLst/>
      </p:bgPr>
    </p:bg>
    <p:spTree>
      <p:nvGrpSpPr>
        <p:cNvPr id="1" name="slide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" name="r2"/>
          <p:cNvSpPr>
            <a:spLocks noGrp="1"/>
          </p:cNvSpPr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63B4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3"/>
          <p:cNvSpPr txBox="1"/>
          <p:nvPr/>
        </p:nvSpPr>
        <p:spPr>
          <a:xfrm>
            <a:off x="0" y="1080000"/>
            <a:ext cx="12192119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3600" b="1" dirty="0" smtClean="0">
                <a:solidFill>
                  <a:srgbClr val="FFFFFF"/>
                </a:solidFill>
                <a:latin typeface="Calibri"/>
              </a:rPr>
              <a:t>E'tiboringiz uchun rahmat!</a:t>
            </a:r>
          </a:p>
        </p:txBody>
      </p:sp>
      <p:sp>
        <p:nvSpPr>
          <p:cNvPr id="4" name="t4"/>
          <p:cNvSpPr txBox="1"/>
          <p:nvPr/>
        </p:nvSpPr>
        <p:spPr>
          <a:xfrm>
            <a:off x="0" y="1980000"/>
            <a:ext cx="12192119" cy="43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800" b="0" dirty="0" smtClean="0">
                <a:solidFill>
                  <a:srgbClr val="1DE0C4"/>
                </a:solidFill>
                <a:latin typeface="Calibri"/>
              </a:rPr>
              <a:t>Sog'lom reproduktiv salomatlik — sifatli hayot kaliti.</a:t>
            </a:r>
          </a:p>
        </p:txBody>
      </p:sp>
      <p:sp>
        <p:nvSpPr>
          <p:cNvPr id="5" name="t5"/>
          <p:cNvSpPr txBox="1"/>
          <p:nvPr/>
        </p:nvSpPr>
        <p:spPr>
          <a:xfrm>
            <a:off x="0" y="2700000"/>
            <a:ext cx="12192119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400" b="0" dirty="0" smtClean="0">
                <a:solidFill>
                  <a:srgbClr val="13B3A6"/>
                </a:solidFill>
                <a:latin typeface="Calibri"/>
              </a:rPr>
              <a:t>PhysioMed  ·  2026</a:t>
            </a:r>
          </a:p>
        </p:txBody>
      </p:sp>
    </p:spTree>
  </p:cSld>
  <p:clrMapOvr>
    <a:masterClr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Akusherlik-ginekologiya va urologik-andrologik amaliyotda fizioterapiya</dc:title>
  <dc:creator>Kiro AI</dc:creator>
</cp:coreProperties>
</file>