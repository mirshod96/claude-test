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
    Type="http://schemas.openxmlformats.org/officeDocument/2006/relationships/officeDocument"
    Target="ppt/presentation.xml"/>
  <Relationship Id="rId2"
    Type="http://schemas.openxmlformats.org/package/2006/relationships/metadata/core-properties"
    Target="docProps/core.xml"/>
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 autoCompressPictures="0">
  <p:sldMasterIdLst>
    <p:sldMasterId id="2147483648" r:id="rId1"/>
  </p:sldMasterIdLst>
  <p:sldSz cx="12192119" cy="6858000" type="custom"/>
  <p:notesSz cx="12192119" cy="6858000"/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     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  <Relationship Id="rId13" Type="http://schemas.openxmlformats.org/officeDocument/2006/relationships/slide" Target="slides/slide11.xml"/>
  <Relationship Id="rId14" Type="http://schemas.openxmlformats.org/officeDocument/2006/relationships/slide" Target="slides/slide12.xml"/>
  <Relationship Id="rId15" Type="http://schemas.openxmlformats.org/officeDocument/2006/relationships/slide" Target="slides/slide13.xml"/>
  <Relationship Id="rId16" Type="http://schemas.openxmlformats.org/officeDocument/2006/relationships/slide" Target="slides/slide14.xml"/>
  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
    Target="../slideMasters/slideMaster1.xml"/>
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Ovr>
    <a:masterClr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  <Relationship Id="rId2" Type="http://schemas.openxmlformats.org/officeDocument/2006/relationships/theme"
    Target="../theme/theme1.xml"/>
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
    Target="../slideLayouts/slideLayout1.xml"/>
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01" name="r101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63B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r102"/>
          <p:cNvSpPr>
            <a:spLocks noGrp="1"/>
          </p:cNvSpPr>
          <p:nvPr/>
        </p:nvSpPr>
        <p:spPr>
          <a:xfrm>
            <a:off x="0" y="0"/>
            <a:ext cx="2520000" cy="6858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t103"/>
          <p:cNvSpPr txBox="1"/>
          <p:nvPr/>
        </p:nvSpPr>
        <p:spPr>
          <a:xfrm>
            <a:off x="216000" y="180000"/>
            <a:ext cx="7200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100" b="1" dirty="0" smtClean="0">
                <a:solidFill>
                  <a:srgbClr val="1DE0C4"/>
                </a:solidFill>
                <a:latin typeface="+mj-lt"/>
              </a:rPr>
              <a:t>FIZIOTERAPIYA  ·  REPRODUKTIV SALOMATLIK</a:t>
            </a:r>
          </a:p>
        </p:txBody>
      </p:sp>
      <p:sp>
        <p:nvSpPr>
          <p:cNvPr id="104" name="t104"/>
          <p:cNvSpPr txBox="1"/>
          <p:nvPr/>
        </p:nvSpPr>
        <p:spPr>
          <a:xfrm>
            <a:off x="216000" y="720000"/>
            <a:ext cx="7920000" cy="144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800" b="1" dirty="0" smtClean="0">
                <a:solidFill>
                  <a:srgbClr val="FFFFFF"/>
                </a:solidFill>
                <a:latin typeface="+mj-lt"/>
              </a:rPr>
              <a:t>Akusherlik-ginekologiya hamda</a:t>
            </a:r>
          </a:p>
          <a:p>
            <a:pPr algn="l" indent="0" marL="0"/>
            <a:r>
              <a:rPr lang="uz-UZ" sz="2800" b="1" dirty="0" smtClean="0">
                <a:solidFill>
                  <a:srgbClr val="FFFFFF"/>
                </a:solidFill>
                <a:latin typeface="+mj-lt"/>
              </a:rPr>
              <a:t>urologik-andrologik amaliyotda</a:t>
            </a:r>
          </a:p>
          <a:p>
            <a:pPr algn="l" indent="0" marL="0"/>
            <a:r>
              <a:rPr lang="uz-UZ" sz="2800" b="1" dirty="0" smtClean="0">
                <a:solidFill>
                  <a:srgbClr val="1DE0C4"/>
                </a:solidFill>
                <a:latin typeface="+mj-lt"/>
              </a:rPr>
              <a:t>fizioterapiya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16000" y="2232000"/>
            <a:ext cx="864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BDEEE7"/>
                </a:solidFill>
                <a:latin typeface="+mj-lt"/>
              </a:rPr>
              <a:t>Jismoniy omillarning davolash-tiklash kuchidan reproduktiv</a:t>
            </a:r>
          </a:p>
          <a:p>
            <a:pPr algn="l" indent="0" marL="0"/>
            <a:r>
              <a:rPr lang="uz-UZ" sz="1400" b="0" dirty="0" smtClean="0">
                <a:solidFill>
                  <a:srgbClr val="BDEEE7"/>
                </a:solidFill>
                <a:latin typeface="+mj-lt"/>
              </a:rPr>
              <a:t>salomatlikni mustahkamlashda foydalanish — zamonaviy yondashuv.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216000" y="2988000"/>
            <a:ext cx="72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13B3A6"/>
                </a:solidFill>
                <a:latin typeface="+mj-lt"/>
              </a:rPr>
              <a:t>PhysioMed  ·  2026  ·  14 slayd</a:t>
            </a:r>
          </a:p>
        </p:txBody>
      </p:sp>
    </p:spTree>
  </p:cSld>
  <p:clrMapOvr>
    <a:masterClr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07" name="r107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t108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TAQDIMOT REJASI</a:t>
            </a:r>
          </a:p>
        </p:txBody>
      </p:sp>
      <p:sp>
        <p:nvSpPr>
          <p:cNvPr id="109" name="r109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t110"/>
          <p:cNvSpPr txBox="1"/>
          <p:nvPr/>
        </p:nvSpPr>
        <p:spPr>
          <a:xfrm>
            <a:off x="341999" y="7200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01 – Fizioterapiya tushunchasi va o'rni</a:t>
            </a:r>
          </a:p>
        </p:txBody>
      </p:sp>
      <p:sp>
        <p:nvSpPr>
          <p:cNvPr id="111" name="r111"/>
          <p:cNvSpPr>
            <a:spLocks noGrp="1"/>
          </p:cNvSpPr>
          <p:nvPr/>
        </p:nvSpPr>
        <p:spPr>
          <a:xfrm>
            <a:off x="216000" y="1094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t112"/>
          <p:cNvSpPr txBox="1"/>
          <p:nvPr/>
        </p:nvSpPr>
        <p:spPr>
          <a:xfrm>
            <a:off x="341999" y="10152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02 – Maqsad va vazifalari</a:t>
            </a:r>
          </a:p>
        </p:txBody>
      </p:sp>
      <p:sp>
        <p:nvSpPr>
          <p:cNvPr id="113" name="r113"/>
          <p:cNvSpPr>
            <a:spLocks noGrp="1"/>
          </p:cNvSpPr>
          <p:nvPr/>
        </p:nvSpPr>
        <p:spPr>
          <a:xfrm>
            <a:off x="216000" y="1389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t114"/>
          <p:cNvSpPr txBox="1"/>
          <p:nvPr/>
        </p:nvSpPr>
        <p:spPr>
          <a:xfrm>
            <a:off x="341999" y="13104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03 – Asosiy fizik omillar va usullar</a:t>
            </a:r>
          </a:p>
        </p:txBody>
      </p:sp>
      <p:sp>
        <p:nvSpPr>
          <p:cNvPr id="115" name="r115"/>
          <p:cNvSpPr>
            <a:spLocks noGrp="1"/>
          </p:cNvSpPr>
          <p:nvPr/>
        </p:nvSpPr>
        <p:spPr>
          <a:xfrm>
            <a:off x="216000" y="16848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t116"/>
          <p:cNvSpPr txBox="1"/>
          <p:nvPr/>
        </p:nvSpPr>
        <p:spPr>
          <a:xfrm>
            <a:off x="341999" y="1605600"/>
            <a:ext cx="527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04 – Akusherlikda qo'llanilishi</a:t>
            </a:r>
          </a:p>
        </p:txBody>
      </p:sp>
      <p:sp>
        <p:nvSpPr>
          <p:cNvPr id="117" name="r117"/>
          <p:cNvSpPr>
            <a:spLocks noGrp="1"/>
          </p:cNvSpPr>
          <p:nvPr/>
        </p:nvSpPr>
        <p:spPr>
          <a:xfrm>
            <a:off x="6120000" y="799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18" name="t118"/>
          <p:cNvSpPr txBox="1"/>
          <p:nvPr/>
        </p:nvSpPr>
        <p:spPr>
          <a:xfrm>
            <a:off x="6245999" y="7200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05 – Ginekologiyada qo'llanilishi</a:t>
            </a:r>
          </a:p>
        </p:txBody>
      </p:sp>
      <p:sp>
        <p:nvSpPr>
          <p:cNvPr id="119" name="r119"/>
          <p:cNvSpPr>
            <a:spLocks noGrp="1"/>
          </p:cNvSpPr>
          <p:nvPr/>
        </p:nvSpPr>
        <p:spPr>
          <a:xfrm>
            <a:off x="6120000" y="10944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t120"/>
          <p:cNvSpPr txBox="1"/>
          <p:nvPr/>
        </p:nvSpPr>
        <p:spPr>
          <a:xfrm>
            <a:off x="6245999" y="10152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06 – Tos tubi mushaklari reabilitatsiyasi</a:t>
            </a:r>
          </a:p>
        </p:txBody>
      </p:sp>
      <p:sp>
        <p:nvSpPr>
          <p:cNvPr id="121" name="r121"/>
          <p:cNvSpPr>
            <a:spLocks noGrp="1"/>
          </p:cNvSpPr>
          <p:nvPr/>
        </p:nvSpPr>
        <p:spPr>
          <a:xfrm>
            <a:off x="6120000" y="13896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t122"/>
          <p:cNvSpPr txBox="1"/>
          <p:nvPr/>
        </p:nvSpPr>
        <p:spPr>
          <a:xfrm>
            <a:off x="6245999" y="13104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07 – Urologiya va andrologiyada</a:t>
            </a:r>
          </a:p>
        </p:txBody>
      </p:sp>
      <p:sp>
        <p:nvSpPr>
          <p:cNvPr id="123" name="r123"/>
          <p:cNvSpPr>
            <a:spLocks noGrp="1"/>
          </p:cNvSpPr>
          <p:nvPr/>
        </p:nvSpPr>
        <p:spPr>
          <a:xfrm>
            <a:off x="6120000" y="16848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t124"/>
          <p:cNvSpPr txBox="1"/>
          <p:nvPr/>
        </p:nvSpPr>
        <p:spPr>
          <a:xfrm>
            <a:off x="6245999" y="16056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08 – Ko'rsatma, qarshi ko'rsatma, xulosa</a:t>
            </a:r>
          </a:p>
        </p:txBody>
      </p:sp>
    </p:spTree>
  </p:cSld>
  <p:clrMapOvr>
    <a:masterClr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25" name="r125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26" name="t126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01 · FIZIOTERAPIYA NIMA?</a:t>
            </a:r>
          </a:p>
        </p:txBody>
      </p:sp>
      <p:sp>
        <p:nvSpPr>
          <p:cNvPr id="127" name="r127"/>
          <p:cNvSpPr>
            <a:spLocks noGrp="1"/>
          </p:cNvSpPr>
          <p:nvPr/>
        </p:nvSpPr>
        <p:spPr>
          <a:xfrm>
            <a:off x="180000" y="720000"/>
            <a:ext cx="79200" cy="1980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8" name="t128"/>
          <p:cNvSpPr txBox="1"/>
          <p:nvPr/>
        </p:nvSpPr>
        <p:spPr>
          <a:xfrm>
            <a:off x="396000" y="720000"/>
            <a:ext cx="558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Fizioterapiya — tabiiy va sun'iy jismoniy omillar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(elektr, magnit, ultratovush, issiqlik, suv) yordamida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kasalliklarni davolash va organizmni tiklash sohasidir.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396000" y="1728000"/>
            <a:ext cx="5400000" cy="251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13B3A6"/>
                </a:solidFill>
                <a:latin typeface="+mj-lt"/>
              </a:rPr>
              <a:t>Dorisiz  ·  Og'riqsiz  ·  Kam nojo'ya ta'sir</a:t>
            </a:r>
          </a:p>
        </p:txBody>
      </p:sp>
      <p:sp>
        <p:nvSpPr>
          <p:cNvPr id="130" name="r130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31" name="t131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Reproduktiv tibbiyotda ahamiyati</a:t>
            </a:r>
          </a:p>
        </p:txBody>
      </p:sp>
      <p:sp>
        <p:nvSpPr>
          <p:cNvPr id="132" name="r132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3" name="t133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Surunkali yallig'lanishlarni kamaytiradi</a:t>
            </a:r>
          </a:p>
        </p:txBody>
      </p:sp>
      <p:sp>
        <p:nvSpPr>
          <p:cNvPr id="134" name="r134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t135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Qon va limfa aylanishini yaxshilaydi</a:t>
            </a:r>
          </a:p>
        </p:txBody>
      </p:sp>
      <p:sp>
        <p:nvSpPr>
          <p:cNvPr id="136" name="r136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7" name="t137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Bitishmalar va og'riqni yumshatadi</a:t>
            </a:r>
          </a:p>
        </p:txBody>
      </p:sp>
      <p:sp>
        <p:nvSpPr>
          <p:cNvPr id="138" name="r138"/>
          <p:cNvSpPr>
            <a:spLocks noGrp="1"/>
          </p:cNvSpPr>
          <p:nvPr/>
        </p:nvSpPr>
        <p:spPr>
          <a:xfrm>
            <a:off x="6623999" y="21888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9" name="t139"/>
          <p:cNvSpPr txBox="1"/>
          <p:nvPr/>
        </p:nvSpPr>
        <p:spPr>
          <a:xfrm>
            <a:off x="6749998" y="21096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Dorilar samarasini kuchaytiradi</a:t>
            </a:r>
          </a:p>
        </p:txBody>
      </p:sp>
    </p:spTree>
  </p:cSld>
  <p:clrMapOvr>
    <a:masterClr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40" name="r140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1" name="t141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02 · FIZIOTERAPIYANING VAZIFALARI</a:t>
            </a:r>
          </a:p>
        </p:txBody>
      </p:sp>
      <p:sp>
        <p:nvSpPr>
          <p:cNvPr id="142" name="r142"/>
          <p:cNvSpPr>
            <a:spLocks noGrp="1"/>
          </p:cNvSpPr>
          <p:nvPr/>
        </p:nvSpPr>
        <p:spPr>
          <a:xfrm>
            <a:off x="180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r143"/>
          <p:cNvSpPr>
            <a:spLocks noGrp="1"/>
          </p:cNvSpPr>
          <p:nvPr/>
        </p:nvSpPr>
        <p:spPr>
          <a:xfrm>
            <a:off x="180000" y="720000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4" name="t144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Og'riqni bartaraf etish</a:t>
            </a:r>
          </a:p>
        </p:txBody>
      </p:sp>
      <p:sp>
        <p:nvSpPr>
          <p:cNvPr id="145" name="t145"/>
          <p:cNvSpPr txBox="1"/>
          <p:nvPr/>
        </p:nvSpPr>
        <p:spPr>
          <a:xfrm>
            <a:off x="288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Analgetik ta'sir orqali tos sohasidagi og'riqni kamaytirish.</a:t>
            </a:r>
          </a:p>
        </p:txBody>
      </p:sp>
      <p:sp>
        <p:nvSpPr>
          <p:cNvPr id="146" name="r146"/>
          <p:cNvSpPr>
            <a:spLocks noGrp="1"/>
          </p:cNvSpPr>
          <p:nvPr/>
        </p:nvSpPr>
        <p:spPr>
          <a:xfrm>
            <a:off x="4176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r147"/>
          <p:cNvSpPr>
            <a:spLocks noGrp="1"/>
          </p:cNvSpPr>
          <p:nvPr/>
        </p:nvSpPr>
        <p:spPr>
          <a:xfrm>
            <a:off x="4176000" y="720000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48" name="t148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Yallig'lanishga qarshi</a:t>
            </a:r>
          </a:p>
        </p:txBody>
      </p:sp>
      <p:sp>
        <p:nvSpPr>
          <p:cNvPr id="149" name="t149"/>
          <p:cNvSpPr txBox="1"/>
          <p:nvPr/>
        </p:nvSpPr>
        <p:spPr>
          <a:xfrm>
            <a:off x="4284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Infiltratlarni so'rdirish, shishni kamaytirish.</a:t>
            </a:r>
          </a:p>
        </p:txBody>
      </p:sp>
      <p:sp>
        <p:nvSpPr>
          <p:cNvPr id="150" name="r150"/>
          <p:cNvSpPr>
            <a:spLocks noGrp="1"/>
          </p:cNvSpPr>
          <p:nvPr/>
        </p:nvSpPr>
        <p:spPr>
          <a:xfrm>
            <a:off x="8172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r151"/>
          <p:cNvSpPr>
            <a:spLocks noGrp="1"/>
          </p:cNvSpPr>
          <p:nvPr/>
        </p:nvSpPr>
        <p:spPr>
          <a:xfrm>
            <a:off x="8172000" y="720000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52" name="t152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Qon aylanishini yaxshilash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8280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Mahalliy mikrosirkulyatsiya va to'qima oziqlanishi.</a:t>
            </a:r>
          </a:p>
        </p:txBody>
      </p:sp>
      <p:sp>
        <p:nvSpPr>
          <p:cNvPr id="154" name="r154"/>
          <p:cNvSpPr>
            <a:spLocks noGrp="1"/>
          </p:cNvSpPr>
          <p:nvPr/>
        </p:nvSpPr>
        <p:spPr>
          <a:xfrm>
            <a:off x="180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5" name="r155"/>
          <p:cNvSpPr>
            <a:spLocks noGrp="1"/>
          </p:cNvSpPr>
          <p:nvPr/>
        </p:nvSpPr>
        <p:spPr>
          <a:xfrm>
            <a:off x="180000" y="1889999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6" name="t156"/>
          <p:cNvSpPr txBox="1"/>
          <p:nvPr/>
        </p:nvSpPr>
        <p:spPr>
          <a:xfrm>
            <a:off x="288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Funksiyani tiklash</a:t>
            </a:r>
          </a:p>
        </p:txBody>
      </p:sp>
      <p:sp>
        <p:nvSpPr>
          <p:cNvPr id="157" name="t157"/>
          <p:cNvSpPr txBox="1"/>
          <p:nvPr/>
        </p:nvSpPr>
        <p:spPr>
          <a:xfrm>
            <a:off x="288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Organlar va mushaklarning normal faoliyatini tiklash.</a:t>
            </a:r>
          </a:p>
        </p:txBody>
      </p:sp>
      <p:sp>
        <p:nvSpPr>
          <p:cNvPr id="158" name="r158"/>
          <p:cNvSpPr>
            <a:spLocks noGrp="1"/>
          </p:cNvSpPr>
          <p:nvPr/>
        </p:nvSpPr>
        <p:spPr>
          <a:xfrm>
            <a:off x="4176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59" name="r159"/>
          <p:cNvSpPr>
            <a:spLocks noGrp="1"/>
          </p:cNvSpPr>
          <p:nvPr/>
        </p:nvSpPr>
        <p:spPr>
          <a:xfrm>
            <a:off x="4176000" y="1889999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60" name="t160"/>
          <p:cNvSpPr txBox="1"/>
          <p:nvPr/>
        </p:nvSpPr>
        <p:spPr>
          <a:xfrm>
            <a:off x="4284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Profilaktika</a:t>
            </a:r>
          </a:p>
        </p:txBody>
      </p:sp>
      <p:sp>
        <p:nvSpPr>
          <p:cNvPr id="161" name="t161"/>
          <p:cNvSpPr txBox="1"/>
          <p:nvPr/>
        </p:nvSpPr>
        <p:spPr>
          <a:xfrm>
            <a:off x="4284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Surunkalashuv va asoratlarning oldini olish.</a:t>
            </a:r>
          </a:p>
        </p:txBody>
      </p:sp>
      <p:sp>
        <p:nvSpPr>
          <p:cNvPr id="162" name="r162"/>
          <p:cNvSpPr>
            <a:spLocks noGrp="1"/>
          </p:cNvSpPr>
          <p:nvPr/>
        </p:nvSpPr>
        <p:spPr>
          <a:xfrm>
            <a:off x="8172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3" name="r163"/>
          <p:cNvSpPr>
            <a:spLocks noGrp="1"/>
          </p:cNvSpPr>
          <p:nvPr/>
        </p:nvSpPr>
        <p:spPr>
          <a:xfrm>
            <a:off x="8172000" y="1889999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64" name="t164"/>
          <p:cNvSpPr txBox="1"/>
          <p:nvPr/>
        </p:nvSpPr>
        <p:spPr>
          <a:xfrm>
            <a:off x="8280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Hayot sifatini oshirish</a:t>
            </a:r>
          </a:p>
        </p:txBody>
      </p:sp>
      <p:sp>
        <p:nvSpPr>
          <p:cNvPr id="165" name="t165"/>
          <p:cNvSpPr txBox="1"/>
          <p:nvPr/>
        </p:nvSpPr>
        <p:spPr>
          <a:xfrm>
            <a:off x="8280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Reproduktiv salomatlik va umumiy holatni yaxshilash.</a:t>
            </a:r>
          </a:p>
        </p:txBody>
      </p:sp>
    </p:spTree>
  </p:cSld>
  <p:clrMapOvr>
    <a:masterClr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66" name="r166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67" name="t167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03 · ASOSIY FIZIK OMILLAR VA USULLAR</a:t>
            </a:r>
          </a:p>
        </p:txBody>
      </p:sp>
      <p:sp>
        <p:nvSpPr>
          <p:cNvPr id="168" name="r168"/>
          <p:cNvSpPr>
            <a:spLocks noGrp="1"/>
          </p:cNvSpPr>
          <p:nvPr/>
        </p:nvSpPr>
        <p:spPr>
          <a:xfrm>
            <a:off x="180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69" name="r169"/>
          <p:cNvSpPr>
            <a:spLocks noGrp="1"/>
          </p:cNvSpPr>
          <p:nvPr/>
        </p:nvSpPr>
        <p:spPr>
          <a:xfrm>
            <a:off x="180000" y="720000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t170"/>
          <p:cNvSpPr txBox="1"/>
          <p:nvPr/>
        </p:nvSpPr>
        <p:spPr>
          <a:xfrm>
            <a:off x="288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Elektroterapiya</a:t>
            </a:r>
          </a:p>
        </p:txBody>
      </p:sp>
      <p:sp>
        <p:nvSpPr>
          <p:cNvPr id="171" name="t171"/>
          <p:cNvSpPr txBox="1"/>
          <p:nvPr/>
        </p:nvSpPr>
        <p:spPr>
          <a:xfrm>
            <a:off x="288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Galvanizatsiya, elektroforez, SMT, interferensiya toklari.</a:t>
            </a:r>
          </a:p>
        </p:txBody>
      </p:sp>
      <p:sp>
        <p:nvSpPr>
          <p:cNvPr id="172" name="r172"/>
          <p:cNvSpPr>
            <a:spLocks noGrp="1"/>
          </p:cNvSpPr>
          <p:nvPr/>
        </p:nvSpPr>
        <p:spPr>
          <a:xfrm>
            <a:off x="4176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r173"/>
          <p:cNvSpPr>
            <a:spLocks noGrp="1"/>
          </p:cNvSpPr>
          <p:nvPr/>
        </p:nvSpPr>
        <p:spPr>
          <a:xfrm>
            <a:off x="4176000" y="720000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174"/>
          <p:cNvSpPr txBox="1"/>
          <p:nvPr/>
        </p:nvSpPr>
        <p:spPr>
          <a:xfrm>
            <a:off x="4284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Magnitoterapiya</a:t>
            </a:r>
          </a:p>
        </p:txBody>
      </p:sp>
      <p:sp>
        <p:nvSpPr>
          <p:cNvPr id="175" name="t175"/>
          <p:cNvSpPr txBox="1"/>
          <p:nvPr/>
        </p:nvSpPr>
        <p:spPr>
          <a:xfrm>
            <a:off x="4284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Doimiy va o'zgaruvchan magnit maydoni — yallig'lanishga qarshi.</a:t>
            </a:r>
          </a:p>
        </p:txBody>
      </p:sp>
      <p:sp>
        <p:nvSpPr>
          <p:cNvPr id="176" name="r176"/>
          <p:cNvSpPr>
            <a:spLocks noGrp="1"/>
          </p:cNvSpPr>
          <p:nvPr/>
        </p:nvSpPr>
        <p:spPr>
          <a:xfrm>
            <a:off x="8172000" y="720000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r177"/>
          <p:cNvSpPr>
            <a:spLocks noGrp="1"/>
          </p:cNvSpPr>
          <p:nvPr/>
        </p:nvSpPr>
        <p:spPr>
          <a:xfrm>
            <a:off x="8172000" y="720000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78" name="t178"/>
          <p:cNvSpPr txBox="1"/>
          <p:nvPr/>
        </p:nvSpPr>
        <p:spPr>
          <a:xfrm>
            <a:off x="8280000" y="8820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Lazeroterapiya</a:t>
            </a:r>
          </a:p>
        </p:txBody>
      </p:sp>
      <p:sp>
        <p:nvSpPr>
          <p:cNvPr id="179" name="t179"/>
          <p:cNvSpPr txBox="1"/>
          <p:nvPr/>
        </p:nvSpPr>
        <p:spPr>
          <a:xfrm>
            <a:off x="8280000" y="1188000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Past intensivlikdagi lazer — to'qima regeneratsiyasini tezlashtiradi.</a:t>
            </a:r>
          </a:p>
        </p:txBody>
      </p:sp>
      <p:sp>
        <p:nvSpPr>
          <p:cNvPr id="180" name="r180"/>
          <p:cNvSpPr>
            <a:spLocks noGrp="1"/>
          </p:cNvSpPr>
          <p:nvPr/>
        </p:nvSpPr>
        <p:spPr>
          <a:xfrm>
            <a:off x="180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r181"/>
          <p:cNvSpPr>
            <a:spLocks noGrp="1"/>
          </p:cNvSpPr>
          <p:nvPr/>
        </p:nvSpPr>
        <p:spPr>
          <a:xfrm>
            <a:off x="180000" y="1889999"/>
            <a:ext cx="3780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2" name="t182"/>
          <p:cNvSpPr txBox="1"/>
          <p:nvPr/>
        </p:nvSpPr>
        <p:spPr>
          <a:xfrm>
            <a:off x="288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Ultratovush / Fonoforez</a:t>
            </a:r>
          </a:p>
        </p:txBody>
      </p:sp>
      <p:sp>
        <p:nvSpPr>
          <p:cNvPr id="183" name="t183"/>
          <p:cNvSpPr txBox="1"/>
          <p:nvPr/>
        </p:nvSpPr>
        <p:spPr>
          <a:xfrm>
            <a:off x="288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Mikromassaj effekti va dorilarni to'qimaga yetkazish.</a:t>
            </a:r>
          </a:p>
        </p:txBody>
      </p:sp>
      <p:sp>
        <p:nvSpPr>
          <p:cNvPr id="184" name="r184"/>
          <p:cNvSpPr>
            <a:spLocks noGrp="1"/>
          </p:cNvSpPr>
          <p:nvPr/>
        </p:nvSpPr>
        <p:spPr>
          <a:xfrm>
            <a:off x="4176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5" name="r185"/>
          <p:cNvSpPr>
            <a:spLocks noGrp="1"/>
          </p:cNvSpPr>
          <p:nvPr/>
        </p:nvSpPr>
        <p:spPr>
          <a:xfrm>
            <a:off x="4176000" y="1889999"/>
            <a:ext cx="3780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186" name="t186"/>
          <p:cNvSpPr txBox="1"/>
          <p:nvPr/>
        </p:nvSpPr>
        <p:spPr>
          <a:xfrm>
            <a:off x="4284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Yorug'lik / UFO</a:t>
            </a:r>
          </a:p>
        </p:txBody>
      </p:sp>
      <p:sp>
        <p:nvSpPr>
          <p:cNvPr id="187" name="t187"/>
          <p:cNvSpPr txBox="1"/>
          <p:nvPr/>
        </p:nvSpPr>
        <p:spPr>
          <a:xfrm>
            <a:off x="4284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Infraqizil, ultrabinafsha nurlanish — bakteritsid ta'sir.</a:t>
            </a:r>
          </a:p>
        </p:txBody>
      </p:sp>
      <p:sp>
        <p:nvSpPr>
          <p:cNvPr id="188" name="r188"/>
          <p:cNvSpPr>
            <a:spLocks noGrp="1"/>
          </p:cNvSpPr>
          <p:nvPr/>
        </p:nvSpPr>
        <p:spPr>
          <a:xfrm>
            <a:off x="8172000" y="1889999"/>
            <a:ext cx="3780000" cy="10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r189"/>
          <p:cNvSpPr>
            <a:spLocks noGrp="1"/>
          </p:cNvSpPr>
          <p:nvPr/>
        </p:nvSpPr>
        <p:spPr>
          <a:xfrm>
            <a:off x="8172000" y="1889999"/>
            <a:ext cx="3780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190" name="t190"/>
          <p:cNvSpPr txBox="1"/>
          <p:nvPr/>
        </p:nvSpPr>
        <p:spPr>
          <a:xfrm>
            <a:off x="8280000" y="2051999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Termoterapiya</a:t>
            </a:r>
          </a:p>
        </p:txBody>
      </p:sp>
      <p:sp>
        <p:nvSpPr>
          <p:cNvPr id="191" name="t191"/>
          <p:cNvSpPr txBox="1"/>
          <p:nvPr/>
        </p:nvSpPr>
        <p:spPr>
          <a:xfrm>
            <a:off x="8280000" y="2357999"/>
            <a:ext cx="3600000" cy="503999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Loy, parafin, mineral vannalar va kurort omillari.</a:t>
            </a:r>
          </a:p>
        </p:txBody>
      </p:sp>
    </p:spTree>
  </p:cSld>
  <p:clrMapOvr>
    <a:masterClr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192" name="r19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t19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04 · AKUSHERLIKDA FIZIOTERAPIYA</a:t>
            </a:r>
          </a:p>
        </p:txBody>
      </p:sp>
      <p:sp>
        <p:nvSpPr>
          <p:cNvPr id="194" name="r194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5" name="t195"/>
          <p:cNvSpPr txBox="1"/>
          <p:nvPr/>
        </p:nvSpPr>
        <p:spPr>
          <a:xfrm>
            <a:off x="341999" y="7200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Homiladorlik davrida: erta toksikoz, bel og'riqlari, shishlarda (ko'rsatma bo'yicha)</a:t>
            </a:r>
          </a:p>
        </p:txBody>
      </p:sp>
      <p:sp>
        <p:nvSpPr>
          <p:cNvPr id="196" name="r196"/>
          <p:cNvSpPr>
            <a:spLocks noGrp="1"/>
          </p:cNvSpPr>
          <p:nvPr/>
        </p:nvSpPr>
        <p:spPr>
          <a:xfrm>
            <a:off x="216000" y="1094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7" name="t197"/>
          <p:cNvSpPr txBox="1"/>
          <p:nvPr/>
        </p:nvSpPr>
        <p:spPr>
          <a:xfrm>
            <a:off x="341999" y="10152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Tug'ruqdan keyin: bachadon involyutsiyasini tezlashtirish, tikuvlar bitishi</a:t>
            </a:r>
          </a:p>
        </p:txBody>
      </p:sp>
      <p:sp>
        <p:nvSpPr>
          <p:cNvPr id="198" name="r198"/>
          <p:cNvSpPr>
            <a:spLocks noGrp="1"/>
          </p:cNvSpPr>
          <p:nvPr/>
        </p:nvSpPr>
        <p:spPr>
          <a:xfrm>
            <a:off x="216000" y="1389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9" name="t199"/>
          <p:cNvSpPr txBox="1"/>
          <p:nvPr/>
        </p:nvSpPr>
        <p:spPr>
          <a:xfrm>
            <a:off x="341999" y="13104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Laktostaz va mastit: ultratovush va magnit terapiya bilan davolash</a:t>
            </a:r>
          </a:p>
        </p:txBody>
      </p:sp>
      <p:sp>
        <p:nvSpPr>
          <p:cNvPr id="200" name="r200"/>
          <p:cNvSpPr>
            <a:spLocks noGrp="1"/>
          </p:cNvSpPr>
          <p:nvPr/>
        </p:nvSpPr>
        <p:spPr>
          <a:xfrm>
            <a:off x="216000" y="16848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201"/>
          <p:cNvSpPr txBox="1"/>
          <p:nvPr/>
        </p:nvSpPr>
        <p:spPr>
          <a:xfrm>
            <a:off x="341999" y="16056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Episiotomiya / sezar: chandiqlarni yumshatish, bitishmalar profilaktikasi</a:t>
            </a:r>
          </a:p>
        </p:txBody>
      </p:sp>
      <p:sp>
        <p:nvSpPr>
          <p:cNvPr id="202" name="r202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03" name="t203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Asosiy effektlar</a:t>
            </a:r>
          </a:p>
        </p:txBody>
      </p:sp>
      <p:sp>
        <p:nvSpPr>
          <p:cNvPr id="204" name="r204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t205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Bachadon qisqaruvini rag'batlantirish</a:t>
            </a:r>
          </a:p>
        </p:txBody>
      </p:sp>
      <p:sp>
        <p:nvSpPr>
          <p:cNvPr id="206" name="r206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7" name="t207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Yiringli-yallig'lanish asoratlari profilaktikasi</a:t>
            </a:r>
          </a:p>
        </p:txBody>
      </p:sp>
      <p:sp>
        <p:nvSpPr>
          <p:cNvPr id="208" name="r208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9" name="t209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Tikuvlar tez bitishi va og'riq kamayishi</a:t>
            </a:r>
          </a:p>
        </p:txBody>
      </p:sp>
      <p:sp>
        <p:nvSpPr>
          <p:cNvPr id="210" name="r210"/>
          <p:cNvSpPr>
            <a:spLocks noGrp="1"/>
          </p:cNvSpPr>
          <p:nvPr/>
        </p:nvSpPr>
        <p:spPr>
          <a:xfrm>
            <a:off x="6623999" y="21888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11" name="t211"/>
          <p:cNvSpPr txBox="1"/>
          <p:nvPr/>
        </p:nvSpPr>
        <p:spPr>
          <a:xfrm>
            <a:off x="6749998" y="21096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Laktatsiyani me'yorlashtirish</a:t>
            </a:r>
          </a:p>
        </p:txBody>
      </p:sp>
    </p:spTree>
  </p:cSld>
  <p:clrMapOvr>
    <a:masterClr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12" name="r212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3" name="t213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05 · GINEKOLOGIYADA FIZIOTERAPIYA</a:t>
            </a:r>
          </a:p>
        </p:txBody>
      </p:sp>
      <p:sp>
        <p:nvSpPr>
          <p:cNvPr id="214" name="r214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r215"/>
          <p:cNvSpPr>
            <a:spLocks noGrp="1"/>
          </p:cNvSpPr>
          <p:nvPr/>
        </p:nvSpPr>
        <p:spPr>
          <a:xfrm>
            <a:off x="180000" y="720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t216"/>
          <p:cNvSpPr txBox="1"/>
          <p:nvPr/>
        </p:nvSpPr>
        <p:spPr>
          <a:xfrm>
            <a:off x="360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Surunkali yallig'lanishlar</a:t>
            </a:r>
          </a:p>
        </p:txBody>
      </p:sp>
      <p:sp>
        <p:nvSpPr>
          <p:cNvPr id="217" name="t217"/>
          <p:cNvSpPr txBox="1"/>
          <p:nvPr/>
        </p:nvSpPr>
        <p:spPr>
          <a:xfrm>
            <a:off x="360000" y="1116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Salpingooforit, endometrit — infiltratlarni so'rdirish.</a:t>
            </a:r>
          </a:p>
        </p:txBody>
      </p:sp>
      <p:sp>
        <p:nvSpPr>
          <p:cNvPr id="218" name="r218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19" name="r219"/>
          <p:cNvSpPr>
            <a:spLocks noGrp="1"/>
          </p:cNvSpPr>
          <p:nvPr/>
        </p:nvSpPr>
        <p:spPr>
          <a:xfrm>
            <a:off x="6192000" y="720000"/>
            <a:ext cx="115200" cy="11520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20" name="t220"/>
          <p:cNvSpPr txBox="1"/>
          <p:nvPr/>
        </p:nvSpPr>
        <p:spPr>
          <a:xfrm>
            <a:off x="6372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Bepushtlik</a:t>
            </a:r>
          </a:p>
        </p:txBody>
      </p:sp>
      <p:sp>
        <p:nvSpPr>
          <p:cNvPr id="221" name="t221"/>
          <p:cNvSpPr txBox="1"/>
          <p:nvPr/>
        </p:nvSpPr>
        <p:spPr>
          <a:xfrm>
            <a:off x="6372000" y="1116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Naysimon-peritoneal bepushtlikda bitishmalarni yumshatish, naychalarni tiklash.</a:t>
            </a:r>
          </a:p>
        </p:txBody>
      </p:sp>
      <p:sp>
        <p:nvSpPr>
          <p:cNvPr id="222" name="r222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3" name="r223"/>
          <p:cNvSpPr>
            <a:spLocks noGrp="1"/>
          </p:cNvSpPr>
          <p:nvPr/>
        </p:nvSpPr>
        <p:spPr>
          <a:xfrm>
            <a:off x="180000" y="2034000"/>
            <a:ext cx="115200" cy="11520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224"/>
          <p:cNvSpPr txBox="1"/>
          <p:nvPr/>
        </p:nvSpPr>
        <p:spPr>
          <a:xfrm>
            <a:off x="360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Menstrual buzilishlar</a:t>
            </a:r>
          </a:p>
        </p:txBody>
      </p:sp>
      <p:sp>
        <p:nvSpPr>
          <p:cNvPr id="225" name="t225"/>
          <p:cNvSpPr txBox="1"/>
          <p:nvPr/>
        </p:nvSpPr>
        <p:spPr>
          <a:xfrm>
            <a:off x="360000" y="2430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Algodismenoreya va gormonal nomutanosiblikda yordamchi vosita.</a:t>
            </a:r>
          </a:p>
        </p:txBody>
      </p:sp>
      <p:sp>
        <p:nvSpPr>
          <p:cNvPr id="226" name="r226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7" name="r227"/>
          <p:cNvSpPr>
            <a:spLocks noGrp="1"/>
          </p:cNvSpPr>
          <p:nvPr/>
        </p:nvSpPr>
        <p:spPr>
          <a:xfrm>
            <a:off x="6192000" y="2034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t228"/>
          <p:cNvSpPr txBox="1"/>
          <p:nvPr/>
        </p:nvSpPr>
        <p:spPr>
          <a:xfrm>
            <a:off x="6372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Operatsiyadan keyin</a:t>
            </a:r>
          </a:p>
        </p:txBody>
      </p:sp>
      <p:sp>
        <p:nvSpPr>
          <p:cNvPr id="229" name="t229"/>
          <p:cNvSpPr txBox="1"/>
          <p:nvPr/>
        </p:nvSpPr>
        <p:spPr>
          <a:xfrm>
            <a:off x="6372000" y="2430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Reabilitatsiya, chandiq va bitishmalar profilaktikasi.</a:t>
            </a:r>
          </a:p>
        </p:txBody>
      </p:sp>
    </p:spTree>
  </p:cSld>
  <p:clrMapOvr>
    <a:masterClr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30" name="r230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231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06 · TOS TUBI MUSHAKLARINI TIKLASH</a:t>
            </a:r>
          </a:p>
        </p:txBody>
      </p:sp>
      <p:sp>
        <p:nvSpPr>
          <p:cNvPr id="232" name="r232"/>
          <p:cNvSpPr>
            <a:spLocks noGrp="1"/>
          </p:cNvSpPr>
          <p:nvPr/>
        </p:nvSpPr>
        <p:spPr>
          <a:xfrm>
            <a:off x="180000" y="720000"/>
            <a:ext cx="79200" cy="1980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3" name="t233"/>
          <p:cNvSpPr txBox="1"/>
          <p:nvPr/>
        </p:nvSpPr>
        <p:spPr>
          <a:xfrm>
            <a:off x="396000" y="720000"/>
            <a:ext cx="5580000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Tos tubi disfunksiyasi — siydik tutolmaslik, jinsiy a'zolar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tushishi va og'riqning asosiy sababidir. Maxsus reabilitatsiya</a:t>
            </a:r>
          </a:p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juda yuqori samaradorlikka ega.</a:t>
            </a:r>
          </a:p>
        </p:txBody>
      </p:sp>
      <p:sp>
        <p:nvSpPr>
          <p:cNvPr id="234" name="r234"/>
          <p:cNvSpPr>
            <a:spLocks noGrp="1"/>
          </p:cNvSpPr>
          <p:nvPr/>
        </p:nvSpPr>
        <p:spPr>
          <a:xfrm>
            <a:off x="216000" y="1627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5" name="t235"/>
          <p:cNvSpPr txBox="1"/>
          <p:nvPr/>
        </p:nvSpPr>
        <p:spPr>
          <a:xfrm>
            <a:off x="341999" y="15480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Kegel mashqlari — mushak tonusini mustahkamlash</a:t>
            </a:r>
          </a:p>
        </p:txBody>
      </p:sp>
      <p:sp>
        <p:nvSpPr>
          <p:cNvPr id="236" name="r236"/>
          <p:cNvSpPr>
            <a:spLocks noGrp="1"/>
          </p:cNvSpPr>
          <p:nvPr/>
        </p:nvSpPr>
        <p:spPr>
          <a:xfrm>
            <a:off x="216000" y="1922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t237"/>
          <p:cNvSpPr txBox="1"/>
          <p:nvPr/>
        </p:nvSpPr>
        <p:spPr>
          <a:xfrm>
            <a:off x="341999" y="18432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BFB (biologik teskari aloqa) — nazorat ostida mashq</a:t>
            </a:r>
          </a:p>
        </p:txBody>
      </p:sp>
      <p:sp>
        <p:nvSpPr>
          <p:cNvPr id="238" name="r238"/>
          <p:cNvSpPr>
            <a:spLocks noGrp="1"/>
          </p:cNvSpPr>
          <p:nvPr/>
        </p:nvSpPr>
        <p:spPr>
          <a:xfrm>
            <a:off x="216000" y="2217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39" name="t239"/>
          <p:cNvSpPr txBox="1"/>
          <p:nvPr/>
        </p:nvSpPr>
        <p:spPr>
          <a:xfrm>
            <a:off x="341999" y="21384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Elektromiostimulyatsiya — zaiflashgan mushaklarni faollashtirish</a:t>
            </a:r>
          </a:p>
        </p:txBody>
      </p:sp>
      <p:sp>
        <p:nvSpPr>
          <p:cNvPr id="240" name="r240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41" name="t241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Ko'rsatkichlar</a:t>
            </a:r>
          </a:p>
        </p:txBody>
      </p:sp>
      <p:sp>
        <p:nvSpPr>
          <p:cNvPr id="242" name="r242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t243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Tug'ruqdan keyingi tiklanish</a:t>
            </a:r>
          </a:p>
        </p:txBody>
      </p:sp>
      <p:sp>
        <p:nvSpPr>
          <p:cNvPr id="244" name="r244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5" name="t245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Stress-inkontinensiya davosi</a:t>
            </a:r>
          </a:p>
        </p:txBody>
      </p:sp>
      <p:sp>
        <p:nvSpPr>
          <p:cNvPr id="246" name="r246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7" name="t247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Jinsiy funksiyani yaxshilash</a:t>
            </a:r>
          </a:p>
        </p:txBody>
      </p:sp>
      <p:sp>
        <p:nvSpPr>
          <p:cNvPr id="248" name="t248"/>
          <p:cNvSpPr txBox="1"/>
          <p:nvPr/>
        </p:nvSpPr>
        <p:spPr>
          <a:xfrm>
            <a:off x="6623999" y="1224000"/>
            <a:ext cx="5040000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1DE0C4"/>
                </a:solidFill>
                <a:latin typeface="+mj-lt"/>
              </a:rPr>
              <a:t>70% — siydik tutish nazorati yaxshilanishi</a:t>
            </a:r>
          </a:p>
        </p:txBody>
      </p:sp>
    </p:spTree>
  </p:cSld>
  <p:clrMapOvr>
    <a:masterClr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49" name="r249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t250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07 · UROLOGIK AMALIYOTDA FIZIOTERAPIYA</a:t>
            </a:r>
          </a:p>
        </p:txBody>
      </p:sp>
      <p:sp>
        <p:nvSpPr>
          <p:cNvPr id="251" name="r251"/>
          <p:cNvSpPr>
            <a:spLocks noGrp="1"/>
          </p:cNvSpPr>
          <p:nvPr/>
        </p:nvSpPr>
        <p:spPr>
          <a:xfrm>
            <a:off x="180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r252"/>
          <p:cNvSpPr>
            <a:spLocks noGrp="1"/>
          </p:cNvSpPr>
          <p:nvPr/>
        </p:nvSpPr>
        <p:spPr>
          <a:xfrm>
            <a:off x="180000" y="720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t253"/>
          <p:cNvSpPr txBox="1"/>
          <p:nvPr/>
        </p:nvSpPr>
        <p:spPr>
          <a:xfrm>
            <a:off x="360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Surunkali prostatit</a:t>
            </a:r>
          </a:p>
        </p:txBody>
      </p:sp>
      <p:sp>
        <p:nvSpPr>
          <p:cNvPr id="254" name="t254"/>
          <p:cNvSpPr txBox="1"/>
          <p:nvPr/>
        </p:nvSpPr>
        <p:spPr>
          <a:xfrm>
            <a:off x="360000" y="1116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Magnit-lazer va elektrostimulyatsiya — qon aylanishini yaxshilaydi.</a:t>
            </a:r>
          </a:p>
        </p:txBody>
      </p:sp>
      <p:sp>
        <p:nvSpPr>
          <p:cNvPr id="255" name="r255"/>
          <p:cNvSpPr>
            <a:spLocks noGrp="1"/>
          </p:cNvSpPr>
          <p:nvPr/>
        </p:nvSpPr>
        <p:spPr>
          <a:xfrm>
            <a:off x="6192000" y="720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6" name="r256"/>
          <p:cNvSpPr>
            <a:spLocks noGrp="1"/>
          </p:cNvSpPr>
          <p:nvPr/>
        </p:nvSpPr>
        <p:spPr>
          <a:xfrm>
            <a:off x="6192000" y="720000"/>
            <a:ext cx="115200" cy="11520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257" name="t257"/>
          <p:cNvSpPr txBox="1"/>
          <p:nvPr/>
        </p:nvSpPr>
        <p:spPr>
          <a:xfrm>
            <a:off x="6372000" y="810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Siydik tutolmaslik</a:t>
            </a:r>
          </a:p>
        </p:txBody>
      </p:sp>
      <p:sp>
        <p:nvSpPr>
          <p:cNvPr id="258" name="t258"/>
          <p:cNvSpPr txBox="1"/>
          <p:nvPr/>
        </p:nvSpPr>
        <p:spPr>
          <a:xfrm>
            <a:off x="6372000" y="1116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Tos tubi elektrostimulyatsiyasi va BFB orqali qovuq nazoratini tiklash.</a:t>
            </a:r>
          </a:p>
        </p:txBody>
      </p:sp>
      <p:sp>
        <p:nvSpPr>
          <p:cNvPr id="259" name="r259"/>
          <p:cNvSpPr>
            <a:spLocks noGrp="1"/>
          </p:cNvSpPr>
          <p:nvPr/>
        </p:nvSpPr>
        <p:spPr>
          <a:xfrm>
            <a:off x="180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0" name="r260"/>
          <p:cNvSpPr>
            <a:spLocks noGrp="1"/>
          </p:cNvSpPr>
          <p:nvPr/>
        </p:nvSpPr>
        <p:spPr>
          <a:xfrm>
            <a:off x="180000" y="2034000"/>
            <a:ext cx="115200" cy="11520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261" name="t261"/>
          <p:cNvSpPr txBox="1"/>
          <p:nvPr/>
        </p:nvSpPr>
        <p:spPr>
          <a:xfrm>
            <a:off x="360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Siydik-tosh kasalligi</a:t>
            </a:r>
          </a:p>
        </p:txBody>
      </p:sp>
      <p:sp>
        <p:nvSpPr>
          <p:cNvPr id="262" name="t262"/>
          <p:cNvSpPr txBox="1"/>
          <p:nvPr/>
        </p:nvSpPr>
        <p:spPr>
          <a:xfrm>
            <a:off x="360000" y="2430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Ultratovush va vibroterapiya mayda toshlar chiqishiga ko'maklashadi.</a:t>
            </a:r>
          </a:p>
        </p:txBody>
      </p:sp>
      <p:sp>
        <p:nvSpPr>
          <p:cNvPr id="263" name="r263"/>
          <p:cNvSpPr>
            <a:spLocks noGrp="1"/>
          </p:cNvSpPr>
          <p:nvPr/>
        </p:nvSpPr>
        <p:spPr>
          <a:xfrm>
            <a:off x="6192000" y="2034000"/>
            <a:ext cx="5580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64" name="r264"/>
          <p:cNvSpPr>
            <a:spLocks noGrp="1"/>
          </p:cNvSpPr>
          <p:nvPr/>
        </p:nvSpPr>
        <p:spPr>
          <a:xfrm>
            <a:off x="6192000" y="2034000"/>
            <a:ext cx="115200" cy="1152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65" name="t265"/>
          <p:cNvSpPr txBox="1"/>
          <p:nvPr/>
        </p:nvSpPr>
        <p:spPr>
          <a:xfrm>
            <a:off x="6372000" y="2124000"/>
            <a:ext cx="5328001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1" dirty="0" smtClean="0">
                <a:solidFill>
                  <a:srgbClr val="06262A"/>
                </a:solidFill>
                <a:latin typeface="+mj-lt"/>
              </a:rPr>
              <a:t>Sistit va uretrit</a:t>
            </a:r>
          </a:p>
        </p:txBody>
      </p:sp>
      <p:sp>
        <p:nvSpPr>
          <p:cNvPr id="266" name="t266"/>
          <p:cNvSpPr txBox="1"/>
          <p:nvPr/>
        </p:nvSpPr>
        <p:spPr>
          <a:xfrm>
            <a:off x="6372000" y="2430000"/>
            <a:ext cx="5328001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E7D80"/>
                </a:solidFill>
                <a:latin typeface="+mj-lt"/>
              </a:rPr>
              <a:t>Yallig'lanishga qarshi, og'riqni kamaytiruvchi protseduralar.</a:t>
            </a:r>
          </a:p>
        </p:txBody>
      </p:sp>
    </p:spTree>
  </p:cSld>
  <p:clrMapOvr>
    <a:masterClr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67" name="r267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68" name="t268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08 · ANDROLOGIK AMALIYOTDA FIZIOTERAPIYA</a:t>
            </a:r>
          </a:p>
        </p:txBody>
      </p:sp>
      <p:sp>
        <p:nvSpPr>
          <p:cNvPr id="269" name="r269"/>
          <p:cNvSpPr>
            <a:spLocks noGrp="1"/>
          </p:cNvSpPr>
          <p:nvPr/>
        </p:nvSpPr>
        <p:spPr>
          <a:xfrm>
            <a:off x="216000" y="799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t270"/>
          <p:cNvSpPr txBox="1"/>
          <p:nvPr/>
        </p:nvSpPr>
        <p:spPr>
          <a:xfrm>
            <a:off x="341999" y="7200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Erektil disfunksiya: magnit-lazer va zarba to'lqinli terapiya (LI-ESWT)</a:t>
            </a:r>
          </a:p>
        </p:txBody>
      </p:sp>
      <p:sp>
        <p:nvSpPr>
          <p:cNvPr id="271" name="r271"/>
          <p:cNvSpPr>
            <a:spLocks noGrp="1"/>
          </p:cNvSpPr>
          <p:nvPr/>
        </p:nvSpPr>
        <p:spPr>
          <a:xfrm>
            <a:off x="216000" y="1094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2" name="t272"/>
          <p:cNvSpPr txBox="1"/>
          <p:nvPr/>
        </p:nvSpPr>
        <p:spPr>
          <a:xfrm>
            <a:off x="341999" y="10152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Erkak bepushtligi: spermatogenezni yaxshilash, dimlanishni kamaytirish</a:t>
            </a:r>
          </a:p>
        </p:txBody>
      </p:sp>
      <p:sp>
        <p:nvSpPr>
          <p:cNvPr id="273" name="r273"/>
          <p:cNvSpPr>
            <a:spLocks noGrp="1"/>
          </p:cNvSpPr>
          <p:nvPr/>
        </p:nvSpPr>
        <p:spPr>
          <a:xfrm>
            <a:off x="216000" y="1389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4" name="t274"/>
          <p:cNvSpPr txBox="1"/>
          <p:nvPr/>
        </p:nvSpPr>
        <p:spPr>
          <a:xfrm>
            <a:off x="341999" y="13104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Surunkali tos og'rig'i: elektro- va magnitoterapiya bilan kompleks davolash</a:t>
            </a:r>
          </a:p>
        </p:txBody>
      </p:sp>
      <p:sp>
        <p:nvSpPr>
          <p:cNvPr id="275" name="r275"/>
          <p:cNvSpPr>
            <a:spLocks noGrp="1"/>
          </p:cNvSpPr>
          <p:nvPr/>
        </p:nvSpPr>
        <p:spPr>
          <a:xfrm>
            <a:off x="216000" y="16848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t276"/>
          <p:cNvSpPr txBox="1"/>
          <p:nvPr/>
        </p:nvSpPr>
        <p:spPr>
          <a:xfrm>
            <a:off x="341999" y="1605600"/>
            <a:ext cx="56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400" b="0" dirty="0" smtClean="0">
                <a:solidFill>
                  <a:srgbClr val="06262A"/>
                </a:solidFill>
                <a:latin typeface="+mj-lt"/>
              </a:rPr>
              <a:t>Peyroni kasalligi: fonoforez va lazer bilan chandiqlarni yumshatish</a:t>
            </a:r>
          </a:p>
        </p:txBody>
      </p:sp>
      <p:sp>
        <p:nvSpPr>
          <p:cNvPr id="277" name="r277"/>
          <p:cNvSpPr>
            <a:spLocks noGrp="1"/>
          </p:cNvSpPr>
          <p:nvPr/>
        </p:nvSpPr>
        <p:spPr>
          <a:xfrm>
            <a:off x="6480000" y="648000"/>
            <a:ext cx="5472000" cy="2520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278" name="t278"/>
          <p:cNvSpPr txBox="1"/>
          <p:nvPr/>
        </p:nvSpPr>
        <p:spPr>
          <a:xfrm>
            <a:off x="6623999" y="827999"/>
            <a:ext cx="5184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FFFFFF"/>
                </a:solidFill>
                <a:latin typeface="+mj-lt"/>
              </a:rPr>
              <a:t>Zamonaviy yo'nalish</a:t>
            </a:r>
          </a:p>
        </p:txBody>
      </p:sp>
      <p:sp>
        <p:nvSpPr>
          <p:cNvPr id="279" name="r279"/>
          <p:cNvSpPr>
            <a:spLocks noGrp="1"/>
          </p:cNvSpPr>
          <p:nvPr/>
        </p:nvSpPr>
        <p:spPr>
          <a:xfrm>
            <a:off x="6623999" y="13032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80" name="t280"/>
          <p:cNvSpPr txBox="1"/>
          <p:nvPr/>
        </p:nvSpPr>
        <p:spPr>
          <a:xfrm>
            <a:off x="6749998" y="12240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Fiziologik tiklanish — dorisiz</a:t>
            </a:r>
          </a:p>
        </p:txBody>
      </p:sp>
      <p:sp>
        <p:nvSpPr>
          <p:cNvPr id="281" name="r281"/>
          <p:cNvSpPr>
            <a:spLocks noGrp="1"/>
          </p:cNvSpPr>
          <p:nvPr/>
        </p:nvSpPr>
        <p:spPr>
          <a:xfrm>
            <a:off x="6623999" y="15984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82" name="t282"/>
          <p:cNvSpPr txBox="1"/>
          <p:nvPr/>
        </p:nvSpPr>
        <p:spPr>
          <a:xfrm>
            <a:off x="6749998" y="15192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Qon tomir yangilanishi (angiogenez)</a:t>
            </a:r>
          </a:p>
        </p:txBody>
      </p:sp>
      <p:sp>
        <p:nvSpPr>
          <p:cNvPr id="283" name="r283"/>
          <p:cNvSpPr>
            <a:spLocks noGrp="1"/>
          </p:cNvSpPr>
          <p:nvPr/>
        </p:nvSpPr>
        <p:spPr>
          <a:xfrm>
            <a:off x="6623999" y="1893600"/>
            <a:ext cx="57600" cy="57600"/>
          </a:xfrm>
          <a:prstGeom prst="rect">
            <a:avLst/>
          </a:prstGeom>
          <a:solidFill>
            <a:srgbClr val="1DE0C4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t284"/>
          <p:cNvSpPr txBox="1"/>
          <p:nvPr/>
        </p:nvSpPr>
        <p:spPr>
          <a:xfrm>
            <a:off x="6749998" y="1814400"/>
            <a:ext cx="491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FFFFFF"/>
                </a:solidFill>
                <a:latin typeface="+mj-lt"/>
              </a:rPr>
              <a:t>Xavfsiz va chidamli usul</a:t>
            </a:r>
          </a:p>
        </p:txBody>
      </p:sp>
    </p:spTree>
  </p:cSld>
  <p:clrMapOvr>
    <a:masterClr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285" name="r285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6" name="t286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09 · KO'RSATMA VA QARSHI KO'RSATMALAR</a:t>
            </a:r>
          </a:p>
        </p:txBody>
      </p:sp>
      <p:sp>
        <p:nvSpPr>
          <p:cNvPr id="287" name="r287"/>
          <p:cNvSpPr>
            <a:spLocks noGrp="1"/>
          </p:cNvSpPr>
          <p:nvPr/>
        </p:nvSpPr>
        <p:spPr>
          <a:xfrm>
            <a:off x="180000" y="684000"/>
            <a:ext cx="5688000" cy="2700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288" name="t288"/>
          <p:cNvSpPr txBox="1"/>
          <p:nvPr/>
        </p:nvSpPr>
        <p:spPr>
          <a:xfrm>
            <a:off x="324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0A7D70"/>
                </a:solidFill>
                <a:latin typeface="+mj-lt"/>
              </a:rPr>
              <a:t>  KO'RSATMALAR</a:t>
            </a:r>
          </a:p>
        </p:txBody>
      </p:sp>
      <p:sp>
        <p:nvSpPr>
          <p:cNvPr id="289" name="r289"/>
          <p:cNvSpPr>
            <a:spLocks noGrp="1"/>
          </p:cNvSpPr>
          <p:nvPr/>
        </p:nvSpPr>
        <p:spPr>
          <a:xfrm>
            <a:off x="324000" y="12312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t290"/>
          <p:cNvSpPr txBox="1"/>
          <p:nvPr/>
        </p:nvSpPr>
        <p:spPr>
          <a:xfrm>
            <a:off x="449999" y="1152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Surunkali yallig'lanish jarayonlari</a:t>
            </a:r>
          </a:p>
        </p:txBody>
      </p:sp>
      <p:sp>
        <p:nvSpPr>
          <p:cNvPr id="291" name="r291"/>
          <p:cNvSpPr>
            <a:spLocks noGrp="1"/>
          </p:cNvSpPr>
          <p:nvPr/>
        </p:nvSpPr>
        <p:spPr>
          <a:xfrm>
            <a:off x="324000" y="15264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2" name="t292"/>
          <p:cNvSpPr txBox="1"/>
          <p:nvPr/>
        </p:nvSpPr>
        <p:spPr>
          <a:xfrm>
            <a:off x="449999" y="14472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Bitishma kasalligi va chandiqlar</a:t>
            </a:r>
          </a:p>
        </p:txBody>
      </p:sp>
      <p:sp>
        <p:nvSpPr>
          <p:cNvPr id="293" name="r293"/>
          <p:cNvSpPr>
            <a:spLocks noGrp="1"/>
          </p:cNvSpPr>
          <p:nvPr/>
        </p:nvSpPr>
        <p:spPr>
          <a:xfrm>
            <a:off x="324000" y="18216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t294"/>
          <p:cNvSpPr txBox="1"/>
          <p:nvPr/>
        </p:nvSpPr>
        <p:spPr>
          <a:xfrm>
            <a:off x="449999" y="17424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Reabilitatsiya (operatsiya / tug'ruqdan keyin)</a:t>
            </a:r>
          </a:p>
        </p:txBody>
      </p:sp>
      <p:sp>
        <p:nvSpPr>
          <p:cNvPr id="295" name="r295"/>
          <p:cNvSpPr>
            <a:spLocks noGrp="1"/>
          </p:cNvSpPr>
          <p:nvPr/>
        </p:nvSpPr>
        <p:spPr>
          <a:xfrm>
            <a:off x="324000" y="21168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t296"/>
          <p:cNvSpPr txBox="1"/>
          <p:nvPr/>
        </p:nvSpPr>
        <p:spPr>
          <a:xfrm>
            <a:off x="449999" y="20376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Surunkali og'riq sindromlari</a:t>
            </a:r>
          </a:p>
        </p:txBody>
      </p:sp>
      <p:sp>
        <p:nvSpPr>
          <p:cNvPr id="297" name="r297"/>
          <p:cNvSpPr>
            <a:spLocks noGrp="1"/>
          </p:cNvSpPr>
          <p:nvPr/>
        </p:nvSpPr>
        <p:spPr>
          <a:xfrm>
            <a:off x="324000" y="24120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98" name="t298"/>
          <p:cNvSpPr txBox="1"/>
          <p:nvPr/>
        </p:nvSpPr>
        <p:spPr>
          <a:xfrm>
            <a:off x="449999" y="23328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Funksional bepushtlik shakllari</a:t>
            </a:r>
          </a:p>
        </p:txBody>
      </p:sp>
      <p:sp>
        <p:nvSpPr>
          <p:cNvPr id="299" name="r299"/>
          <p:cNvSpPr>
            <a:spLocks noGrp="1"/>
          </p:cNvSpPr>
          <p:nvPr/>
        </p:nvSpPr>
        <p:spPr>
          <a:xfrm>
            <a:off x="324000" y="2707200"/>
            <a:ext cx="57600" cy="57600"/>
          </a:xfrm>
          <a:prstGeom prst="rect">
            <a:avLst/>
          </a:prstGeom>
          <a:solidFill>
            <a:srgbClr val="0A7D7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0" name="t300"/>
          <p:cNvSpPr txBox="1"/>
          <p:nvPr/>
        </p:nvSpPr>
        <p:spPr>
          <a:xfrm>
            <a:off x="449999" y="2628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3A5A5C"/>
                </a:solidFill>
                <a:latin typeface="+mj-lt"/>
              </a:rPr>
              <a:t>Tos tubi disfunksiyasi</a:t>
            </a:r>
          </a:p>
        </p:txBody>
      </p:sp>
      <p:sp>
        <p:nvSpPr>
          <p:cNvPr id="301" name="r301"/>
          <p:cNvSpPr>
            <a:spLocks noGrp="1"/>
          </p:cNvSpPr>
          <p:nvPr/>
        </p:nvSpPr>
        <p:spPr>
          <a:xfrm>
            <a:off x="6228000" y="684000"/>
            <a:ext cx="5688000" cy="2700000"/>
          </a:xfrm>
          <a:prstGeom prst="rect">
            <a:avLst/>
          </a:prstGeom>
          <a:solidFill>
            <a:srgbClr val="FFF0F2"/>
          </a:solidFill>
          <a:ln>
            <a:noFill/>
          </a:ln>
        </p:spPr>
        <p:txBody>
          <a:bodyPr/>
          <a:lstStyle/>
          <a:p/>
        </p:txBody>
      </p:sp>
      <p:sp>
        <p:nvSpPr>
          <p:cNvPr id="302" name="t302"/>
          <p:cNvSpPr txBox="1"/>
          <p:nvPr/>
        </p:nvSpPr>
        <p:spPr>
          <a:xfrm>
            <a:off x="6372000" y="792000"/>
            <a:ext cx="5040000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600" b="1" dirty="0" smtClean="0">
                <a:solidFill>
                  <a:srgbClr val="C64363"/>
                </a:solidFill>
                <a:latin typeface="+mj-lt"/>
              </a:rPr>
              <a:t>  QARSHI KO'RSATMALAR</a:t>
            </a:r>
          </a:p>
        </p:txBody>
      </p:sp>
      <p:sp>
        <p:nvSpPr>
          <p:cNvPr id="303" name="r303"/>
          <p:cNvSpPr>
            <a:spLocks noGrp="1"/>
          </p:cNvSpPr>
          <p:nvPr/>
        </p:nvSpPr>
        <p:spPr>
          <a:xfrm>
            <a:off x="6372000" y="1231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t304"/>
          <p:cNvSpPr txBox="1"/>
          <p:nvPr/>
        </p:nvSpPr>
        <p:spPr>
          <a:xfrm>
            <a:off x="6497999" y="1152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Xavfli o'smalar (onkologiya)</a:t>
            </a:r>
          </a:p>
        </p:txBody>
      </p:sp>
      <p:sp>
        <p:nvSpPr>
          <p:cNvPr id="305" name="r305"/>
          <p:cNvSpPr>
            <a:spLocks noGrp="1"/>
          </p:cNvSpPr>
          <p:nvPr/>
        </p:nvSpPr>
        <p:spPr>
          <a:xfrm>
            <a:off x="6372000" y="15264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t306"/>
          <p:cNvSpPr txBox="1"/>
          <p:nvPr/>
        </p:nvSpPr>
        <p:spPr>
          <a:xfrm>
            <a:off x="6497999" y="14472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O'tkir yiringli jarayonlar va isitma</a:t>
            </a:r>
          </a:p>
        </p:txBody>
      </p:sp>
      <p:sp>
        <p:nvSpPr>
          <p:cNvPr id="307" name="r307"/>
          <p:cNvSpPr>
            <a:spLocks noGrp="1"/>
          </p:cNvSpPr>
          <p:nvPr/>
        </p:nvSpPr>
        <p:spPr>
          <a:xfrm>
            <a:off x="6372000" y="18216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t308"/>
          <p:cNvSpPr txBox="1"/>
          <p:nvPr/>
        </p:nvSpPr>
        <p:spPr>
          <a:xfrm>
            <a:off x="6497999" y="17424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Qon ketish va qon kasalliklari</a:t>
            </a:r>
          </a:p>
        </p:txBody>
      </p:sp>
      <p:sp>
        <p:nvSpPr>
          <p:cNvPr id="309" name="r309"/>
          <p:cNvSpPr>
            <a:spLocks noGrp="1"/>
          </p:cNvSpPr>
          <p:nvPr/>
        </p:nvSpPr>
        <p:spPr>
          <a:xfrm>
            <a:off x="6372000" y="21168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t310"/>
          <p:cNvSpPr txBox="1"/>
          <p:nvPr/>
        </p:nvSpPr>
        <p:spPr>
          <a:xfrm>
            <a:off x="6497999" y="20376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Dekompensatsiyalangan og'ir holatlar</a:t>
            </a:r>
          </a:p>
        </p:txBody>
      </p:sp>
      <p:sp>
        <p:nvSpPr>
          <p:cNvPr id="311" name="r311"/>
          <p:cNvSpPr>
            <a:spLocks noGrp="1"/>
          </p:cNvSpPr>
          <p:nvPr/>
        </p:nvSpPr>
        <p:spPr>
          <a:xfrm>
            <a:off x="6372000" y="24120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t312"/>
          <p:cNvSpPr txBox="1"/>
          <p:nvPr/>
        </p:nvSpPr>
        <p:spPr>
          <a:xfrm>
            <a:off x="6497999" y="23328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Yurak-qon tomir yetishmovchiligi (og'ir)</a:t>
            </a:r>
          </a:p>
        </p:txBody>
      </p:sp>
      <p:sp>
        <p:nvSpPr>
          <p:cNvPr id="313" name="r313"/>
          <p:cNvSpPr>
            <a:spLocks noGrp="1"/>
          </p:cNvSpPr>
          <p:nvPr/>
        </p:nvSpPr>
        <p:spPr>
          <a:xfrm>
            <a:off x="6372000" y="2707200"/>
            <a:ext cx="57600" cy="576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t314"/>
          <p:cNvSpPr txBox="1"/>
          <p:nvPr/>
        </p:nvSpPr>
        <p:spPr>
          <a:xfrm>
            <a:off x="6497999" y="2628000"/>
            <a:ext cx="509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0" dirty="0" smtClean="0">
                <a:solidFill>
                  <a:srgbClr val="5A3A40"/>
                </a:solidFill>
                <a:latin typeface="+mj-lt"/>
              </a:rPr>
              <a:t>Fizik omilga individual chidamsizlik</a:t>
            </a:r>
          </a:p>
        </p:txBody>
      </p:sp>
    </p:spTree>
  </p:cSld>
  <p:clrMapOvr>
    <a:masterClr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15" name="r315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t316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10 · INNOVATSION FIZIOTERAPIYA</a:t>
            </a:r>
          </a:p>
        </p:txBody>
      </p:sp>
      <p:sp>
        <p:nvSpPr>
          <p:cNvPr id="317" name="r317"/>
          <p:cNvSpPr>
            <a:spLocks noGrp="1"/>
          </p:cNvSpPr>
          <p:nvPr/>
        </p:nvSpPr>
        <p:spPr>
          <a:xfrm>
            <a:off x="180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18" name="r318"/>
          <p:cNvSpPr>
            <a:spLocks noGrp="1"/>
          </p:cNvSpPr>
          <p:nvPr/>
        </p:nvSpPr>
        <p:spPr>
          <a:xfrm>
            <a:off x="180000" y="720000"/>
            <a:ext cx="3816000" cy="1008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9" name="t319"/>
          <p:cNvSpPr txBox="1"/>
          <p:nvPr/>
        </p:nvSpPr>
        <p:spPr>
          <a:xfrm>
            <a:off x="288000" y="8928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Zarba to'lqinli terapiya</a:t>
            </a:r>
          </a:p>
        </p:txBody>
      </p:sp>
      <p:sp>
        <p:nvSpPr>
          <p:cNvPr id="320" name="t320"/>
          <p:cNvSpPr txBox="1"/>
          <p:nvPr/>
        </p:nvSpPr>
        <p:spPr>
          <a:xfrm>
            <a:off x="288000" y="1188000"/>
            <a:ext cx="36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ED va Peyroni kasalligida angiogenez va to'qima yangilanishi.</a:t>
            </a:r>
          </a:p>
        </p:txBody>
      </p:sp>
      <p:sp>
        <p:nvSpPr>
          <p:cNvPr id="321" name="r321"/>
          <p:cNvSpPr>
            <a:spLocks noGrp="1"/>
          </p:cNvSpPr>
          <p:nvPr/>
        </p:nvSpPr>
        <p:spPr>
          <a:xfrm>
            <a:off x="4176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r322"/>
          <p:cNvSpPr>
            <a:spLocks noGrp="1"/>
          </p:cNvSpPr>
          <p:nvPr/>
        </p:nvSpPr>
        <p:spPr>
          <a:xfrm>
            <a:off x="4176000" y="720000"/>
            <a:ext cx="3816000" cy="100800"/>
          </a:xfrm>
          <a:prstGeom prst="rect">
            <a:avLst/>
          </a:prstGeom>
          <a:solidFill>
            <a:srgbClr val="FF7A93"/>
          </a:solidFill>
          <a:ln>
            <a:noFill/>
          </a:ln>
        </p:spPr>
        <p:txBody>
          <a:bodyPr/>
          <a:lstStyle/>
          <a:p/>
        </p:txBody>
      </p:sp>
      <p:sp>
        <p:nvSpPr>
          <p:cNvPr id="323" name="t323"/>
          <p:cNvSpPr txBox="1"/>
          <p:nvPr/>
        </p:nvSpPr>
        <p:spPr>
          <a:xfrm>
            <a:off x="4284000" y="8928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BFB platformalar</a:t>
            </a:r>
          </a:p>
        </p:txBody>
      </p:sp>
      <p:sp>
        <p:nvSpPr>
          <p:cNvPr id="324" name="t324"/>
          <p:cNvSpPr txBox="1"/>
          <p:nvPr/>
        </p:nvSpPr>
        <p:spPr>
          <a:xfrm>
            <a:off x="4284000" y="1188000"/>
            <a:ext cx="36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Aqlli sensorlar bilan tos tubi mushaklari treningi.</a:t>
            </a:r>
          </a:p>
        </p:txBody>
      </p:sp>
      <p:sp>
        <p:nvSpPr>
          <p:cNvPr id="325" name="r325"/>
          <p:cNvSpPr>
            <a:spLocks noGrp="1"/>
          </p:cNvSpPr>
          <p:nvPr/>
        </p:nvSpPr>
        <p:spPr>
          <a:xfrm>
            <a:off x="8172000" y="720000"/>
            <a:ext cx="3816000" cy="115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26" name="r326"/>
          <p:cNvSpPr>
            <a:spLocks noGrp="1"/>
          </p:cNvSpPr>
          <p:nvPr/>
        </p:nvSpPr>
        <p:spPr>
          <a:xfrm>
            <a:off x="8172000" y="720000"/>
            <a:ext cx="3816000" cy="100800"/>
          </a:xfrm>
          <a:prstGeom prst="rect">
            <a:avLst/>
          </a:prstGeom>
          <a:solidFill>
            <a:srgbClr val="FFCF6B"/>
          </a:solidFill>
          <a:ln>
            <a:noFill/>
          </a:ln>
        </p:spPr>
        <p:txBody>
          <a:bodyPr/>
          <a:lstStyle/>
          <a:p/>
        </p:txBody>
      </p:sp>
      <p:sp>
        <p:nvSpPr>
          <p:cNvPr id="327" name="t327"/>
          <p:cNvSpPr txBox="1"/>
          <p:nvPr/>
        </p:nvSpPr>
        <p:spPr>
          <a:xfrm>
            <a:off x="8280000" y="892800"/>
            <a:ext cx="3600000" cy="30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300" b="1" dirty="0" smtClean="0">
                <a:solidFill>
                  <a:srgbClr val="06262A"/>
                </a:solidFill>
                <a:latin typeface="+mj-lt"/>
              </a:rPr>
              <a:t>Teletibbiyot + fizioterapiya</a:t>
            </a:r>
          </a:p>
        </p:txBody>
      </p:sp>
      <p:sp>
        <p:nvSpPr>
          <p:cNvPr id="328" name="t328"/>
          <p:cNvSpPr txBox="1"/>
          <p:nvPr/>
        </p:nvSpPr>
        <p:spPr>
          <a:xfrm>
            <a:off x="8280000" y="1188000"/>
            <a:ext cx="3600000" cy="64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Masofadan reabilitatsiya nazorati va dasturlar.</a:t>
            </a:r>
          </a:p>
        </p:txBody>
      </p:sp>
      <p:sp>
        <p:nvSpPr>
          <p:cNvPr id="329" name="r329"/>
          <p:cNvSpPr>
            <a:spLocks noGrp="1"/>
          </p:cNvSpPr>
          <p:nvPr/>
        </p:nvSpPr>
        <p:spPr>
          <a:xfrm>
            <a:off x="180000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330" name="t330"/>
          <p:cNvSpPr txBox="1"/>
          <p:nvPr/>
        </p:nvSpPr>
        <p:spPr>
          <a:xfrm>
            <a:off x="252000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+mj-lt"/>
              </a:rPr>
              <a:t>40%</a:t>
            </a:r>
          </a:p>
        </p:txBody>
      </p:sp>
      <p:sp>
        <p:nvSpPr>
          <p:cNvPr id="331" name="t331"/>
          <p:cNvSpPr txBox="1"/>
          <p:nvPr/>
        </p:nvSpPr>
        <p:spPr>
          <a:xfrm>
            <a:off x="252000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Surunkali og'riq kamayishi</a:t>
            </a:r>
          </a:p>
        </p:txBody>
      </p:sp>
      <p:sp>
        <p:nvSpPr>
          <p:cNvPr id="332" name="r332"/>
          <p:cNvSpPr>
            <a:spLocks noGrp="1"/>
          </p:cNvSpPr>
          <p:nvPr/>
        </p:nvSpPr>
        <p:spPr>
          <a:xfrm>
            <a:off x="4199999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333" name="t333"/>
          <p:cNvSpPr txBox="1"/>
          <p:nvPr/>
        </p:nvSpPr>
        <p:spPr>
          <a:xfrm>
            <a:off x="4271999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+mj-lt"/>
              </a:rPr>
              <a:t>2x</a:t>
            </a:r>
          </a:p>
        </p:txBody>
      </p:sp>
      <p:sp>
        <p:nvSpPr>
          <p:cNvPr id="334" name="t334"/>
          <p:cNvSpPr txBox="1"/>
          <p:nvPr/>
        </p:nvSpPr>
        <p:spPr>
          <a:xfrm>
            <a:off x="4271999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Reabilitatsiya tezligi</a:t>
            </a:r>
          </a:p>
        </p:txBody>
      </p:sp>
      <p:sp>
        <p:nvSpPr>
          <p:cNvPr id="335" name="r335"/>
          <p:cNvSpPr>
            <a:spLocks noGrp="1"/>
          </p:cNvSpPr>
          <p:nvPr/>
        </p:nvSpPr>
        <p:spPr>
          <a:xfrm>
            <a:off x="8219998" y="1980000"/>
            <a:ext cx="3911999" cy="792000"/>
          </a:xfrm>
          <a:prstGeom prst="rect">
            <a:avLst/>
          </a:prstGeom>
          <a:solidFill>
            <a:srgbClr val="E9FBF7"/>
          </a:solidFill>
          <a:ln>
            <a:noFill/>
          </a:ln>
        </p:spPr>
        <p:txBody>
          <a:bodyPr/>
          <a:lstStyle/>
          <a:p/>
        </p:txBody>
      </p:sp>
      <p:sp>
        <p:nvSpPr>
          <p:cNvPr id="336" name="t336"/>
          <p:cNvSpPr txBox="1"/>
          <p:nvPr/>
        </p:nvSpPr>
        <p:spPr>
          <a:xfrm>
            <a:off x="8291998" y="2052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2200" b="1" dirty="0" smtClean="0">
                <a:solidFill>
                  <a:srgbClr val="13B3A6"/>
                </a:solidFill>
                <a:latin typeface="+mj-lt"/>
              </a:rPr>
              <a:t>90%+</a:t>
            </a:r>
          </a:p>
        </p:txBody>
      </p:sp>
      <p:sp>
        <p:nvSpPr>
          <p:cNvPr id="337" name="t337"/>
          <p:cNvSpPr txBox="1"/>
          <p:nvPr/>
        </p:nvSpPr>
        <p:spPr>
          <a:xfrm>
            <a:off x="8291998" y="2376000"/>
            <a:ext cx="3767999" cy="324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200" b="0" dirty="0" smtClean="0">
                <a:solidFill>
                  <a:srgbClr val="5E7D80"/>
                </a:solidFill>
                <a:latin typeface="+mj-lt"/>
              </a:rPr>
              <a:t>Bemorlar qoniqishi</a:t>
            </a:r>
          </a:p>
        </p:txBody>
      </p:sp>
    </p:spTree>
  </p:cSld>
  <p:clrMapOvr>
    <a:masterClr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3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38" name="r338"/>
          <p:cNvSpPr>
            <a:spLocks noGrp="1"/>
          </p:cNvSpPr>
          <p:nvPr/>
        </p:nvSpPr>
        <p:spPr>
          <a:xfrm>
            <a:off x="0" y="0"/>
            <a:ext cx="12192119" cy="576000"/>
          </a:xfrm>
          <a:prstGeom prst="rect">
            <a:avLst/>
          </a:prstGeom>
          <a:solidFill>
            <a:srgbClr val="0A5C5E"/>
          </a:solidFill>
          <a:ln>
            <a:noFill/>
          </a:ln>
        </p:spPr>
        <p:txBody>
          <a:bodyPr/>
          <a:lstStyle/>
          <a:p/>
        </p:txBody>
      </p:sp>
      <p:sp>
        <p:nvSpPr>
          <p:cNvPr id="339" name="t339"/>
          <p:cNvSpPr txBox="1"/>
          <p:nvPr/>
        </p:nvSpPr>
        <p:spPr>
          <a:xfrm>
            <a:off x="216000" y="108000"/>
            <a:ext cx="10800000" cy="396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2000" b="1" dirty="0" smtClean="0">
                <a:solidFill>
                  <a:srgbClr val="FFFFFF"/>
                </a:solidFill>
                <a:latin typeface="+mj-lt"/>
              </a:rPr>
              <a:t>ASOSIY XULOSALAR</a:t>
            </a:r>
          </a:p>
        </p:txBody>
      </p:sp>
      <p:sp>
        <p:nvSpPr>
          <p:cNvPr id="340" name="r340"/>
          <p:cNvSpPr>
            <a:spLocks noGrp="1"/>
          </p:cNvSpPr>
          <p:nvPr/>
        </p:nvSpPr>
        <p:spPr>
          <a:xfrm>
            <a:off x="360000" y="8712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t341"/>
          <p:cNvSpPr txBox="1"/>
          <p:nvPr/>
        </p:nvSpPr>
        <p:spPr>
          <a:xfrm>
            <a:off x="485999" y="7920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+mj-lt"/>
              </a:rPr>
              <a:t>Fizioterapiya — akusherlik-ginekologiya va urologik-andrologiyada kompleks davolashning samarali bo'g'ini.</a:t>
            </a:r>
          </a:p>
        </p:txBody>
      </p:sp>
      <p:sp>
        <p:nvSpPr>
          <p:cNvPr id="342" name="r342"/>
          <p:cNvSpPr>
            <a:spLocks noGrp="1"/>
          </p:cNvSpPr>
          <p:nvPr/>
        </p:nvSpPr>
        <p:spPr>
          <a:xfrm>
            <a:off x="360000" y="11664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3" name="t343"/>
          <p:cNvSpPr txBox="1"/>
          <p:nvPr/>
        </p:nvSpPr>
        <p:spPr>
          <a:xfrm>
            <a:off x="485999" y="10872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+mj-lt"/>
              </a:rPr>
              <a:t>Dorisiz, og'riqsiz va kam nojo'ya ta'sirli bo'lib, dorilar samarasini kuchaytiradi.</a:t>
            </a:r>
          </a:p>
        </p:txBody>
      </p:sp>
      <p:sp>
        <p:nvSpPr>
          <p:cNvPr id="344" name="r344"/>
          <p:cNvSpPr>
            <a:spLocks noGrp="1"/>
          </p:cNvSpPr>
          <p:nvPr/>
        </p:nvSpPr>
        <p:spPr>
          <a:xfrm>
            <a:off x="360000" y="14616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5" name="t345"/>
          <p:cNvSpPr txBox="1"/>
          <p:nvPr/>
        </p:nvSpPr>
        <p:spPr>
          <a:xfrm>
            <a:off x="485999" y="13824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+mj-lt"/>
              </a:rPr>
              <a:t>Tos tubi reabilitatsiyasi va zamonaviy usullar hayot sifatini sezilarli oshiradi.</a:t>
            </a:r>
          </a:p>
        </p:txBody>
      </p:sp>
      <p:sp>
        <p:nvSpPr>
          <p:cNvPr id="346" name="r346"/>
          <p:cNvSpPr>
            <a:spLocks noGrp="1"/>
          </p:cNvSpPr>
          <p:nvPr/>
        </p:nvSpPr>
        <p:spPr>
          <a:xfrm>
            <a:off x="360000" y="1756800"/>
            <a:ext cx="57600" cy="57600"/>
          </a:xfrm>
          <a:prstGeom prst="rect">
            <a:avLst/>
          </a:prstGeom>
          <a:solidFill>
            <a:srgbClr val="13B3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7" name="t347"/>
          <p:cNvSpPr txBox="1"/>
          <p:nvPr/>
        </p:nvSpPr>
        <p:spPr>
          <a:xfrm>
            <a:off x="485999" y="1677600"/>
            <a:ext cx="11034001" cy="27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 indent="0" marL="0"/>
            <a:r>
              <a:rPr lang="uz-UZ" sz="1500" b="0" dirty="0" smtClean="0">
                <a:solidFill>
                  <a:srgbClr val="06262A"/>
                </a:solidFill>
                <a:latin typeface="+mj-lt"/>
              </a:rPr>
              <a:t>Har bir holatda ko'rsatma va qarshi ko'rsatmalarni qat'iy hisobga olish shart.</a:t>
            </a:r>
          </a:p>
        </p:txBody>
      </p:sp>
    </p:spTree>
  </p:cSld>
  <p:clrMapOvr>
    <a:masterClr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63B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119" cy="6858000"/>
          <a:chOff x="0" y="0"/>
          <a:chExt cx="12192119" cy="6858000"/>
        </a:xfrm>
      </p:grpSpPr>
      <p:sp>
        <p:nvSpPr>
          <p:cNvPr id="348" name="r348"/>
          <p:cNvSpPr>
            <a:spLocks noGrp="1"/>
          </p:cNvSpPr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63B4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9" name="t349"/>
          <p:cNvSpPr txBox="1"/>
          <p:nvPr/>
        </p:nvSpPr>
        <p:spPr>
          <a:xfrm>
            <a:off x="0" y="1080000"/>
            <a:ext cx="12192119" cy="720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3600" b="1" dirty="0" smtClean="0">
                <a:solidFill>
                  <a:srgbClr val="FFFFFF"/>
                </a:solidFill>
                <a:latin typeface="+mj-lt"/>
              </a:rPr>
              <a:t>E'tiboringiz uchun rahmat!</a:t>
            </a:r>
          </a:p>
        </p:txBody>
      </p:sp>
      <p:sp>
        <p:nvSpPr>
          <p:cNvPr id="350" name="t350"/>
          <p:cNvSpPr txBox="1"/>
          <p:nvPr/>
        </p:nvSpPr>
        <p:spPr>
          <a:xfrm>
            <a:off x="0" y="1980000"/>
            <a:ext cx="12192119" cy="432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800" b="0" dirty="0" smtClean="0">
                <a:solidFill>
                  <a:srgbClr val="1DE0C4"/>
                </a:solidFill>
                <a:latin typeface="+mj-lt"/>
              </a:rPr>
              <a:t>Sog'lom reproduktiv salomatlik — sifatli hayot kaliti.</a:t>
            </a:r>
          </a:p>
        </p:txBody>
      </p:sp>
      <p:sp>
        <p:nvSpPr>
          <p:cNvPr id="351" name="t351"/>
          <p:cNvSpPr txBox="1"/>
          <p:nvPr/>
        </p:nvSpPr>
        <p:spPr>
          <a:xfrm>
            <a:off x="0" y="2700000"/>
            <a:ext cx="12192119" cy="2880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ctr" indent="0" marL="0"/>
            <a:r>
              <a:rPr lang="uz-UZ" sz="1400" b="0" dirty="0" smtClean="0">
                <a:solidFill>
                  <a:srgbClr val="13B3A6"/>
                </a:solidFill>
                <a:latin typeface="+mj-lt"/>
              </a:rPr>
              <a:t>PhysioMed  ·  2026</a:t>
            </a:r>
          </a:p>
        </p:txBody>
      </p:sp>
    </p:spTree>
  </p:cSld>
  <p:clrMapOvr>
    <a:masterClr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100000">
              <a:schemeClr val="phClr">
                <a:tint val="98000"/>
                <a:lumMod val="103000"/>
                <a:satMod val="120000"/>
                <a:shade val="94000"/>
              </a:schemeClr>
            </a:gs>
          </a:gsLst>
          <a:lin ang="16200000" scaled="0"/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>
  <dc:title>Akusherlik-ginekologiya va urologik-andrologik amaliyotda fizioterapiya</dc:title>
  <dc:creator>Kiro AI</dc:creator>
</cp:coreProperties>
</file>