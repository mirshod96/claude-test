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 autoCompressPictures="0">
  <p:sldMasterIdLst>
    <p:sldMasterId id="2147483648" r:id="rId1"/>
  </p:sldMasterIdLst>
  <p:sldSz cx="12192119" cy="6858000" type="custom"/>
  <p:notesSz cx="12192119" cy="6858000"/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slide" Target="slides/slide9.xml"/>
  <Relationship Id="rId12" Type="http://schemas.openxmlformats.org/officeDocument/2006/relationships/slide" Target="slides/slide10.xml"/>
  <Relationship Id="rId13" Type="http://schemas.openxmlformats.org/officeDocument/2006/relationships/slide" Target="slides/slide11.xml"/>
  <Relationship Id="rId14" Type="http://schemas.openxmlformats.org/officeDocument/2006/relationships/slide" Target="slides/slide12.xml"/>
  <Relationship Id="rId15" Type="http://schemas.openxmlformats.org/officeDocument/2006/relationships/slide" Target="slides/slide13.xml"/>
  <Relationship Id="rId16" Type="http://schemas.openxmlformats.org/officeDocument/2006/relationships/slide" Target="slides/slide14.xml"/>
  <Relationship Id="rId17" Type="http://schemas.openxmlformats.org/officeDocument/2006/relationships/slide" Target="slides/slide15.xml"/>
  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</p:spTree>
  </p:cSld>
  <p:clrMapOvr>
    <a:masterClr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stStyle/>
    </p:titleStyle>
    <p:bodyStyle>
      <a:lstStyle/>
    </p:bodyStyle>
    <p:otherStyle>
      <a:lstStyle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70713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>
            <a:spLocks noGrp="1"/>
          </p:cNvSpPr>
          <p:nvPr/>
        </p:nvSpPr>
        <p:spPr>
          <a:xfrm>
            <a:off x="0" y="0"/>
            <a:ext cx="12192119" cy="162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0" y="6696000"/>
            <a:ext cx="12192119" cy="162000"/>
          </a:xfrm>
          <a:prstGeom prst="rect">
            <a:avLst/>
          </a:prstGeom>
          <a:solidFill>
            <a:srgbClr val="1CB3CC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5"/>
          <p:cNvSpPr txBox="1"/>
          <p:nvPr/>
        </p:nvSpPr>
        <p:spPr>
          <a:xfrm>
            <a:off x="216000" y="251999"/>
            <a:ext cx="936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100" b="1" dirty="0" smtClean="0">
                <a:solidFill>
                  <a:srgbClr val="22E6FF"/>
                </a:solidFill>
                <a:latin typeface="Calibri"/>
              </a:rPr>
              <a:t>RAQAMLI SOG'LIQNI SAQLASH  ·  DIGITAL HEALTH  ·  2026</a:t>
            </a:r>
          </a:p>
        </p:txBody>
      </p:sp>
      <p:sp>
        <p:nvSpPr>
          <p:cNvPr id="6" name="t6"/>
          <p:cNvSpPr txBox="1"/>
          <p:nvPr/>
        </p:nvSpPr>
        <p:spPr>
          <a:xfrm>
            <a:off x="216000" y="720000"/>
            <a:ext cx="10800000" cy="16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500" b="1" dirty="0" smtClean="0">
                <a:solidFill>
                  <a:srgbClr val="FFFFFF"/>
                </a:solidFill>
                <a:latin typeface="Calibri"/>
              </a:rPr>
              <a:t>VR/AR, sun'iy intellekt (AI) va</a:t>
            </a:r>
          </a:p>
          <a:p>
            <a:pPr algn="l" indent="0" marL="0"/>
            <a:r>
              <a:rPr lang="uz-UZ" sz="2500" b="1" dirty="0" smtClean="0">
                <a:solidFill>
                  <a:srgbClr val="FFFFFF"/>
                </a:solidFill>
                <a:latin typeface="Calibri"/>
              </a:rPr>
              <a:t>telemeditsina-telereabilitatsiya</a:t>
            </a:r>
          </a:p>
          <a:p>
            <a:pPr algn="l" indent="0" marL="0"/>
            <a:r>
              <a:rPr lang="uz-UZ" sz="2500" b="1" dirty="0" smtClean="0">
                <a:solidFill>
                  <a:srgbClr val="22E6FF"/>
                </a:solidFill>
                <a:latin typeface="Calibri"/>
              </a:rPr>
              <a:t>texnologiyalarini klinik amaliyotga</a:t>
            </a:r>
          </a:p>
          <a:p>
            <a:pPr algn="l" indent="0" marL="0"/>
            <a:r>
              <a:rPr lang="uz-UZ" sz="2500" b="1" dirty="0" smtClean="0">
                <a:solidFill>
                  <a:srgbClr val="22E6FF"/>
                </a:solidFill>
                <a:latin typeface="Calibri"/>
              </a:rPr>
              <a:t>joriy etish</a:t>
            </a:r>
          </a:p>
        </p:txBody>
      </p:sp>
      <p:sp>
        <p:nvSpPr>
          <p:cNvPr id="7" name="t7"/>
          <p:cNvSpPr txBox="1"/>
          <p:nvPr/>
        </p:nvSpPr>
        <p:spPr>
          <a:xfrm>
            <a:off x="216000" y="2448000"/>
            <a:ext cx="936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9AA6D6"/>
                </a:solidFill>
                <a:latin typeface="Calibri"/>
              </a:rPr>
              <a:t>Zamonaviy raqamli texnologiyalar tashxis, davolash va</a:t>
            </a:r>
          </a:p>
          <a:p>
            <a:pPr algn="l" indent="0" marL="0"/>
            <a:r>
              <a:rPr lang="uz-UZ" sz="1400" b="0" dirty="0" smtClean="0">
                <a:solidFill>
                  <a:srgbClr val="9AA6D6"/>
                </a:solidFill>
                <a:latin typeface="Calibri"/>
              </a:rPr>
              <a:t>reabilitatsiyani qanday o'zgartirmoqda — imkoniyatlar va istiqbollar.</a:t>
            </a:r>
          </a:p>
        </p:txBody>
      </p:sp>
      <p:sp>
        <p:nvSpPr>
          <p:cNvPr id="8" name="t8"/>
          <p:cNvSpPr txBox="1"/>
          <p:nvPr/>
        </p:nvSpPr>
        <p:spPr>
          <a:xfrm>
            <a:off x="216000" y="3024000"/>
            <a:ext cx="792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MedTech  ·  2026  ·  15 slayd</a:t>
            </a:r>
          </a:p>
        </p:txBody>
      </p:sp>
    </p:spTree>
  </p:cSld>
  <p:clrMapOvr>
    <a:masterClr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TAQDIMOT REJASI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216000" y="7992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5"/>
          <p:cNvSpPr txBox="1"/>
          <p:nvPr/>
        </p:nvSpPr>
        <p:spPr>
          <a:xfrm>
            <a:off x="341999" y="720000"/>
            <a:ext cx="527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Calibri"/>
              </a:rPr>
              <a:t>01 – Raqamli tibbiyot inqilobi</a:t>
            </a:r>
          </a:p>
        </p:txBody>
      </p:sp>
      <p:sp>
        <p:nvSpPr>
          <p:cNvPr id="6" name="r6"/>
          <p:cNvSpPr>
            <a:spLocks noGrp="1"/>
          </p:cNvSpPr>
          <p:nvPr/>
        </p:nvSpPr>
        <p:spPr>
          <a:xfrm>
            <a:off x="216000" y="11016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7"/>
          <p:cNvSpPr txBox="1"/>
          <p:nvPr/>
        </p:nvSpPr>
        <p:spPr>
          <a:xfrm>
            <a:off x="341999" y="1022400"/>
            <a:ext cx="527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Calibri"/>
              </a:rPr>
              <a:t>02 – VR/AR: tushuncha va texnologiya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216000" y="14040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9"/>
          <p:cNvSpPr txBox="1"/>
          <p:nvPr/>
        </p:nvSpPr>
        <p:spPr>
          <a:xfrm>
            <a:off x="341999" y="1324800"/>
            <a:ext cx="527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Calibri"/>
              </a:rPr>
              <a:t>03 – VR/AR klinik amaliyotda</a:t>
            </a:r>
          </a:p>
        </p:txBody>
      </p:sp>
      <p:sp>
        <p:nvSpPr>
          <p:cNvPr id="10" name="r10"/>
          <p:cNvSpPr>
            <a:spLocks noGrp="1"/>
          </p:cNvSpPr>
          <p:nvPr/>
        </p:nvSpPr>
        <p:spPr>
          <a:xfrm>
            <a:off x="216000" y="17064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11"/>
          <p:cNvSpPr txBox="1"/>
          <p:nvPr/>
        </p:nvSpPr>
        <p:spPr>
          <a:xfrm>
            <a:off x="341999" y="1627200"/>
            <a:ext cx="527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Calibri"/>
              </a:rPr>
              <a:t>04 – Sun'iy intellekt (AI) asoslari</a:t>
            </a:r>
          </a:p>
        </p:txBody>
      </p:sp>
      <p:sp>
        <p:nvSpPr>
          <p:cNvPr id="12" name="r12"/>
          <p:cNvSpPr>
            <a:spLocks noGrp="1"/>
          </p:cNvSpPr>
          <p:nvPr/>
        </p:nvSpPr>
        <p:spPr>
          <a:xfrm>
            <a:off x="6120000" y="799200"/>
            <a:ext cx="57600" cy="576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13"/>
          <p:cNvSpPr txBox="1"/>
          <p:nvPr/>
        </p:nvSpPr>
        <p:spPr>
          <a:xfrm>
            <a:off x="6245999" y="720000"/>
            <a:ext cx="56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Calibri"/>
              </a:rPr>
              <a:t>05 – AI tashxis va davolashda</a:t>
            </a:r>
          </a:p>
        </p:txBody>
      </p:sp>
      <p:sp>
        <p:nvSpPr>
          <p:cNvPr id="14" name="r14"/>
          <p:cNvSpPr>
            <a:spLocks noGrp="1"/>
          </p:cNvSpPr>
          <p:nvPr/>
        </p:nvSpPr>
        <p:spPr>
          <a:xfrm>
            <a:off x="6120000" y="1101600"/>
            <a:ext cx="57600" cy="576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15"/>
          <p:cNvSpPr txBox="1"/>
          <p:nvPr/>
        </p:nvSpPr>
        <p:spPr>
          <a:xfrm>
            <a:off x="6245999" y="1022400"/>
            <a:ext cx="56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Calibri"/>
              </a:rPr>
              <a:t>06 – Telemeditsina imkoniyatlari</a:t>
            </a:r>
          </a:p>
        </p:txBody>
      </p:sp>
      <p:sp>
        <p:nvSpPr>
          <p:cNvPr id="16" name="r16"/>
          <p:cNvSpPr>
            <a:spLocks noGrp="1"/>
          </p:cNvSpPr>
          <p:nvPr/>
        </p:nvSpPr>
        <p:spPr>
          <a:xfrm>
            <a:off x="6120000" y="1404000"/>
            <a:ext cx="57600" cy="576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17"/>
          <p:cNvSpPr txBox="1"/>
          <p:nvPr/>
        </p:nvSpPr>
        <p:spPr>
          <a:xfrm>
            <a:off x="6245999" y="1324800"/>
            <a:ext cx="56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Calibri"/>
              </a:rPr>
              <a:t>07 – Telereabilitatsiya</a:t>
            </a:r>
          </a:p>
        </p:txBody>
      </p:sp>
      <p:sp>
        <p:nvSpPr>
          <p:cNvPr id="18" name="r18"/>
          <p:cNvSpPr>
            <a:spLocks noGrp="1"/>
          </p:cNvSpPr>
          <p:nvPr/>
        </p:nvSpPr>
        <p:spPr>
          <a:xfrm>
            <a:off x="6120000" y="1706400"/>
            <a:ext cx="57600" cy="576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19"/>
          <p:cNvSpPr txBox="1"/>
          <p:nvPr/>
        </p:nvSpPr>
        <p:spPr>
          <a:xfrm>
            <a:off x="6245999" y="1627200"/>
            <a:ext cx="56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Calibri"/>
              </a:rPr>
              <a:t>08 – Afzalliklar, chaqiriqlar, istiqbol</a:t>
            </a:r>
          </a:p>
        </p:txBody>
      </p:sp>
    </p:spTree>
  </p:cSld>
  <p:clrMapOvr>
    <a:masterClr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01 · RAQAMLI TIBBIYOT INQILOBI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180000" y="720000"/>
            <a:ext cx="79200" cy="21600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5"/>
          <p:cNvSpPr txBox="1"/>
          <p:nvPr/>
        </p:nvSpPr>
        <p:spPr>
          <a:xfrm>
            <a:off x="396000" y="720000"/>
            <a:ext cx="558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Calibri"/>
              </a:rPr>
              <a:t>Tibbiyot an'anaviy modeldan ma'lumotlarga asoslangan,</a:t>
            </a:r>
          </a:p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Calibri"/>
              </a:rPr>
              <a:t>bemorga yo'naltirilgan va masofadan boshqariladigan</a:t>
            </a:r>
          </a:p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Calibri"/>
              </a:rPr>
              <a:t>tizimga o'tmoqda. VR/AR, AI va telemeditsina — uch ustun.</a:t>
            </a:r>
          </a:p>
        </p:txBody>
      </p:sp>
      <p:sp>
        <p:nvSpPr>
          <p:cNvPr id="6" name="t6"/>
          <p:cNvSpPr txBox="1"/>
          <p:nvPr/>
        </p:nvSpPr>
        <p:spPr>
          <a:xfrm>
            <a:off x="396000" y="1728000"/>
            <a:ext cx="54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22E6FF"/>
                </a:solidFill>
                <a:latin typeface="Calibri"/>
              </a:rPr>
              <a:t>Aniqlik  ·  Profilaktika  ·  Masofaviy g'amxo'rlik</a:t>
            </a:r>
          </a:p>
        </p:txBody>
      </p:sp>
      <p:sp>
        <p:nvSpPr>
          <p:cNvPr id="7" name="r7"/>
          <p:cNvSpPr>
            <a:spLocks noGrp="1"/>
          </p:cNvSpPr>
          <p:nvPr/>
        </p:nvSpPr>
        <p:spPr>
          <a:xfrm>
            <a:off x="6480000" y="648000"/>
            <a:ext cx="5472000" cy="252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8"/>
          <p:cNvSpPr txBox="1"/>
          <p:nvPr/>
        </p:nvSpPr>
        <p:spPr>
          <a:xfrm>
            <a:off x="6623999" y="827999"/>
            <a:ext cx="5184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FFFFFF"/>
                </a:solidFill>
                <a:latin typeface="Calibri"/>
              </a:rPr>
              <a:t>Nega aynan hozir?</a:t>
            </a:r>
          </a:p>
        </p:txBody>
      </p:sp>
      <p:sp>
        <p:nvSpPr>
          <p:cNvPr id="9" name="r9"/>
          <p:cNvSpPr>
            <a:spLocks noGrp="1"/>
          </p:cNvSpPr>
          <p:nvPr/>
        </p:nvSpPr>
        <p:spPr>
          <a:xfrm>
            <a:off x="6623999" y="13392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10"/>
          <p:cNvSpPr txBox="1"/>
          <p:nvPr/>
        </p:nvSpPr>
        <p:spPr>
          <a:xfrm>
            <a:off x="6749998" y="12600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Hisoblash quvvati va bulutli xizmatlar</a:t>
            </a:r>
          </a:p>
        </p:txBody>
      </p:sp>
      <p:sp>
        <p:nvSpPr>
          <p:cNvPr id="11" name="r11"/>
          <p:cNvSpPr>
            <a:spLocks noGrp="1"/>
          </p:cNvSpPr>
          <p:nvPr/>
        </p:nvSpPr>
        <p:spPr>
          <a:xfrm>
            <a:off x="6623999" y="16416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12"/>
          <p:cNvSpPr txBox="1"/>
          <p:nvPr/>
        </p:nvSpPr>
        <p:spPr>
          <a:xfrm>
            <a:off x="6749998" y="15624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Katta tibbiy ma'lumotlar (Big Data)</a:t>
            </a:r>
          </a:p>
        </p:txBody>
      </p:sp>
      <p:sp>
        <p:nvSpPr>
          <p:cNvPr id="13" name="r13"/>
          <p:cNvSpPr>
            <a:spLocks noGrp="1"/>
          </p:cNvSpPr>
          <p:nvPr/>
        </p:nvSpPr>
        <p:spPr>
          <a:xfrm>
            <a:off x="6623999" y="19440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14"/>
          <p:cNvSpPr txBox="1"/>
          <p:nvPr/>
        </p:nvSpPr>
        <p:spPr>
          <a:xfrm>
            <a:off x="6749998" y="18648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5G va kiyiladigan qurilmalar</a:t>
            </a:r>
          </a:p>
        </p:txBody>
      </p:sp>
      <p:sp>
        <p:nvSpPr>
          <p:cNvPr id="15" name="r15"/>
          <p:cNvSpPr>
            <a:spLocks noGrp="1"/>
          </p:cNvSpPr>
          <p:nvPr/>
        </p:nvSpPr>
        <p:spPr>
          <a:xfrm>
            <a:off x="6623999" y="22464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16"/>
          <p:cNvSpPr txBox="1"/>
          <p:nvPr/>
        </p:nvSpPr>
        <p:spPr>
          <a:xfrm>
            <a:off x="6749998" y="21672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Pandemiyadan keyingi raqamli talab</a:t>
            </a:r>
          </a:p>
        </p:txBody>
      </p:sp>
    </p:spTree>
  </p:cSld>
  <p:clrMapOvr>
    <a:masterClr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02 · VIRTUAL VA KENGAYTIRILGAN REALLIK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180000" y="720000"/>
            <a:ext cx="3780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r5"/>
          <p:cNvSpPr>
            <a:spLocks noGrp="1"/>
          </p:cNvSpPr>
          <p:nvPr/>
        </p:nvSpPr>
        <p:spPr>
          <a:xfrm>
            <a:off x="180000" y="720000"/>
            <a:ext cx="3780000" cy="90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6"/>
          <p:cNvSpPr txBox="1"/>
          <p:nvPr/>
        </p:nvSpPr>
        <p:spPr>
          <a:xfrm>
            <a:off x="288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Calibri"/>
              </a:rPr>
              <a:t>VR — Virtual reallik</a:t>
            </a:r>
          </a:p>
        </p:txBody>
      </p:sp>
      <p:sp>
        <p:nvSpPr>
          <p:cNvPr id="7" name="t7"/>
          <p:cNvSpPr txBox="1"/>
          <p:nvPr/>
        </p:nvSpPr>
        <p:spPr>
          <a:xfrm>
            <a:off x="288000" y="1206000"/>
            <a:ext cx="36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Foydalanuvchini to'liq raqamli muhitga botiradi. Trening uchun ideal.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4176000" y="720000"/>
            <a:ext cx="3780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9"/>
          <p:cNvSpPr>
            <a:spLocks noGrp="1"/>
          </p:cNvSpPr>
          <p:nvPr/>
        </p:nvSpPr>
        <p:spPr>
          <a:xfrm>
            <a:off x="4176000" y="720000"/>
            <a:ext cx="3780000" cy="900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10"/>
          <p:cNvSpPr txBox="1"/>
          <p:nvPr/>
        </p:nvSpPr>
        <p:spPr>
          <a:xfrm>
            <a:off x="4284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Calibri"/>
              </a:rPr>
              <a:t>AR — Kengaytirilgan reallik</a:t>
            </a:r>
          </a:p>
        </p:txBody>
      </p:sp>
      <p:sp>
        <p:nvSpPr>
          <p:cNvPr id="11" name="t11"/>
          <p:cNvSpPr txBox="1"/>
          <p:nvPr/>
        </p:nvSpPr>
        <p:spPr>
          <a:xfrm>
            <a:off x="4284000" y="1206000"/>
            <a:ext cx="36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Real dunyo ustiga raqamli ma'lumot qo'shadi — operatsiyada.</a:t>
            </a:r>
          </a:p>
        </p:txBody>
      </p:sp>
      <p:sp>
        <p:nvSpPr>
          <p:cNvPr id="12" name="r12"/>
          <p:cNvSpPr>
            <a:spLocks noGrp="1"/>
          </p:cNvSpPr>
          <p:nvPr/>
        </p:nvSpPr>
        <p:spPr>
          <a:xfrm>
            <a:off x="8172000" y="720000"/>
            <a:ext cx="3780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r13"/>
          <p:cNvSpPr>
            <a:spLocks noGrp="1"/>
          </p:cNvSpPr>
          <p:nvPr/>
        </p:nvSpPr>
        <p:spPr>
          <a:xfrm>
            <a:off x="8172000" y="720000"/>
            <a:ext cx="3780000" cy="900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14"/>
          <p:cNvSpPr txBox="1"/>
          <p:nvPr/>
        </p:nvSpPr>
        <p:spPr>
          <a:xfrm>
            <a:off x="8280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Calibri"/>
              </a:rPr>
              <a:t>MR — Aralash reallik</a:t>
            </a:r>
          </a:p>
        </p:txBody>
      </p:sp>
      <p:sp>
        <p:nvSpPr>
          <p:cNvPr id="15" name="t15"/>
          <p:cNvSpPr txBox="1"/>
          <p:nvPr/>
        </p:nvSpPr>
        <p:spPr>
          <a:xfrm>
            <a:off x="8280000" y="1206000"/>
            <a:ext cx="36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VR va AR sintezi: virtual ob'ektlar real muhit bilan ta'sirlashadi.</a:t>
            </a:r>
          </a:p>
        </p:txBody>
      </p:sp>
      <p:sp>
        <p:nvSpPr>
          <p:cNvPr id="16" name="r16"/>
          <p:cNvSpPr>
            <a:spLocks noGrp="1"/>
          </p:cNvSpPr>
          <p:nvPr/>
        </p:nvSpPr>
        <p:spPr>
          <a:xfrm>
            <a:off x="180000" y="1980000"/>
            <a:ext cx="3911999" cy="79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17"/>
          <p:cNvSpPr txBox="1"/>
          <p:nvPr/>
        </p:nvSpPr>
        <p:spPr>
          <a:xfrm>
            <a:off x="252000" y="2052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000" b="1" dirty="0" smtClean="0">
                <a:solidFill>
                  <a:srgbClr val="22E6FF"/>
                </a:solidFill>
                <a:latin typeface="Calibri"/>
              </a:rPr>
              <a:t>3D</a:t>
            </a:r>
          </a:p>
        </p:txBody>
      </p:sp>
      <p:sp>
        <p:nvSpPr>
          <p:cNvPr id="18" name="t18"/>
          <p:cNvSpPr txBox="1"/>
          <p:nvPr/>
        </p:nvSpPr>
        <p:spPr>
          <a:xfrm>
            <a:off x="252000" y="2376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Anatomiyani hajmli o'rganish</a:t>
            </a:r>
          </a:p>
        </p:txBody>
      </p:sp>
      <p:sp>
        <p:nvSpPr>
          <p:cNvPr id="19" name="r19"/>
          <p:cNvSpPr>
            <a:spLocks noGrp="1"/>
          </p:cNvSpPr>
          <p:nvPr/>
        </p:nvSpPr>
        <p:spPr>
          <a:xfrm>
            <a:off x="4199999" y="1980000"/>
            <a:ext cx="3911999" cy="79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t20"/>
          <p:cNvSpPr txBox="1"/>
          <p:nvPr/>
        </p:nvSpPr>
        <p:spPr>
          <a:xfrm>
            <a:off x="4271999" y="2052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000" b="1" dirty="0" smtClean="0">
                <a:solidFill>
                  <a:srgbClr val="22E6FF"/>
                </a:solidFill>
                <a:latin typeface="Calibri"/>
              </a:rPr>
              <a:t>80%</a:t>
            </a:r>
          </a:p>
        </p:txBody>
      </p:sp>
      <p:sp>
        <p:nvSpPr>
          <p:cNvPr id="21" name="t21"/>
          <p:cNvSpPr txBox="1"/>
          <p:nvPr/>
        </p:nvSpPr>
        <p:spPr>
          <a:xfrm>
            <a:off x="4271999" y="2376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Bilimni eslab qolish</a:t>
            </a:r>
          </a:p>
        </p:txBody>
      </p:sp>
      <p:sp>
        <p:nvSpPr>
          <p:cNvPr id="22" name="r22"/>
          <p:cNvSpPr>
            <a:spLocks noGrp="1"/>
          </p:cNvSpPr>
          <p:nvPr/>
        </p:nvSpPr>
        <p:spPr>
          <a:xfrm>
            <a:off x="8219998" y="1980000"/>
            <a:ext cx="3911999" cy="79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23"/>
          <p:cNvSpPr txBox="1"/>
          <p:nvPr/>
        </p:nvSpPr>
        <p:spPr>
          <a:xfrm>
            <a:off x="8291998" y="2052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000" b="1" dirty="0" smtClean="0">
                <a:solidFill>
                  <a:srgbClr val="22E6FF"/>
                </a:solidFill>
                <a:latin typeface="Calibri"/>
              </a:rPr>
              <a:t>0 risk</a:t>
            </a:r>
          </a:p>
        </p:txBody>
      </p:sp>
      <p:sp>
        <p:nvSpPr>
          <p:cNvPr id="24" name="t24"/>
          <p:cNvSpPr txBox="1"/>
          <p:nvPr/>
        </p:nvSpPr>
        <p:spPr>
          <a:xfrm>
            <a:off x="8291998" y="2376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Bemorsiz xavfsiz mashq</a:t>
            </a:r>
          </a:p>
        </p:txBody>
      </p:sp>
    </p:spTree>
  </p:cSld>
  <p:clrMapOvr>
    <a:masterClr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03 · VR/AR KLINIK AMALIYOTDA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180000" y="720000"/>
            <a:ext cx="5580000" cy="115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r5"/>
          <p:cNvSpPr>
            <a:spLocks noGrp="1"/>
          </p:cNvSpPr>
          <p:nvPr/>
        </p:nvSpPr>
        <p:spPr>
          <a:xfrm>
            <a:off x="180000" y="720000"/>
            <a:ext cx="5580000" cy="1008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6"/>
          <p:cNvSpPr txBox="1"/>
          <p:nvPr/>
        </p:nvSpPr>
        <p:spPr>
          <a:xfrm>
            <a:off x="288000" y="885600"/>
            <a:ext cx="54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FFFFFF"/>
                </a:solidFill>
                <a:latin typeface="Calibri"/>
              </a:rPr>
              <a:t>Xirurgik trening va rejalashtirish</a:t>
            </a:r>
          </a:p>
        </p:txBody>
      </p:sp>
      <p:sp>
        <p:nvSpPr>
          <p:cNvPr id="7" name="t7"/>
          <p:cNvSpPr txBox="1"/>
          <p:nvPr/>
        </p:nvSpPr>
        <p:spPr>
          <a:xfrm>
            <a:off x="288000" y="1206000"/>
            <a:ext cx="540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9AA6D6"/>
                </a:solidFill>
                <a:latin typeface="Calibri"/>
              </a:rPr>
              <a:t>Murakkab operatsiyalarni avval virtual mashq qilish, 3D rejalashtirish.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6192000" y="720000"/>
            <a:ext cx="5580000" cy="115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9"/>
          <p:cNvSpPr>
            <a:spLocks noGrp="1"/>
          </p:cNvSpPr>
          <p:nvPr/>
        </p:nvSpPr>
        <p:spPr>
          <a:xfrm>
            <a:off x="6192000" y="720000"/>
            <a:ext cx="5580000" cy="1008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10"/>
          <p:cNvSpPr txBox="1"/>
          <p:nvPr/>
        </p:nvSpPr>
        <p:spPr>
          <a:xfrm>
            <a:off x="6300000" y="885600"/>
            <a:ext cx="54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FFFFFF"/>
                </a:solidFill>
                <a:latin typeface="Calibri"/>
              </a:rPr>
              <a:t>AR navigatsiya operatsiyada</a:t>
            </a:r>
          </a:p>
        </p:txBody>
      </p:sp>
      <p:sp>
        <p:nvSpPr>
          <p:cNvPr id="11" name="t11"/>
          <p:cNvSpPr txBox="1"/>
          <p:nvPr/>
        </p:nvSpPr>
        <p:spPr>
          <a:xfrm>
            <a:off x="6300000" y="1206000"/>
            <a:ext cx="540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9AA6D6"/>
                </a:solidFill>
                <a:latin typeface="Calibri"/>
              </a:rPr>
              <a:t>Jarroh ko'rish maydoniga real vaqtda anatomik ma'lumot proyeksiyasi.</a:t>
            </a:r>
          </a:p>
        </p:txBody>
      </p:sp>
      <p:sp>
        <p:nvSpPr>
          <p:cNvPr id="12" name="r12"/>
          <p:cNvSpPr>
            <a:spLocks noGrp="1"/>
          </p:cNvSpPr>
          <p:nvPr/>
        </p:nvSpPr>
        <p:spPr>
          <a:xfrm>
            <a:off x="180000" y="2034000"/>
            <a:ext cx="5580000" cy="115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r13"/>
          <p:cNvSpPr>
            <a:spLocks noGrp="1"/>
          </p:cNvSpPr>
          <p:nvPr/>
        </p:nvSpPr>
        <p:spPr>
          <a:xfrm>
            <a:off x="180000" y="2034000"/>
            <a:ext cx="5580000" cy="1008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14"/>
          <p:cNvSpPr txBox="1"/>
          <p:nvPr/>
        </p:nvSpPr>
        <p:spPr>
          <a:xfrm>
            <a:off x="288000" y="2199600"/>
            <a:ext cx="54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FFFFFF"/>
                </a:solidFill>
                <a:latin typeface="Calibri"/>
              </a:rPr>
              <a:t>Og'riq va fobiyalarni boshqarish</a:t>
            </a:r>
          </a:p>
        </p:txBody>
      </p:sp>
      <p:sp>
        <p:nvSpPr>
          <p:cNvPr id="15" name="t15"/>
          <p:cNvSpPr txBox="1"/>
          <p:nvPr/>
        </p:nvSpPr>
        <p:spPr>
          <a:xfrm>
            <a:off x="288000" y="2520000"/>
            <a:ext cx="540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9AA6D6"/>
                </a:solidFill>
                <a:latin typeface="Calibri"/>
              </a:rPr>
              <a:t>VR-distraksiya og'riqni kamaytiradi, qo'rquv terapiyasida qo'llanadi.</a:t>
            </a:r>
          </a:p>
        </p:txBody>
      </p:sp>
      <p:sp>
        <p:nvSpPr>
          <p:cNvPr id="16" name="r16"/>
          <p:cNvSpPr>
            <a:spLocks noGrp="1"/>
          </p:cNvSpPr>
          <p:nvPr/>
        </p:nvSpPr>
        <p:spPr>
          <a:xfrm>
            <a:off x="6192000" y="2034000"/>
            <a:ext cx="5580000" cy="115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r17"/>
          <p:cNvSpPr>
            <a:spLocks noGrp="1"/>
          </p:cNvSpPr>
          <p:nvPr/>
        </p:nvSpPr>
        <p:spPr>
          <a:xfrm>
            <a:off x="6192000" y="2034000"/>
            <a:ext cx="5580000" cy="1008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18"/>
          <p:cNvSpPr txBox="1"/>
          <p:nvPr/>
        </p:nvSpPr>
        <p:spPr>
          <a:xfrm>
            <a:off x="6300000" y="2199600"/>
            <a:ext cx="54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FFFFFF"/>
                </a:solidFill>
                <a:latin typeface="Calibri"/>
              </a:rPr>
              <a:t>Reabilitatsiya va ta'lim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6300000" y="2520000"/>
            <a:ext cx="540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9AA6D6"/>
                </a:solidFill>
                <a:latin typeface="Calibri"/>
              </a:rPr>
              <a:t>Insultdan keyingi tiklanish uchun o'yinlashtirilgan mashqlar.</a:t>
            </a:r>
          </a:p>
        </p:txBody>
      </p:sp>
    </p:spTree>
  </p:cSld>
  <p:clrMapOvr>
    <a:masterClr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04 · SUN'IY INTELLEKT (AI) ASOSLARI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180000" y="720000"/>
            <a:ext cx="79200" cy="21600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5"/>
          <p:cNvSpPr txBox="1"/>
          <p:nvPr/>
        </p:nvSpPr>
        <p:spPr>
          <a:xfrm>
            <a:off x="396000" y="720000"/>
            <a:ext cx="558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Calibri"/>
              </a:rPr>
              <a:t>AI — kompyuter tizimlarining katta ma'lumotlardan</a:t>
            </a:r>
          </a:p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Calibri"/>
              </a:rPr>
              <a:t>o'rganish, naqshlarni topish va qaror qabul qilish</a:t>
            </a:r>
          </a:p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Calibri"/>
              </a:rPr>
              <a:t>qobiliyatidir. Tibbiyotda ML, DL va NLP qo'llanadi.</a:t>
            </a:r>
          </a:p>
        </p:txBody>
      </p:sp>
      <p:sp>
        <p:nvSpPr>
          <p:cNvPr id="6" name="r6"/>
          <p:cNvSpPr>
            <a:spLocks noGrp="1"/>
          </p:cNvSpPr>
          <p:nvPr/>
        </p:nvSpPr>
        <p:spPr>
          <a:xfrm>
            <a:off x="396000" y="1807200"/>
            <a:ext cx="57600" cy="576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7"/>
          <p:cNvSpPr txBox="1"/>
          <p:nvPr/>
        </p:nvSpPr>
        <p:spPr>
          <a:xfrm>
            <a:off x="521999" y="1728000"/>
            <a:ext cx="545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ML — Mashinali o'qitish: ma'lumotdan qonuniyat topish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396000" y="2109600"/>
            <a:ext cx="57600" cy="576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9"/>
          <p:cNvSpPr txBox="1"/>
          <p:nvPr/>
        </p:nvSpPr>
        <p:spPr>
          <a:xfrm>
            <a:off x="521999" y="2030400"/>
            <a:ext cx="545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DL — Chuqur o'qitish: tasvir va signallarni tahlil</a:t>
            </a:r>
          </a:p>
        </p:txBody>
      </p:sp>
      <p:sp>
        <p:nvSpPr>
          <p:cNvPr id="10" name="r10"/>
          <p:cNvSpPr>
            <a:spLocks noGrp="1"/>
          </p:cNvSpPr>
          <p:nvPr/>
        </p:nvSpPr>
        <p:spPr>
          <a:xfrm>
            <a:off x="396000" y="2412000"/>
            <a:ext cx="57600" cy="576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11"/>
          <p:cNvSpPr txBox="1"/>
          <p:nvPr/>
        </p:nvSpPr>
        <p:spPr>
          <a:xfrm>
            <a:off x="521999" y="2332800"/>
            <a:ext cx="545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NLP — Tabiiy til: tibbiy hujjatlarni avtomatik tahlil</a:t>
            </a:r>
          </a:p>
        </p:txBody>
      </p:sp>
      <p:sp>
        <p:nvSpPr>
          <p:cNvPr id="12" name="r12"/>
          <p:cNvSpPr>
            <a:spLocks noGrp="1"/>
          </p:cNvSpPr>
          <p:nvPr/>
        </p:nvSpPr>
        <p:spPr>
          <a:xfrm>
            <a:off x="6480000" y="648000"/>
            <a:ext cx="5472000" cy="252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13"/>
          <p:cNvSpPr txBox="1"/>
          <p:nvPr/>
        </p:nvSpPr>
        <p:spPr>
          <a:xfrm>
            <a:off x="6623999" y="827999"/>
            <a:ext cx="5184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FFFFFF"/>
                </a:solidFill>
                <a:latin typeface="Calibri"/>
              </a:rPr>
              <a:t>AI nimani uddalaydi?</a:t>
            </a:r>
          </a:p>
        </p:txBody>
      </p:sp>
      <p:sp>
        <p:nvSpPr>
          <p:cNvPr id="14" name="r14"/>
          <p:cNvSpPr>
            <a:spLocks noGrp="1"/>
          </p:cNvSpPr>
          <p:nvPr/>
        </p:nvSpPr>
        <p:spPr>
          <a:xfrm>
            <a:off x="6623999" y="13392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15"/>
          <p:cNvSpPr txBox="1"/>
          <p:nvPr/>
        </p:nvSpPr>
        <p:spPr>
          <a:xfrm>
            <a:off x="6749998" y="12600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Tibbiy tasvirlarni tahlil qilish</a:t>
            </a:r>
          </a:p>
        </p:txBody>
      </p:sp>
      <p:sp>
        <p:nvSpPr>
          <p:cNvPr id="16" name="r16"/>
          <p:cNvSpPr>
            <a:spLocks noGrp="1"/>
          </p:cNvSpPr>
          <p:nvPr/>
        </p:nvSpPr>
        <p:spPr>
          <a:xfrm>
            <a:off x="6623999" y="16416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17"/>
          <p:cNvSpPr txBox="1"/>
          <p:nvPr/>
        </p:nvSpPr>
        <p:spPr>
          <a:xfrm>
            <a:off x="6749998" y="15624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Xavf-xatarni bashorat qilish</a:t>
            </a:r>
          </a:p>
        </p:txBody>
      </p:sp>
      <p:sp>
        <p:nvSpPr>
          <p:cNvPr id="18" name="r18"/>
          <p:cNvSpPr>
            <a:spLocks noGrp="1"/>
          </p:cNvSpPr>
          <p:nvPr/>
        </p:nvSpPr>
        <p:spPr>
          <a:xfrm>
            <a:off x="6623999" y="19440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19"/>
          <p:cNvSpPr txBox="1"/>
          <p:nvPr/>
        </p:nvSpPr>
        <p:spPr>
          <a:xfrm>
            <a:off x="6749998" y="18648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Hujjatlarni avtomatlashtirish</a:t>
            </a:r>
          </a:p>
        </p:txBody>
      </p:sp>
      <p:sp>
        <p:nvSpPr>
          <p:cNvPr id="20" name="r20"/>
          <p:cNvSpPr>
            <a:spLocks noGrp="1"/>
          </p:cNvSpPr>
          <p:nvPr/>
        </p:nvSpPr>
        <p:spPr>
          <a:xfrm>
            <a:off x="6623999" y="22464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21"/>
          <p:cNvSpPr txBox="1"/>
          <p:nvPr/>
        </p:nvSpPr>
        <p:spPr>
          <a:xfrm>
            <a:off x="6749998" y="21672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Shifokorga qaror qo'llab-quvvatlash</a:t>
            </a:r>
          </a:p>
        </p:txBody>
      </p:sp>
    </p:spTree>
  </p:cSld>
  <p:clrMapOvr>
    <a:masterClr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05 · AI TASHXIS VA DAVOLASHDA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180000" y="720000"/>
            <a:ext cx="3780000" cy="1026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r5"/>
          <p:cNvSpPr>
            <a:spLocks noGrp="1"/>
          </p:cNvSpPr>
          <p:nvPr/>
        </p:nvSpPr>
        <p:spPr>
          <a:xfrm>
            <a:off x="180000" y="720000"/>
            <a:ext cx="3780000" cy="90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6"/>
          <p:cNvSpPr txBox="1"/>
          <p:nvPr/>
        </p:nvSpPr>
        <p:spPr>
          <a:xfrm>
            <a:off x="288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Calibri"/>
              </a:rPr>
              <a:t>Tibbiy tasvir tahlili</a:t>
            </a:r>
          </a:p>
        </p:txBody>
      </p:sp>
      <p:sp>
        <p:nvSpPr>
          <p:cNvPr id="7" name="t7"/>
          <p:cNvSpPr txBox="1"/>
          <p:nvPr/>
        </p:nvSpPr>
        <p:spPr>
          <a:xfrm>
            <a:off x="288000" y="1188000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Rentgen, KT, MRT, gistologiyada patologiyani aniqlash.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4176000" y="720000"/>
            <a:ext cx="3780000" cy="1026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9"/>
          <p:cNvSpPr>
            <a:spLocks noGrp="1"/>
          </p:cNvSpPr>
          <p:nvPr/>
        </p:nvSpPr>
        <p:spPr>
          <a:xfrm>
            <a:off x="4176000" y="720000"/>
            <a:ext cx="3780000" cy="900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10"/>
          <p:cNvSpPr txBox="1"/>
          <p:nvPr/>
        </p:nvSpPr>
        <p:spPr>
          <a:xfrm>
            <a:off x="4284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Calibri"/>
              </a:rPr>
              <a:t>Bashoratli tahlil</a:t>
            </a:r>
          </a:p>
        </p:txBody>
      </p:sp>
      <p:sp>
        <p:nvSpPr>
          <p:cNvPr id="11" name="t11"/>
          <p:cNvSpPr txBox="1"/>
          <p:nvPr/>
        </p:nvSpPr>
        <p:spPr>
          <a:xfrm>
            <a:off x="4284000" y="1188000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Asoratlar va kasallik xavfini erta bashorat qilish.</a:t>
            </a:r>
          </a:p>
        </p:txBody>
      </p:sp>
      <p:sp>
        <p:nvSpPr>
          <p:cNvPr id="12" name="r12"/>
          <p:cNvSpPr>
            <a:spLocks noGrp="1"/>
          </p:cNvSpPr>
          <p:nvPr/>
        </p:nvSpPr>
        <p:spPr>
          <a:xfrm>
            <a:off x="8172000" y="720000"/>
            <a:ext cx="3780000" cy="1026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r13"/>
          <p:cNvSpPr>
            <a:spLocks noGrp="1"/>
          </p:cNvSpPr>
          <p:nvPr/>
        </p:nvSpPr>
        <p:spPr>
          <a:xfrm>
            <a:off x="8172000" y="720000"/>
            <a:ext cx="3780000" cy="900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14"/>
          <p:cNvSpPr txBox="1"/>
          <p:nvPr/>
        </p:nvSpPr>
        <p:spPr>
          <a:xfrm>
            <a:off x="8280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Calibri"/>
              </a:rPr>
              <a:t>Shaxsiy davolash</a:t>
            </a:r>
          </a:p>
        </p:txBody>
      </p:sp>
      <p:sp>
        <p:nvSpPr>
          <p:cNvPr id="15" name="t15"/>
          <p:cNvSpPr txBox="1"/>
          <p:nvPr/>
        </p:nvSpPr>
        <p:spPr>
          <a:xfrm>
            <a:off x="8280000" y="1188000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Har bir bemorga moslangan davo rejasi.</a:t>
            </a:r>
          </a:p>
        </p:txBody>
      </p:sp>
      <p:sp>
        <p:nvSpPr>
          <p:cNvPr id="16" name="r16"/>
          <p:cNvSpPr>
            <a:spLocks noGrp="1"/>
          </p:cNvSpPr>
          <p:nvPr/>
        </p:nvSpPr>
        <p:spPr>
          <a:xfrm>
            <a:off x="180000" y="1854000"/>
            <a:ext cx="3780000" cy="1026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r17"/>
          <p:cNvSpPr>
            <a:spLocks noGrp="1"/>
          </p:cNvSpPr>
          <p:nvPr/>
        </p:nvSpPr>
        <p:spPr>
          <a:xfrm>
            <a:off x="180000" y="1854000"/>
            <a:ext cx="3780000" cy="90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18"/>
          <p:cNvSpPr txBox="1"/>
          <p:nvPr/>
        </p:nvSpPr>
        <p:spPr>
          <a:xfrm>
            <a:off x="288000" y="2016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Calibri"/>
              </a:rPr>
              <a:t>Dori kashfiyoti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288000" y="2322000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Yangi molekulalarni tezroq topish va sinash.</a:t>
            </a:r>
          </a:p>
        </p:txBody>
      </p:sp>
      <p:sp>
        <p:nvSpPr>
          <p:cNvPr id="20" name="r20"/>
          <p:cNvSpPr>
            <a:spLocks noGrp="1"/>
          </p:cNvSpPr>
          <p:nvPr/>
        </p:nvSpPr>
        <p:spPr>
          <a:xfrm>
            <a:off x="4176000" y="1854000"/>
            <a:ext cx="3780000" cy="1026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r21"/>
          <p:cNvSpPr>
            <a:spLocks noGrp="1"/>
          </p:cNvSpPr>
          <p:nvPr/>
        </p:nvSpPr>
        <p:spPr>
          <a:xfrm>
            <a:off x="4176000" y="1854000"/>
            <a:ext cx="3780000" cy="900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22"/>
          <p:cNvSpPr txBox="1"/>
          <p:nvPr/>
        </p:nvSpPr>
        <p:spPr>
          <a:xfrm>
            <a:off x="4284000" y="2016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Calibri"/>
              </a:rPr>
              <a:t>Virtual yordamchilar</a:t>
            </a:r>
          </a:p>
        </p:txBody>
      </p:sp>
      <p:sp>
        <p:nvSpPr>
          <p:cNvPr id="23" name="t23"/>
          <p:cNvSpPr txBox="1"/>
          <p:nvPr/>
        </p:nvSpPr>
        <p:spPr>
          <a:xfrm>
            <a:off x="4284000" y="2322000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Chatbotlar bemor savollariga javob beradi, triaj qiladi.</a:t>
            </a:r>
          </a:p>
        </p:txBody>
      </p:sp>
      <p:sp>
        <p:nvSpPr>
          <p:cNvPr id="24" name="r24"/>
          <p:cNvSpPr>
            <a:spLocks noGrp="1"/>
          </p:cNvSpPr>
          <p:nvPr/>
        </p:nvSpPr>
        <p:spPr>
          <a:xfrm>
            <a:off x="8172000" y="1854000"/>
            <a:ext cx="3780000" cy="1026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>
            <a:spLocks noGrp="1"/>
          </p:cNvSpPr>
          <p:nvPr/>
        </p:nvSpPr>
        <p:spPr>
          <a:xfrm>
            <a:off x="8172000" y="1854000"/>
            <a:ext cx="3780000" cy="900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26"/>
          <p:cNvSpPr txBox="1"/>
          <p:nvPr/>
        </p:nvSpPr>
        <p:spPr>
          <a:xfrm>
            <a:off x="8280000" y="2016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Calibri"/>
              </a:rPr>
              <a:t>Ish jarayonini optimallashtirish</a:t>
            </a:r>
          </a:p>
        </p:txBody>
      </p:sp>
      <p:sp>
        <p:nvSpPr>
          <p:cNvPr id="27" name="t27"/>
          <p:cNvSpPr txBox="1"/>
          <p:nvPr/>
        </p:nvSpPr>
        <p:spPr>
          <a:xfrm>
            <a:off x="8280000" y="2322000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Navbat, resurs va hujjatlarni avtomatlashtirish.</a:t>
            </a:r>
          </a:p>
        </p:txBody>
      </p:sp>
    </p:spTree>
  </p:cSld>
  <p:clrMapOvr>
    <a:masterClr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06 · TELEMEDITSINA IMKONIYATLARI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180000" y="720000"/>
            <a:ext cx="79200" cy="21600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5"/>
          <p:cNvSpPr txBox="1"/>
          <p:nvPr/>
        </p:nvSpPr>
        <p:spPr>
          <a:xfrm>
            <a:off x="396000" y="720000"/>
            <a:ext cx="558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Calibri"/>
              </a:rPr>
              <a:t>Telemeditsina — axborot-kommunikatsiya texnologiyalari</a:t>
            </a:r>
          </a:p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Calibri"/>
              </a:rPr>
              <a:t>orqali masofadan tibbiy xizmat ko'rsatish. Masofa va</a:t>
            </a:r>
          </a:p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Calibri"/>
              </a:rPr>
              <a:t>resurs to'siqlarini bartaraf etadi.</a:t>
            </a:r>
          </a:p>
        </p:txBody>
      </p:sp>
      <p:sp>
        <p:nvSpPr>
          <p:cNvPr id="6" name="r6"/>
          <p:cNvSpPr>
            <a:spLocks noGrp="1"/>
          </p:cNvSpPr>
          <p:nvPr/>
        </p:nvSpPr>
        <p:spPr>
          <a:xfrm>
            <a:off x="396000" y="18072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7"/>
          <p:cNvSpPr txBox="1"/>
          <p:nvPr/>
        </p:nvSpPr>
        <p:spPr>
          <a:xfrm>
            <a:off x="521999" y="1728000"/>
            <a:ext cx="545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Telekonsultatsiya — masofaviy shifokor qabuli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396000" y="21096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9"/>
          <p:cNvSpPr txBox="1"/>
          <p:nvPr/>
        </p:nvSpPr>
        <p:spPr>
          <a:xfrm>
            <a:off x="521999" y="2030400"/>
            <a:ext cx="545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Telemonitoring — surunkali kasalliklarni masofadan kuzatish</a:t>
            </a:r>
          </a:p>
        </p:txBody>
      </p:sp>
      <p:sp>
        <p:nvSpPr>
          <p:cNvPr id="10" name="r10"/>
          <p:cNvSpPr>
            <a:spLocks noGrp="1"/>
          </p:cNvSpPr>
          <p:nvPr/>
        </p:nvSpPr>
        <p:spPr>
          <a:xfrm>
            <a:off x="396000" y="24120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11"/>
          <p:cNvSpPr txBox="1"/>
          <p:nvPr/>
        </p:nvSpPr>
        <p:spPr>
          <a:xfrm>
            <a:off x="521999" y="2332800"/>
            <a:ext cx="545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Tel-radiologiya / patologiya — tasvirlarni masofaviy tahlil</a:t>
            </a:r>
          </a:p>
        </p:txBody>
      </p:sp>
      <p:sp>
        <p:nvSpPr>
          <p:cNvPr id="12" name="r12"/>
          <p:cNvSpPr>
            <a:spLocks noGrp="1"/>
          </p:cNvSpPr>
          <p:nvPr/>
        </p:nvSpPr>
        <p:spPr>
          <a:xfrm>
            <a:off x="6480000" y="648000"/>
            <a:ext cx="5472000" cy="252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13"/>
          <p:cNvSpPr txBox="1"/>
          <p:nvPr/>
        </p:nvSpPr>
        <p:spPr>
          <a:xfrm>
            <a:off x="6623999" y="827999"/>
            <a:ext cx="5184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FFFFFF"/>
                </a:solidFill>
                <a:latin typeface="Calibri"/>
              </a:rPr>
              <a:t>Kimga foydali?</a:t>
            </a:r>
          </a:p>
        </p:txBody>
      </p:sp>
      <p:sp>
        <p:nvSpPr>
          <p:cNvPr id="14" name="r14"/>
          <p:cNvSpPr>
            <a:spLocks noGrp="1"/>
          </p:cNvSpPr>
          <p:nvPr/>
        </p:nvSpPr>
        <p:spPr>
          <a:xfrm>
            <a:off x="6623999" y="13392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15"/>
          <p:cNvSpPr txBox="1"/>
          <p:nvPr/>
        </p:nvSpPr>
        <p:spPr>
          <a:xfrm>
            <a:off x="6749998" y="12600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Olis va qishloq hududlari aholisi</a:t>
            </a:r>
          </a:p>
        </p:txBody>
      </p:sp>
      <p:sp>
        <p:nvSpPr>
          <p:cNvPr id="16" name="r16"/>
          <p:cNvSpPr>
            <a:spLocks noGrp="1"/>
          </p:cNvSpPr>
          <p:nvPr/>
        </p:nvSpPr>
        <p:spPr>
          <a:xfrm>
            <a:off x="6623999" y="16416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17"/>
          <p:cNvSpPr txBox="1"/>
          <p:nvPr/>
        </p:nvSpPr>
        <p:spPr>
          <a:xfrm>
            <a:off x="6749998" y="15624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Harakati cheklangan bemorlar</a:t>
            </a:r>
          </a:p>
        </p:txBody>
      </p:sp>
      <p:sp>
        <p:nvSpPr>
          <p:cNvPr id="18" name="r18"/>
          <p:cNvSpPr>
            <a:spLocks noGrp="1"/>
          </p:cNvSpPr>
          <p:nvPr/>
        </p:nvSpPr>
        <p:spPr>
          <a:xfrm>
            <a:off x="6623999" y="19440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19"/>
          <p:cNvSpPr txBox="1"/>
          <p:nvPr/>
        </p:nvSpPr>
        <p:spPr>
          <a:xfrm>
            <a:off x="6749998" y="18648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Surunkali kasallarni kuzatish</a:t>
            </a:r>
          </a:p>
        </p:txBody>
      </p:sp>
      <p:sp>
        <p:nvSpPr>
          <p:cNvPr id="20" name="r20"/>
          <p:cNvSpPr>
            <a:spLocks noGrp="1"/>
          </p:cNvSpPr>
          <p:nvPr/>
        </p:nvSpPr>
        <p:spPr>
          <a:xfrm>
            <a:off x="6623999" y="22464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21"/>
          <p:cNvSpPr txBox="1"/>
          <p:nvPr/>
        </p:nvSpPr>
        <p:spPr>
          <a:xfrm>
            <a:off x="6749998" y="21672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Mutaxassislar yetishmaydigan markazlar</a:t>
            </a:r>
          </a:p>
        </p:txBody>
      </p:sp>
    </p:spTree>
  </p:cSld>
  <p:clrMapOvr>
    <a:masterClr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07 · MASOFAVIY REABILITATSIYA</a:t>
            </a:r>
          </a:p>
        </p:txBody>
      </p:sp>
      <p:sp>
        <p:nvSpPr>
          <p:cNvPr id="4" name="t4"/>
          <p:cNvSpPr txBox="1"/>
          <p:nvPr/>
        </p:nvSpPr>
        <p:spPr>
          <a:xfrm>
            <a:off x="216000" y="684000"/>
            <a:ext cx="1152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9AA6D6"/>
                </a:solidFill>
                <a:latin typeface="Calibri"/>
              </a:rPr>
              <a:t>Telereabilitatsiya bemorga uy sharoitida, mutaxassis nazorati ostida tiklanish imkonini beradi.</a:t>
            </a:r>
          </a:p>
        </p:txBody>
      </p:sp>
      <p:sp>
        <p:nvSpPr>
          <p:cNvPr id="5" name="r5"/>
          <p:cNvSpPr>
            <a:spLocks noGrp="1"/>
          </p:cNvSpPr>
          <p:nvPr/>
        </p:nvSpPr>
        <p:spPr>
          <a:xfrm>
            <a:off x="180000" y="1080000"/>
            <a:ext cx="3780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r6"/>
          <p:cNvSpPr>
            <a:spLocks noGrp="1"/>
          </p:cNvSpPr>
          <p:nvPr/>
        </p:nvSpPr>
        <p:spPr>
          <a:xfrm>
            <a:off x="180000" y="1080000"/>
            <a:ext cx="3780000" cy="90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7"/>
          <p:cNvSpPr txBox="1"/>
          <p:nvPr/>
        </p:nvSpPr>
        <p:spPr>
          <a:xfrm>
            <a:off x="288000" y="124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Calibri"/>
              </a:rPr>
              <a:t>Video-mashg'ulotlar</a:t>
            </a:r>
          </a:p>
        </p:txBody>
      </p:sp>
      <p:sp>
        <p:nvSpPr>
          <p:cNvPr id="8" name="t8"/>
          <p:cNvSpPr txBox="1"/>
          <p:nvPr/>
        </p:nvSpPr>
        <p:spPr>
          <a:xfrm>
            <a:off x="288000" y="1566000"/>
            <a:ext cx="36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Mashqlarni real vaqtda nazorat qilish va to'g'rilash.</a:t>
            </a:r>
          </a:p>
        </p:txBody>
      </p:sp>
      <p:sp>
        <p:nvSpPr>
          <p:cNvPr id="9" name="r9"/>
          <p:cNvSpPr>
            <a:spLocks noGrp="1"/>
          </p:cNvSpPr>
          <p:nvPr/>
        </p:nvSpPr>
        <p:spPr>
          <a:xfrm>
            <a:off x="4176000" y="1080000"/>
            <a:ext cx="3780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r10"/>
          <p:cNvSpPr>
            <a:spLocks noGrp="1"/>
          </p:cNvSpPr>
          <p:nvPr/>
        </p:nvSpPr>
        <p:spPr>
          <a:xfrm>
            <a:off x="4176000" y="1080000"/>
            <a:ext cx="3780000" cy="900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11"/>
          <p:cNvSpPr txBox="1"/>
          <p:nvPr/>
        </p:nvSpPr>
        <p:spPr>
          <a:xfrm>
            <a:off x="4284000" y="124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Calibri"/>
              </a:rPr>
              <a:t>Sensorlar va kiyiladigan qurilmalar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84000" y="1566000"/>
            <a:ext cx="36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Harakat, yurish va fiziologik ko'rsatkichlarni o'lchash.</a:t>
            </a:r>
          </a:p>
        </p:txBody>
      </p:sp>
      <p:sp>
        <p:nvSpPr>
          <p:cNvPr id="13" name="r13"/>
          <p:cNvSpPr>
            <a:spLocks noGrp="1"/>
          </p:cNvSpPr>
          <p:nvPr/>
        </p:nvSpPr>
        <p:spPr>
          <a:xfrm>
            <a:off x="8172000" y="1080000"/>
            <a:ext cx="3780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r14"/>
          <p:cNvSpPr>
            <a:spLocks noGrp="1"/>
          </p:cNvSpPr>
          <p:nvPr/>
        </p:nvSpPr>
        <p:spPr>
          <a:xfrm>
            <a:off x="8172000" y="1080000"/>
            <a:ext cx="3780000" cy="900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15"/>
          <p:cNvSpPr txBox="1"/>
          <p:nvPr/>
        </p:nvSpPr>
        <p:spPr>
          <a:xfrm>
            <a:off x="8280000" y="124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Calibri"/>
              </a:rPr>
              <a:t>VR + AI birikmasi</a:t>
            </a:r>
          </a:p>
        </p:txBody>
      </p:sp>
      <p:sp>
        <p:nvSpPr>
          <p:cNvPr id="16" name="t16"/>
          <p:cNvSpPr txBox="1"/>
          <p:nvPr/>
        </p:nvSpPr>
        <p:spPr>
          <a:xfrm>
            <a:off x="8280000" y="1566000"/>
            <a:ext cx="36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O'yinlashtirilgan, motivatsion va moslashuvchan reabilitatsiya.</a:t>
            </a:r>
          </a:p>
        </p:txBody>
      </p:sp>
      <p:sp>
        <p:nvSpPr>
          <p:cNvPr id="17" name="r17"/>
          <p:cNvSpPr>
            <a:spLocks noGrp="1"/>
          </p:cNvSpPr>
          <p:nvPr/>
        </p:nvSpPr>
        <p:spPr>
          <a:xfrm>
            <a:off x="180000" y="2448000"/>
            <a:ext cx="5922000" cy="79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18"/>
          <p:cNvSpPr txBox="1"/>
          <p:nvPr/>
        </p:nvSpPr>
        <p:spPr>
          <a:xfrm>
            <a:off x="252000" y="2520000"/>
            <a:ext cx="5778000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000" b="1" dirty="0" smtClean="0">
                <a:solidFill>
                  <a:srgbClr val="22E6FF"/>
                </a:solidFill>
                <a:latin typeface="Calibri"/>
              </a:rPr>
              <a:t>Adherens yaxshilanadi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252000" y="2844000"/>
            <a:ext cx="5778000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Dasturga rioya qilish ortadi</a:t>
            </a:r>
          </a:p>
        </p:txBody>
      </p:sp>
      <p:sp>
        <p:nvSpPr>
          <p:cNvPr id="20" name="r20"/>
          <p:cNvSpPr>
            <a:spLocks noGrp="1"/>
          </p:cNvSpPr>
          <p:nvPr/>
        </p:nvSpPr>
        <p:spPr>
          <a:xfrm>
            <a:off x="6210000" y="2448000"/>
            <a:ext cx="5922000" cy="79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21"/>
          <p:cNvSpPr txBox="1"/>
          <p:nvPr/>
        </p:nvSpPr>
        <p:spPr>
          <a:xfrm>
            <a:off x="6282000" y="2520000"/>
            <a:ext cx="5778000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000" b="1" dirty="0" smtClean="0">
                <a:solidFill>
                  <a:srgbClr val="22E6FF"/>
                </a:solidFill>
                <a:latin typeface="Calibri"/>
              </a:rPr>
              <a:t>Xarajat kamayadi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6282000" y="2844000"/>
            <a:ext cx="5778000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Qatnov va kasalxona xarajatlari</a:t>
            </a:r>
          </a:p>
        </p:txBody>
      </p:sp>
    </p:spTree>
  </p:cSld>
  <p:clrMapOvr>
    <a:masterClr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08 · TEXNOLOGIYALAR INTEGRATSIYASI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180000" y="720000"/>
            <a:ext cx="2520000" cy="4752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5"/>
          <p:cNvSpPr txBox="1"/>
          <p:nvPr/>
        </p:nvSpPr>
        <p:spPr>
          <a:xfrm>
            <a:off x="251999" y="810000"/>
            <a:ext cx="234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500" b="1" dirty="0" smtClean="0">
                <a:solidFill>
                  <a:srgbClr val="22E6FF"/>
                </a:solidFill>
                <a:latin typeface="Calibri"/>
              </a:rPr>
              <a:t>Tashxis</a:t>
            </a:r>
          </a:p>
        </p:txBody>
      </p:sp>
      <p:sp>
        <p:nvSpPr>
          <p:cNvPr id="6" name="r6"/>
          <p:cNvSpPr>
            <a:spLocks noGrp="1"/>
          </p:cNvSpPr>
          <p:nvPr/>
        </p:nvSpPr>
        <p:spPr>
          <a:xfrm>
            <a:off x="3060000" y="936000"/>
            <a:ext cx="720000" cy="36000"/>
          </a:xfrm>
          <a:prstGeom prst="rect">
            <a:avLst/>
          </a:prstGeom>
          <a:solidFill>
            <a:srgbClr val="9AA6D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r7"/>
          <p:cNvSpPr>
            <a:spLocks noGrp="1"/>
          </p:cNvSpPr>
          <p:nvPr/>
        </p:nvSpPr>
        <p:spPr>
          <a:xfrm>
            <a:off x="3960000" y="720000"/>
            <a:ext cx="3240000" cy="4752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8"/>
          <p:cNvSpPr txBox="1"/>
          <p:nvPr/>
        </p:nvSpPr>
        <p:spPr>
          <a:xfrm>
            <a:off x="4031999" y="810000"/>
            <a:ext cx="306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52D9"/>
                </a:solidFill>
                <a:latin typeface="Calibri"/>
              </a:rPr>
              <a:t>AI + Telemeditsina</a:t>
            </a:r>
          </a:p>
        </p:txBody>
      </p:sp>
      <p:sp>
        <p:nvSpPr>
          <p:cNvPr id="9" name="t9"/>
          <p:cNvSpPr txBox="1"/>
          <p:nvPr/>
        </p:nvSpPr>
        <p:spPr>
          <a:xfrm>
            <a:off x="7560000" y="756000"/>
            <a:ext cx="4392000" cy="4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Masofadan yig'ilgan ma'lumotni AI tahlil qiladi, shifokor tasdiqlaydi.</a:t>
            </a:r>
          </a:p>
        </p:txBody>
      </p:sp>
      <p:sp>
        <p:nvSpPr>
          <p:cNvPr id="10" name="r10"/>
          <p:cNvSpPr>
            <a:spLocks noGrp="1"/>
          </p:cNvSpPr>
          <p:nvPr/>
        </p:nvSpPr>
        <p:spPr>
          <a:xfrm>
            <a:off x="180000" y="1339200"/>
            <a:ext cx="2520000" cy="4752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11"/>
          <p:cNvSpPr txBox="1"/>
          <p:nvPr/>
        </p:nvSpPr>
        <p:spPr>
          <a:xfrm>
            <a:off x="251999" y="1429200"/>
            <a:ext cx="234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500" b="1" dirty="0" smtClean="0">
                <a:solidFill>
                  <a:srgbClr val="22E6FF"/>
                </a:solidFill>
                <a:latin typeface="Calibri"/>
              </a:rPr>
              <a:t>Reja</a:t>
            </a:r>
          </a:p>
        </p:txBody>
      </p:sp>
      <p:sp>
        <p:nvSpPr>
          <p:cNvPr id="12" name="r12"/>
          <p:cNvSpPr>
            <a:spLocks noGrp="1"/>
          </p:cNvSpPr>
          <p:nvPr/>
        </p:nvSpPr>
        <p:spPr>
          <a:xfrm>
            <a:off x="3060000" y="1555200"/>
            <a:ext cx="720000" cy="36000"/>
          </a:xfrm>
          <a:prstGeom prst="rect">
            <a:avLst/>
          </a:prstGeom>
          <a:solidFill>
            <a:srgbClr val="9AA6D6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r13"/>
          <p:cNvSpPr>
            <a:spLocks noGrp="1"/>
          </p:cNvSpPr>
          <p:nvPr/>
        </p:nvSpPr>
        <p:spPr>
          <a:xfrm>
            <a:off x="3960000" y="1339200"/>
            <a:ext cx="3240000" cy="4752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14"/>
          <p:cNvSpPr txBox="1"/>
          <p:nvPr/>
        </p:nvSpPr>
        <p:spPr>
          <a:xfrm>
            <a:off x="4031999" y="1429200"/>
            <a:ext cx="306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52D9"/>
                </a:solidFill>
                <a:latin typeface="Calibri"/>
              </a:rPr>
              <a:t>AI + VR/AR</a:t>
            </a:r>
          </a:p>
        </p:txBody>
      </p:sp>
      <p:sp>
        <p:nvSpPr>
          <p:cNvPr id="15" name="t15"/>
          <p:cNvSpPr txBox="1"/>
          <p:nvPr/>
        </p:nvSpPr>
        <p:spPr>
          <a:xfrm>
            <a:off x="7560000" y="1375200"/>
            <a:ext cx="4392000" cy="4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Shaxsiylashtirilgan davo rejasi va 3D operatsiya simulyatsiyasi.</a:t>
            </a:r>
          </a:p>
        </p:txBody>
      </p:sp>
      <p:sp>
        <p:nvSpPr>
          <p:cNvPr id="16" name="r16"/>
          <p:cNvSpPr>
            <a:spLocks noGrp="1"/>
          </p:cNvSpPr>
          <p:nvPr/>
        </p:nvSpPr>
        <p:spPr>
          <a:xfrm>
            <a:off x="180000" y="1958400"/>
            <a:ext cx="2520000" cy="4752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17"/>
          <p:cNvSpPr txBox="1"/>
          <p:nvPr/>
        </p:nvSpPr>
        <p:spPr>
          <a:xfrm>
            <a:off x="251999" y="2048400"/>
            <a:ext cx="234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500" b="1" dirty="0" smtClean="0">
                <a:solidFill>
                  <a:srgbClr val="22E6FF"/>
                </a:solidFill>
                <a:latin typeface="Calibri"/>
              </a:rPr>
              <a:t>Davolash</a:t>
            </a:r>
          </a:p>
        </p:txBody>
      </p:sp>
      <p:sp>
        <p:nvSpPr>
          <p:cNvPr id="18" name="r18"/>
          <p:cNvSpPr>
            <a:spLocks noGrp="1"/>
          </p:cNvSpPr>
          <p:nvPr/>
        </p:nvSpPr>
        <p:spPr>
          <a:xfrm>
            <a:off x="3060000" y="2174400"/>
            <a:ext cx="720000" cy="36000"/>
          </a:xfrm>
          <a:prstGeom prst="rect">
            <a:avLst/>
          </a:prstGeom>
          <a:solidFill>
            <a:srgbClr val="9AA6D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r19"/>
          <p:cNvSpPr>
            <a:spLocks noGrp="1"/>
          </p:cNvSpPr>
          <p:nvPr/>
        </p:nvSpPr>
        <p:spPr>
          <a:xfrm>
            <a:off x="3960000" y="1958400"/>
            <a:ext cx="3240000" cy="4752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t20"/>
          <p:cNvSpPr txBox="1"/>
          <p:nvPr/>
        </p:nvSpPr>
        <p:spPr>
          <a:xfrm>
            <a:off x="4031999" y="2048400"/>
            <a:ext cx="306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52D9"/>
                </a:solidFill>
                <a:latin typeface="Calibri"/>
              </a:rPr>
              <a:t>AR navigatsiya</a:t>
            </a:r>
          </a:p>
        </p:txBody>
      </p:sp>
      <p:sp>
        <p:nvSpPr>
          <p:cNvPr id="21" name="t21"/>
          <p:cNvSpPr txBox="1"/>
          <p:nvPr/>
        </p:nvSpPr>
        <p:spPr>
          <a:xfrm>
            <a:off x="7560000" y="1994400"/>
            <a:ext cx="4392000" cy="4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Operatsiya va protseduralarda real vaqt yo'riqnoma.</a:t>
            </a:r>
          </a:p>
        </p:txBody>
      </p:sp>
      <p:sp>
        <p:nvSpPr>
          <p:cNvPr id="22" name="r22"/>
          <p:cNvSpPr>
            <a:spLocks noGrp="1"/>
          </p:cNvSpPr>
          <p:nvPr/>
        </p:nvSpPr>
        <p:spPr>
          <a:xfrm>
            <a:off x="180000" y="2577600"/>
            <a:ext cx="2520000" cy="4752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23"/>
          <p:cNvSpPr txBox="1"/>
          <p:nvPr/>
        </p:nvSpPr>
        <p:spPr>
          <a:xfrm>
            <a:off x="251999" y="2667600"/>
            <a:ext cx="234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500" b="1" dirty="0" smtClean="0">
                <a:solidFill>
                  <a:srgbClr val="22E6FF"/>
                </a:solidFill>
                <a:latin typeface="Calibri"/>
              </a:rPr>
              <a:t>Tiklanish</a:t>
            </a:r>
          </a:p>
        </p:txBody>
      </p:sp>
      <p:sp>
        <p:nvSpPr>
          <p:cNvPr id="24" name="r24"/>
          <p:cNvSpPr>
            <a:spLocks noGrp="1"/>
          </p:cNvSpPr>
          <p:nvPr/>
        </p:nvSpPr>
        <p:spPr>
          <a:xfrm>
            <a:off x="3060000" y="2793600"/>
            <a:ext cx="720000" cy="36000"/>
          </a:xfrm>
          <a:prstGeom prst="rect">
            <a:avLst/>
          </a:prstGeom>
          <a:solidFill>
            <a:srgbClr val="9AA6D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>
            <a:spLocks noGrp="1"/>
          </p:cNvSpPr>
          <p:nvPr/>
        </p:nvSpPr>
        <p:spPr>
          <a:xfrm>
            <a:off x="3960000" y="2577600"/>
            <a:ext cx="3240000" cy="4752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26"/>
          <p:cNvSpPr txBox="1"/>
          <p:nvPr/>
        </p:nvSpPr>
        <p:spPr>
          <a:xfrm>
            <a:off x="4031999" y="2667600"/>
            <a:ext cx="306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52D9"/>
                </a:solidFill>
                <a:latin typeface="Calibri"/>
              </a:rPr>
              <a:t>Telereabilitatsiya</a:t>
            </a:r>
          </a:p>
        </p:txBody>
      </p:sp>
      <p:sp>
        <p:nvSpPr>
          <p:cNvPr id="27" name="t27"/>
          <p:cNvSpPr txBox="1"/>
          <p:nvPr/>
        </p:nvSpPr>
        <p:spPr>
          <a:xfrm>
            <a:off x="7560000" y="2613600"/>
            <a:ext cx="4392000" cy="4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Uyda VR-mashqlar, sensorlar va masofaviy nazorat.</a:t>
            </a:r>
          </a:p>
        </p:txBody>
      </p:sp>
    </p:spTree>
  </p:cSld>
  <p:clrMapOvr>
    <a:masterClr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09 · ASOSIY AFZALLIKLAR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180000" y="720000"/>
            <a:ext cx="2808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r5"/>
          <p:cNvSpPr>
            <a:spLocks noGrp="1"/>
          </p:cNvSpPr>
          <p:nvPr/>
        </p:nvSpPr>
        <p:spPr>
          <a:xfrm>
            <a:off x="180000" y="720000"/>
            <a:ext cx="2808000" cy="900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6"/>
          <p:cNvSpPr txBox="1"/>
          <p:nvPr/>
        </p:nvSpPr>
        <p:spPr>
          <a:xfrm>
            <a:off x="288000" y="882000"/>
            <a:ext cx="2628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1" dirty="0" smtClean="0">
                <a:solidFill>
                  <a:srgbClr val="FFFFFF"/>
                </a:solidFill>
                <a:latin typeface="Calibri"/>
              </a:rPr>
              <a:t>Aniqlik</a:t>
            </a:r>
          </a:p>
        </p:txBody>
      </p:sp>
      <p:sp>
        <p:nvSpPr>
          <p:cNvPr id="7" name="t7"/>
          <p:cNvSpPr txBox="1"/>
          <p:nvPr/>
        </p:nvSpPr>
        <p:spPr>
          <a:xfrm>
            <a:off x="288000" y="1206000"/>
            <a:ext cx="2628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100" b="0" dirty="0" smtClean="0">
                <a:solidFill>
                  <a:srgbClr val="9AA6D6"/>
                </a:solidFill>
                <a:latin typeface="Calibri"/>
              </a:rPr>
              <a:t>Tashxis va davo aniqligi oshadi.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3204000" y="720000"/>
            <a:ext cx="2808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9"/>
          <p:cNvSpPr>
            <a:spLocks noGrp="1"/>
          </p:cNvSpPr>
          <p:nvPr/>
        </p:nvSpPr>
        <p:spPr>
          <a:xfrm>
            <a:off x="3204000" y="720000"/>
            <a:ext cx="2808000" cy="90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10"/>
          <p:cNvSpPr txBox="1"/>
          <p:nvPr/>
        </p:nvSpPr>
        <p:spPr>
          <a:xfrm>
            <a:off x="3312000" y="882000"/>
            <a:ext cx="2628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1" dirty="0" smtClean="0">
                <a:solidFill>
                  <a:srgbClr val="FFFFFF"/>
                </a:solidFill>
                <a:latin typeface="Calibri"/>
              </a:rPr>
              <a:t>Tezlik</a:t>
            </a:r>
          </a:p>
        </p:txBody>
      </p:sp>
      <p:sp>
        <p:nvSpPr>
          <p:cNvPr id="11" name="t11"/>
          <p:cNvSpPr txBox="1"/>
          <p:nvPr/>
        </p:nvSpPr>
        <p:spPr>
          <a:xfrm>
            <a:off x="3312000" y="1206000"/>
            <a:ext cx="2628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100" b="0" dirty="0" smtClean="0">
                <a:solidFill>
                  <a:srgbClr val="9AA6D6"/>
                </a:solidFill>
                <a:latin typeface="Calibri"/>
              </a:rPr>
              <a:t>Qaror va xizmat tezlashadi.</a:t>
            </a:r>
          </a:p>
        </p:txBody>
      </p:sp>
      <p:sp>
        <p:nvSpPr>
          <p:cNvPr id="12" name="r12"/>
          <p:cNvSpPr>
            <a:spLocks noGrp="1"/>
          </p:cNvSpPr>
          <p:nvPr/>
        </p:nvSpPr>
        <p:spPr>
          <a:xfrm>
            <a:off x="6228000" y="720000"/>
            <a:ext cx="2808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r13"/>
          <p:cNvSpPr>
            <a:spLocks noGrp="1"/>
          </p:cNvSpPr>
          <p:nvPr/>
        </p:nvSpPr>
        <p:spPr>
          <a:xfrm>
            <a:off x="6228000" y="720000"/>
            <a:ext cx="2808000" cy="900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14"/>
          <p:cNvSpPr txBox="1"/>
          <p:nvPr/>
        </p:nvSpPr>
        <p:spPr>
          <a:xfrm>
            <a:off x="6336000" y="882000"/>
            <a:ext cx="2628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1" dirty="0" smtClean="0">
                <a:solidFill>
                  <a:srgbClr val="FFFFFF"/>
                </a:solidFill>
                <a:latin typeface="Calibri"/>
              </a:rPr>
              <a:t>Qulaylik</a:t>
            </a:r>
          </a:p>
        </p:txBody>
      </p:sp>
      <p:sp>
        <p:nvSpPr>
          <p:cNvPr id="15" name="t15"/>
          <p:cNvSpPr txBox="1"/>
          <p:nvPr/>
        </p:nvSpPr>
        <p:spPr>
          <a:xfrm>
            <a:off x="6336000" y="1206000"/>
            <a:ext cx="2628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100" b="0" dirty="0" smtClean="0">
                <a:solidFill>
                  <a:srgbClr val="9AA6D6"/>
                </a:solidFill>
                <a:latin typeface="Calibri"/>
              </a:rPr>
              <a:t>Masofa to'siqlari yo'qoladi.</a:t>
            </a:r>
          </a:p>
        </p:txBody>
      </p:sp>
      <p:sp>
        <p:nvSpPr>
          <p:cNvPr id="16" name="r16"/>
          <p:cNvSpPr>
            <a:spLocks noGrp="1"/>
          </p:cNvSpPr>
          <p:nvPr/>
        </p:nvSpPr>
        <p:spPr>
          <a:xfrm>
            <a:off x="9252000" y="720000"/>
            <a:ext cx="2808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r17"/>
          <p:cNvSpPr>
            <a:spLocks noGrp="1"/>
          </p:cNvSpPr>
          <p:nvPr/>
        </p:nvSpPr>
        <p:spPr>
          <a:xfrm>
            <a:off x="9252000" y="720000"/>
            <a:ext cx="2808000" cy="900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18"/>
          <p:cNvSpPr txBox="1"/>
          <p:nvPr/>
        </p:nvSpPr>
        <p:spPr>
          <a:xfrm>
            <a:off x="9360000" y="882000"/>
            <a:ext cx="2628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1" dirty="0" smtClean="0">
                <a:solidFill>
                  <a:srgbClr val="FFFFFF"/>
                </a:solidFill>
                <a:latin typeface="Calibri"/>
              </a:rPr>
              <a:t>Tejamkorlik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9360000" y="1206000"/>
            <a:ext cx="2628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100" b="0" dirty="0" smtClean="0">
                <a:solidFill>
                  <a:srgbClr val="9AA6D6"/>
                </a:solidFill>
                <a:latin typeface="Calibri"/>
              </a:rPr>
              <a:t>Uzoq muddatda xarajat kamayadi.</a:t>
            </a:r>
          </a:p>
        </p:txBody>
      </p:sp>
      <p:sp>
        <p:nvSpPr>
          <p:cNvPr id="20" name="r20"/>
          <p:cNvSpPr>
            <a:spLocks noGrp="1"/>
          </p:cNvSpPr>
          <p:nvPr/>
        </p:nvSpPr>
        <p:spPr>
          <a:xfrm>
            <a:off x="180000" y="1980000"/>
            <a:ext cx="3911999" cy="79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21"/>
          <p:cNvSpPr txBox="1"/>
          <p:nvPr/>
        </p:nvSpPr>
        <p:spPr>
          <a:xfrm>
            <a:off x="252000" y="2052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000" b="1" dirty="0" smtClean="0">
                <a:solidFill>
                  <a:srgbClr val="22E6FF"/>
                </a:solidFill>
                <a:latin typeface="Calibri"/>
              </a:rPr>
              <a:t>24/7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252000" y="2376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Uzluksiz monitoring</a:t>
            </a:r>
          </a:p>
        </p:txBody>
      </p:sp>
      <p:sp>
        <p:nvSpPr>
          <p:cNvPr id="23" name="r23"/>
          <p:cNvSpPr>
            <a:spLocks noGrp="1"/>
          </p:cNvSpPr>
          <p:nvPr/>
        </p:nvSpPr>
        <p:spPr>
          <a:xfrm>
            <a:off x="4199999" y="1980000"/>
            <a:ext cx="3911999" cy="79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24"/>
          <p:cNvSpPr txBox="1"/>
          <p:nvPr/>
        </p:nvSpPr>
        <p:spPr>
          <a:xfrm>
            <a:off x="4271999" y="2052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000" b="1" dirty="0" smtClean="0">
                <a:solidFill>
                  <a:srgbClr val="22E6FF"/>
                </a:solidFill>
                <a:latin typeface="Calibri"/>
              </a:rPr>
              <a:t>Qamrov</a:t>
            </a:r>
          </a:p>
        </p:txBody>
      </p:sp>
      <p:sp>
        <p:nvSpPr>
          <p:cNvPr id="25" name="t25"/>
          <p:cNvSpPr txBox="1"/>
          <p:nvPr/>
        </p:nvSpPr>
        <p:spPr>
          <a:xfrm>
            <a:off x="4271999" y="2376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Olis hududlar</a:t>
            </a:r>
          </a:p>
        </p:txBody>
      </p:sp>
      <p:sp>
        <p:nvSpPr>
          <p:cNvPr id="26" name="r26"/>
          <p:cNvSpPr>
            <a:spLocks noGrp="1"/>
          </p:cNvSpPr>
          <p:nvPr/>
        </p:nvSpPr>
        <p:spPr>
          <a:xfrm>
            <a:off x="8219998" y="1980000"/>
            <a:ext cx="3911999" cy="79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27"/>
          <p:cNvSpPr txBox="1"/>
          <p:nvPr/>
        </p:nvSpPr>
        <p:spPr>
          <a:xfrm>
            <a:off x="8291998" y="2052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000" b="1" dirty="0" smtClean="0">
                <a:solidFill>
                  <a:srgbClr val="22E6FF"/>
                </a:solidFill>
                <a:latin typeface="Calibri"/>
              </a:rPr>
              <a:t>Ta'lim</a:t>
            </a:r>
          </a:p>
        </p:txBody>
      </p:sp>
      <p:sp>
        <p:nvSpPr>
          <p:cNvPr id="28" name="t28"/>
          <p:cNvSpPr txBox="1"/>
          <p:nvPr/>
        </p:nvSpPr>
        <p:spPr>
          <a:xfrm>
            <a:off x="8291998" y="2376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Xavfsiz mashq</a:t>
            </a:r>
          </a:p>
        </p:txBody>
      </p:sp>
    </p:spTree>
  </p:cSld>
  <p:clrMapOvr>
    <a:masterClr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10 · TO'SIQLAR VA YECHIMLAR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180000" y="684000"/>
            <a:ext cx="5688000" cy="2700000"/>
          </a:xfrm>
          <a:prstGeom prst="rect">
            <a:avLst/>
          </a:prstGeom>
          <a:solidFill>
            <a:srgbClr val="2A102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5"/>
          <p:cNvSpPr txBox="1"/>
          <p:nvPr/>
        </p:nvSpPr>
        <p:spPr>
          <a:xfrm>
            <a:off x="324000" y="792000"/>
            <a:ext cx="504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FF52D9"/>
                </a:solidFill>
                <a:latin typeface="Calibri"/>
              </a:rPr>
              <a:t>MUAMMOLAR</a:t>
            </a:r>
          </a:p>
        </p:txBody>
      </p:sp>
      <p:sp>
        <p:nvSpPr>
          <p:cNvPr id="6" name="r6"/>
          <p:cNvSpPr>
            <a:spLocks noGrp="1"/>
          </p:cNvSpPr>
          <p:nvPr/>
        </p:nvSpPr>
        <p:spPr>
          <a:xfrm>
            <a:off x="324000" y="1231200"/>
            <a:ext cx="57600" cy="576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7"/>
          <p:cNvSpPr txBox="1"/>
          <p:nvPr/>
        </p:nvSpPr>
        <p:spPr>
          <a:xfrm>
            <a:off x="449999" y="11520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Ma'lumotlar maxfiyligi va kiberxavfsizlik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324000" y="1533600"/>
            <a:ext cx="57600" cy="576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9"/>
          <p:cNvSpPr txBox="1"/>
          <p:nvPr/>
        </p:nvSpPr>
        <p:spPr>
          <a:xfrm>
            <a:off x="449999" y="14544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Yuqori boshlang'ich xarajat va infratuzilma</a:t>
            </a:r>
          </a:p>
        </p:txBody>
      </p:sp>
      <p:sp>
        <p:nvSpPr>
          <p:cNvPr id="10" name="r10"/>
          <p:cNvSpPr>
            <a:spLocks noGrp="1"/>
          </p:cNvSpPr>
          <p:nvPr/>
        </p:nvSpPr>
        <p:spPr>
          <a:xfrm>
            <a:off x="324000" y="1836000"/>
            <a:ext cx="57600" cy="576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11"/>
          <p:cNvSpPr txBox="1"/>
          <p:nvPr/>
        </p:nvSpPr>
        <p:spPr>
          <a:xfrm>
            <a:off x="449999" y="17568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Huquqiy-etik baza va javobgarlik</a:t>
            </a:r>
          </a:p>
        </p:txBody>
      </p:sp>
      <p:sp>
        <p:nvSpPr>
          <p:cNvPr id="12" name="r12"/>
          <p:cNvSpPr>
            <a:spLocks noGrp="1"/>
          </p:cNvSpPr>
          <p:nvPr/>
        </p:nvSpPr>
        <p:spPr>
          <a:xfrm>
            <a:off x="324000" y="2138400"/>
            <a:ext cx="57600" cy="576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13"/>
          <p:cNvSpPr txBox="1"/>
          <p:nvPr/>
        </p:nvSpPr>
        <p:spPr>
          <a:xfrm>
            <a:off x="449999" y="20592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Raqamli tengsizlik (internet / qurilma)</a:t>
            </a:r>
          </a:p>
        </p:txBody>
      </p:sp>
      <p:sp>
        <p:nvSpPr>
          <p:cNvPr id="14" name="r14"/>
          <p:cNvSpPr>
            <a:spLocks noGrp="1"/>
          </p:cNvSpPr>
          <p:nvPr/>
        </p:nvSpPr>
        <p:spPr>
          <a:xfrm>
            <a:off x="324000" y="2440800"/>
            <a:ext cx="57600" cy="576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15"/>
          <p:cNvSpPr txBox="1"/>
          <p:nvPr/>
        </p:nvSpPr>
        <p:spPr>
          <a:xfrm>
            <a:off x="449999" y="23616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Kadrlar malakasi va qarshilik</a:t>
            </a:r>
          </a:p>
        </p:txBody>
      </p:sp>
      <p:sp>
        <p:nvSpPr>
          <p:cNvPr id="16" name="r16"/>
          <p:cNvSpPr>
            <a:spLocks noGrp="1"/>
          </p:cNvSpPr>
          <p:nvPr/>
        </p:nvSpPr>
        <p:spPr>
          <a:xfrm>
            <a:off x="6228000" y="684000"/>
            <a:ext cx="5688000" cy="2700000"/>
          </a:xfrm>
          <a:prstGeom prst="rect">
            <a:avLst/>
          </a:prstGeom>
          <a:solidFill>
            <a:srgbClr val="0D2030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17"/>
          <p:cNvSpPr txBox="1"/>
          <p:nvPr/>
        </p:nvSpPr>
        <p:spPr>
          <a:xfrm>
            <a:off x="6372000" y="792000"/>
            <a:ext cx="504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22E6FF"/>
                </a:solidFill>
                <a:latin typeface="Calibri"/>
              </a:rPr>
              <a:t>YECHIMLAR</a:t>
            </a:r>
          </a:p>
        </p:txBody>
      </p:sp>
      <p:sp>
        <p:nvSpPr>
          <p:cNvPr id="18" name="r18"/>
          <p:cNvSpPr>
            <a:spLocks noGrp="1"/>
          </p:cNvSpPr>
          <p:nvPr/>
        </p:nvSpPr>
        <p:spPr>
          <a:xfrm>
            <a:off x="6372000" y="12312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19"/>
          <p:cNvSpPr txBox="1"/>
          <p:nvPr/>
        </p:nvSpPr>
        <p:spPr>
          <a:xfrm>
            <a:off x="6497999" y="11520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Shifrlash va standartlar (HL7/FHIR, GDPR)</a:t>
            </a:r>
          </a:p>
        </p:txBody>
      </p:sp>
      <p:sp>
        <p:nvSpPr>
          <p:cNvPr id="20" name="r20"/>
          <p:cNvSpPr>
            <a:spLocks noGrp="1"/>
          </p:cNvSpPr>
          <p:nvPr/>
        </p:nvSpPr>
        <p:spPr>
          <a:xfrm>
            <a:off x="6372000" y="15336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21"/>
          <p:cNvSpPr txBox="1"/>
          <p:nvPr/>
        </p:nvSpPr>
        <p:spPr>
          <a:xfrm>
            <a:off x="6497999" y="14544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Bosqichma-bosqich joriy etish va pilotlar</a:t>
            </a:r>
          </a:p>
        </p:txBody>
      </p:sp>
      <p:sp>
        <p:nvSpPr>
          <p:cNvPr id="22" name="r22"/>
          <p:cNvSpPr>
            <a:spLocks noGrp="1"/>
          </p:cNvSpPr>
          <p:nvPr/>
        </p:nvSpPr>
        <p:spPr>
          <a:xfrm>
            <a:off x="6372000" y="18360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23"/>
          <p:cNvSpPr txBox="1"/>
          <p:nvPr/>
        </p:nvSpPr>
        <p:spPr>
          <a:xfrm>
            <a:off x="6497999" y="17568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Aniq normativ-huquqiy hujjatlar</a:t>
            </a:r>
          </a:p>
        </p:txBody>
      </p:sp>
      <p:sp>
        <p:nvSpPr>
          <p:cNvPr id="24" name="r24"/>
          <p:cNvSpPr>
            <a:spLocks noGrp="1"/>
          </p:cNvSpPr>
          <p:nvPr/>
        </p:nvSpPr>
        <p:spPr>
          <a:xfrm>
            <a:off x="6372000" y="21384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25"/>
          <p:cNvSpPr txBox="1"/>
          <p:nvPr/>
        </p:nvSpPr>
        <p:spPr>
          <a:xfrm>
            <a:off x="6497999" y="20592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Davlat dasturlari va internet qamrovi</a:t>
            </a:r>
          </a:p>
        </p:txBody>
      </p:sp>
      <p:sp>
        <p:nvSpPr>
          <p:cNvPr id="26" name="r26"/>
          <p:cNvSpPr>
            <a:spLocks noGrp="1"/>
          </p:cNvSpPr>
          <p:nvPr/>
        </p:nvSpPr>
        <p:spPr>
          <a:xfrm>
            <a:off x="6372000" y="24408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27"/>
          <p:cNvSpPr txBox="1"/>
          <p:nvPr/>
        </p:nvSpPr>
        <p:spPr>
          <a:xfrm>
            <a:off x="6497999" y="23616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Calibri"/>
              </a:rPr>
              <a:t>Uzluksiz o'qitish va sertifikatsiya</a:t>
            </a:r>
          </a:p>
        </p:txBody>
      </p:sp>
    </p:spTree>
  </p:cSld>
  <p:clrMapOvr>
    <a:masterClr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11 · ISTIQBOL YO'NALISHLARI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180000" y="720000"/>
            <a:ext cx="3780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r5"/>
          <p:cNvSpPr>
            <a:spLocks noGrp="1"/>
          </p:cNvSpPr>
          <p:nvPr/>
        </p:nvSpPr>
        <p:spPr>
          <a:xfrm>
            <a:off x="180000" y="720000"/>
            <a:ext cx="3780000" cy="90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6"/>
          <p:cNvSpPr txBox="1"/>
          <p:nvPr/>
        </p:nvSpPr>
        <p:spPr>
          <a:xfrm>
            <a:off x="288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Calibri"/>
              </a:rPr>
              <a:t>Raqamli egizak</a:t>
            </a:r>
          </a:p>
        </p:txBody>
      </p:sp>
      <p:sp>
        <p:nvSpPr>
          <p:cNvPr id="7" name="t7"/>
          <p:cNvSpPr txBox="1"/>
          <p:nvPr/>
        </p:nvSpPr>
        <p:spPr>
          <a:xfrm>
            <a:off x="288000" y="1206000"/>
            <a:ext cx="36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Bemorning virtual modeli orqali davoni oldindan sinash.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4176000" y="720000"/>
            <a:ext cx="3780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9"/>
          <p:cNvSpPr>
            <a:spLocks noGrp="1"/>
          </p:cNvSpPr>
          <p:nvPr/>
        </p:nvSpPr>
        <p:spPr>
          <a:xfrm>
            <a:off x="4176000" y="720000"/>
            <a:ext cx="3780000" cy="900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10"/>
          <p:cNvSpPr txBox="1"/>
          <p:nvPr/>
        </p:nvSpPr>
        <p:spPr>
          <a:xfrm>
            <a:off x="4284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Calibri"/>
              </a:rPr>
              <a:t>Generativ AI</a:t>
            </a:r>
          </a:p>
        </p:txBody>
      </p:sp>
      <p:sp>
        <p:nvSpPr>
          <p:cNvPr id="11" name="t11"/>
          <p:cNvSpPr txBox="1"/>
          <p:nvPr/>
        </p:nvSpPr>
        <p:spPr>
          <a:xfrm>
            <a:off x="4284000" y="1206000"/>
            <a:ext cx="36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Hujjat, tavsiya va ta'limda yangi avlod yordamchilari.</a:t>
            </a:r>
          </a:p>
        </p:txBody>
      </p:sp>
      <p:sp>
        <p:nvSpPr>
          <p:cNvPr id="12" name="r12"/>
          <p:cNvSpPr>
            <a:spLocks noGrp="1"/>
          </p:cNvSpPr>
          <p:nvPr/>
        </p:nvSpPr>
        <p:spPr>
          <a:xfrm>
            <a:off x="8172000" y="720000"/>
            <a:ext cx="3780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r13"/>
          <p:cNvSpPr>
            <a:spLocks noGrp="1"/>
          </p:cNvSpPr>
          <p:nvPr/>
        </p:nvSpPr>
        <p:spPr>
          <a:xfrm>
            <a:off x="8172000" y="720000"/>
            <a:ext cx="3780000" cy="900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14"/>
          <p:cNvSpPr txBox="1"/>
          <p:nvPr/>
        </p:nvSpPr>
        <p:spPr>
          <a:xfrm>
            <a:off x="8280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Calibri"/>
              </a:rPr>
              <a:t>Metaverse-klinika</a:t>
            </a:r>
          </a:p>
        </p:txBody>
      </p:sp>
      <p:sp>
        <p:nvSpPr>
          <p:cNvPr id="15" name="t15"/>
          <p:cNvSpPr txBox="1"/>
          <p:nvPr/>
        </p:nvSpPr>
        <p:spPr>
          <a:xfrm>
            <a:off x="8280000" y="1206000"/>
            <a:ext cx="36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Calibri"/>
              </a:rPr>
              <a:t>Immersiv virtual qabulxonalar va jamoaviy operatsiya.</a:t>
            </a:r>
          </a:p>
        </p:txBody>
      </p:sp>
      <p:sp>
        <p:nvSpPr>
          <p:cNvPr id="16" name="t16"/>
          <p:cNvSpPr txBox="1"/>
          <p:nvPr/>
        </p:nvSpPr>
        <p:spPr>
          <a:xfrm>
            <a:off x="216000" y="2160000"/>
            <a:ext cx="1152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500" b="1" dirty="0" smtClean="0">
                <a:solidFill>
                  <a:srgbClr val="22E6FF"/>
                </a:solidFill>
                <a:latin typeface="Calibri"/>
              </a:rPr>
              <a:t>Texnologiyalar shifokorni ALMASHTIRMAYDI — imkoniyatlarini kuchaytiradi.</a:t>
            </a:r>
          </a:p>
          <a:p>
            <a:pPr algn="l" indent="0" marL="0"/>
            <a:r>
              <a:rPr lang="uz-UZ" sz="1400" b="0" dirty="0" smtClean="0">
                <a:solidFill>
                  <a:srgbClr val="9AA6D6"/>
                </a:solidFill>
                <a:latin typeface="Calibri"/>
              </a:rPr>
              <a:t>Qaror baribir inson zimmasida qoladi.</a:t>
            </a:r>
          </a:p>
        </p:txBody>
      </p:sp>
    </p:spTree>
  </p:cSld>
  <p:clrMapOvr>
    <a:masterClr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ASOSIY XULOSALAR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360000" y="8712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5"/>
          <p:cNvSpPr txBox="1"/>
          <p:nvPr/>
        </p:nvSpPr>
        <p:spPr>
          <a:xfrm>
            <a:off x="485999" y="792000"/>
            <a:ext cx="110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500" b="0" dirty="0" smtClean="0">
                <a:solidFill>
                  <a:srgbClr val="EAF0FF"/>
                </a:solidFill>
                <a:latin typeface="Calibri"/>
              </a:rPr>
              <a:t>VR/AR, AI va telemeditsina tashxis, davolash va reabilitatsiyani sifat jihatdan yangilaydi.</a:t>
            </a:r>
          </a:p>
        </p:txBody>
      </p:sp>
      <p:sp>
        <p:nvSpPr>
          <p:cNvPr id="6" name="r6"/>
          <p:cNvSpPr>
            <a:spLocks noGrp="1"/>
          </p:cNvSpPr>
          <p:nvPr/>
        </p:nvSpPr>
        <p:spPr>
          <a:xfrm>
            <a:off x="360000" y="11736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7"/>
          <p:cNvSpPr txBox="1"/>
          <p:nvPr/>
        </p:nvSpPr>
        <p:spPr>
          <a:xfrm>
            <a:off x="485999" y="1094400"/>
            <a:ext cx="110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500" b="0" dirty="0" smtClean="0">
                <a:solidFill>
                  <a:srgbClr val="EAF0FF"/>
                </a:solidFill>
                <a:latin typeface="Calibri"/>
              </a:rPr>
              <a:t>Ularning integratsiyasi uzluksiz bemor yo'lini (tashxis -&gt; davo -&gt; tiklanish) yaratadi.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360000" y="14760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9"/>
          <p:cNvSpPr txBox="1"/>
          <p:nvPr/>
        </p:nvSpPr>
        <p:spPr>
          <a:xfrm>
            <a:off x="485999" y="1396800"/>
            <a:ext cx="110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500" b="0" dirty="0" smtClean="0">
                <a:solidFill>
                  <a:srgbClr val="EAF0FF"/>
                </a:solidFill>
                <a:latin typeface="Calibri"/>
              </a:rPr>
              <a:t>Maxfiylik, etika va kadrlar tayyorgarligi — muvaffaqiyatning asosiy sharti.</a:t>
            </a:r>
          </a:p>
        </p:txBody>
      </p:sp>
      <p:sp>
        <p:nvSpPr>
          <p:cNvPr id="10" name="r10"/>
          <p:cNvSpPr>
            <a:spLocks noGrp="1"/>
          </p:cNvSpPr>
          <p:nvPr/>
        </p:nvSpPr>
        <p:spPr>
          <a:xfrm>
            <a:off x="360000" y="17784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11"/>
          <p:cNvSpPr txBox="1"/>
          <p:nvPr/>
        </p:nvSpPr>
        <p:spPr>
          <a:xfrm>
            <a:off x="485999" y="1699200"/>
            <a:ext cx="110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500" b="0" dirty="0" smtClean="0">
                <a:solidFill>
                  <a:srgbClr val="EAF0FF"/>
                </a:solidFill>
                <a:latin typeface="Calibri"/>
              </a:rPr>
              <a:t>Bosqichma-bosqich va inson nazorati ostida joriy etish eng samarali yondashuv.</a:t>
            </a:r>
          </a:p>
        </p:txBody>
      </p:sp>
    </p:spTree>
  </p:cSld>
  <p:clrMapOvr>
    <a:masterClr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70713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>
            <a:spLocks noGrp="1"/>
          </p:cNvSpPr>
          <p:nvPr/>
        </p:nvSpPr>
        <p:spPr>
          <a:xfrm>
            <a:off x="0" y="0"/>
            <a:ext cx="12192119" cy="162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0" y="6696000"/>
            <a:ext cx="12192119" cy="162000"/>
          </a:xfrm>
          <a:prstGeom prst="rect">
            <a:avLst/>
          </a:prstGeom>
          <a:solidFill>
            <a:srgbClr val="1CB3CC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5"/>
          <p:cNvSpPr txBox="1"/>
          <p:nvPr/>
        </p:nvSpPr>
        <p:spPr>
          <a:xfrm>
            <a:off x="0" y="1080000"/>
            <a:ext cx="12192119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3600" b="1" dirty="0" smtClean="0">
                <a:solidFill>
                  <a:srgbClr val="FFFFFF"/>
                </a:solidFill>
                <a:latin typeface="Calibri"/>
              </a:rPr>
              <a:t>E'tiboringiz uchun rahmat!</a:t>
            </a:r>
          </a:p>
        </p:txBody>
      </p:sp>
      <p:sp>
        <p:nvSpPr>
          <p:cNvPr id="6" name="t6"/>
          <p:cNvSpPr txBox="1"/>
          <p:nvPr/>
        </p:nvSpPr>
        <p:spPr>
          <a:xfrm>
            <a:off x="0" y="1980000"/>
            <a:ext cx="12192119" cy="43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800" b="0" dirty="0" smtClean="0">
                <a:solidFill>
                  <a:srgbClr val="22E6FF"/>
                </a:solidFill>
                <a:latin typeface="Calibri"/>
              </a:rPr>
              <a:t>Kelajak tibbiyoti — texnologiya va insoniylikning uyg'unligi.</a:t>
            </a:r>
          </a:p>
        </p:txBody>
      </p:sp>
      <p:sp>
        <p:nvSpPr>
          <p:cNvPr id="7" name="t7"/>
          <p:cNvSpPr txBox="1"/>
          <p:nvPr/>
        </p:nvSpPr>
        <p:spPr>
          <a:xfrm>
            <a:off x="0" y="2700000"/>
            <a:ext cx="12192119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400" b="0" dirty="0" smtClean="0">
                <a:solidFill>
                  <a:srgbClr val="9AA6D6"/>
                </a:solidFill>
                <a:latin typeface="Calibri"/>
              </a:rPr>
              <a:t>MedTech  ·  2026</a:t>
            </a:r>
          </a:p>
        </p:txBody>
      </p:sp>
    </p:spTree>
  </p:cSld>
  <p:clrMapOvr>
    <a:masterClr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lastClr="000000" val="windowText"/>
      </a:dk1>
      <a:lt1>
        <a:sysClr lastClr="FFFFFF" val="window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>
  <dc:title>VR/AR, AI va telemeditsina-telereabilitatsiyani klinik amaliyotga joriy etish</dc:title>
  <dc:creator>Kiro AI</dc:creator>
</cp:coreProperties>
</file>