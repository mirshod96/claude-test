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  <Relationship Id="rId2"
    Type="http://schemas.openxmlformats.org/package/2006/relationships/metadata/core-properties"
    Target="docProps/core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Sz cx="12192119" cy="6858000" type="custom"/>
  <p:notesSz cx="12192119" cy="6858000"/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defaultTextStyle/>
</p:presentation>
</file>

<file path=ppt/_rels/presentation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slideMasters/slideMaster1.xml"/>
  <Relationship Id="rId2"
    Type="http://schemas.openxmlformats.org/officeDocument/2006/relationships/theme"
   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7071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1CB3C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251999"/>
            <a:ext cx="792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100" b="1" dirty="0">
                <a:solidFill>
                  <a:srgbClr val="22E6FF"/>
                </a:solidFill>
              </a:rPr>
              <a:t>RAQAMLI SOG'LIQNI SAQLASH  ·  DIGITAL HEALTH  ·  2026</a:t>
            </a:r>
          </a:p>
        </p:txBody>
      </p:sp>
      <p:sp>
        <p:nvSpPr>
          <p:cNvPr id="20" name="tb"/>
          <p:cNvSpPr txBox="1"/>
          <p:nvPr/>
        </p:nvSpPr>
        <p:spPr>
          <a:xfrm>
            <a:off x="216000" y="720000"/>
            <a:ext cx="9360000" cy="144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800" b="1" dirty="0">
                <a:solidFill>
                  <a:srgbClr val="FFFFFF"/>
                </a:solidFill>
              </a:rPr>
              <a:t>VR/AR, sun'iy intellekt (AI) va</a:t>
            </a:r>
          </a:p>
          <a:p>
            <a:pPr algn="l" indent="0" marL="0"/>
            <a:r>
              <a:rPr lang="uz-UZ" sz="2800" b="1" dirty="0">
                <a:solidFill>
                  <a:srgbClr val="FFFFFF"/>
                </a:solidFill>
              </a:rPr>
              <a:t>telemeditsina-telereabilitatsiya</a:t>
            </a:r>
          </a:p>
          <a:p>
            <a:pPr algn="l" indent="0" marL="0"/>
            <a:r>
              <a:rPr lang="uz-UZ" sz="2800" b="1" dirty="0">
                <a:solidFill>
                  <a:srgbClr val="22E6FF"/>
                </a:solidFill>
              </a:rPr>
              <a:t>texnologiyalarini klinik</a:t>
            </a:r>
          </a:p>
          <a:p>
            <a:pPr algn="l" indent="0" marL="0"/>
            <a:r>
              <a:rPr lang="uz-UZ" sz="2800" b="1" dirty="0">
                <a:solidFill>
                  <a:srgbClr val="22E6FF"/>
                </a:solidFill>
              </a:rPr>
              <a:t>amaliyotga joriy etish</a:t>
            </a:r>
          </a:p>
        </p:txBody>
      </p:sp>
      <p:sp>
        <p:nvSpPr>
          <p:cNvPr id="20" name="tb"/>
          <p:cNvSpPr txBox="1"/>
          <p:nvPr/>
        </p:nvSpPr>
        <p:spPr>
          <a:xfrm>
            <a:off x="216000" y="2340000"/>
            <a:ext cx="9360000" cy="576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9AA6D6"/>
                </a:solidFill>
              </a:rPr>
              <a:t>Zamonaviy raqamli texnologiyalar tashxis, davolash va reabilitatsiyani</a:t>
            </a:r>
          </a:p>
          <a:p>
            <a:pPr algn="l" indent="0" marL="0"/>
            <a:r>
              <a:rPr lang="uz-UZ" sz="1400" b="0" dirty="0">
                <a:solidFill>
                  <a:srgbClr val="9AA6D6"/>
                </a:solidFill>
              </a:rPr>
              <a:t>qanday o'zgartirmoqda — imkoniyatlar, misollar va istiqbollar.</a:t>
            </a:r>
          </a:p>
        </p:txBody>
      </p:sp>
      <p:sp>
        <p:nvSpPr>
          <p:cNvPr id="20" name="tb"/>
          <p:cNvSpPr txBox="1"/>
          <p:nvPr/>
        </p:nvSpPr>
        <p:spPr>
          <a:xfrm>
            <a:off x="216000" y="3024000"/>
            <a:ext cx="79200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9AA6D6"/>
                </a:solidFill>
              </a:rPr>
              <a:t>MedTech  ·  2026  ·  15 slayd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7071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TAQDIMOT REJASI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16000" y="799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52800" y="720000"/>
            <a:ext cx="526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EAF0FF"/>
                </a:solidFill>
              </a:rPr>
              <a:t>01 – Raqamli tibbiyot inqilobi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16000" y="1069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52800" y="990000"/>
            <a:ext cx="526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EAF0FF"/>
                </a:solidFill>
              </a:rPr>
              <a:t>02 – VR/AR: tushuncha va texnologiya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16000" y="1339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52800" y="1260000"/>
            <a:ext cx="526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EAF0FF"/>
                </a:solidFill>
              </a:rPr>
              <a:t>03 – VR/AR klinik amaliyotda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16000" y="1609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52800" y="1530000"/>
            <a:ext cx="526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EAF0FF"/>
                </a:solidFill>
              </a:rPr>
              <a:t>04 – Sun'iy intellekt (AI) asoslari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120000" y="799200"/>
            <a:ext cx="64800" cy="64800"/>
          </a:xfrm>
          <a:prstGeom prst="rect">
            <a:avLst/>
          </a:prstGeom>
          <a:solidFill>
            <a:srgbClr val="FF52D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256800" y="720000"/>
            <a:ext cx="56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EAF0FF"/>
                </a:solidFill>
              </a:rPr>
              <a:t>05 – AI tashxis va davolashda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120000" y="1069200"/>
            <a:ext cx="64800" cy="64800"/>
          </a:xfrm>
          <a:prstGeom prst="rect">
            <a:avLst/>
          </a:prstGeom>
          <a:solidFill>
            <a:srgbClr val="FF52D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256800" y="990000"/>
            <a:ext cx="56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EAF0FF"/>
                </a:solidFill>
              </a:rPr>
              <a:t>06 – Telemeditsina imkoniyatlari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120000" y="1339200"/>
            <a:ext cx="64800" cy="64800"/>
          </a:xfrm>
          <a:prstGeom prst="rect">
            <a:avLst/>
          </a:prstGeom>
          <a:solidFill>
            <a:srgbClr val="FF52D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256800" y="1260000"/>
            <a:ext cx="56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EAF0FF"/>
                </a:solidFill>
              </a:rPr>
              <a:t>07 – Telereabilitatsiya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120000" y="1609200"/>
            <a:ext cx="64800" cy="64800"/>
          </a:xfrm>
          <a:prstGeom prst="rect">
            <a:avLst/>
          </a:prstGeom>
          <a:solidFill>
            <a:srgbClr val="FF52D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256800" y="1530000"/>
            <a:ext cx="56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EAF0FF"/>
                </a:solidFill>
              </a:rPr>
              <a:t>08 – Afzalliklar, chaqiriqlar, istiqbol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7071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01 · RAQAMLI TIBBIYOT INQILOBI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90000" cy="23400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96000" y="720000"/>
            <a:ext cx="5400000" cy="90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EAF0FF"/>
                </a:solidFill>
              </a:rPr>
              <a:t>Tibbiyot an'anaviy modeldan ma'lumotlarga asoslangan,</a:t>
            </a:r>
          </a:p>
          <a:p>
            <a:pPr algn="l" indent="0" marL="0"/>
            <a:r>
              <a:rPr lang="uz-UZ" sz="1400" b="0" dirty="0">
                <a:solidFill>
                  <a:srgbClr val="EAF0FF"/>
                </a:solidFill>
              </a:rPr>
              <a:t>bemorga yo'naltirilgan va masofadan boshqariladigan</a:t>
            </a:r>
          </a:p>
          <a:p>
            <a:pPr algn="l" indent="0" marL="0"/>
            <a:r>
              <a:rPr lang="uz-UZ" sz="1400" b="0" dirty="0">
                <a:solidFill>
                  <a:srgbClr val="EAF0FF"/>
                </a:solidFill>
              </a:rPr>
              <a:t>tizimga o'tmoqda. VR/AR, AI va telemeditsina — shu</a:t>
            </a:r>
          </a:p>
          <a:p>
            <a:pPr algn="l" indent="0" marL="0"/>
            <a:r>
              <a:rPr lang="uz-UZ" sz="1400" b="0" dirty="0">
                <a:solidFill>
                  <a:srgbClr val="EAF0FF"/>
                </a:solidFill>
              </a:rPr>
              <a:t>o'zgarishning uch ustuni.</a:t>
            </a:r>
          </a:p>
        </p:txBody>
      </p:sp>
      <p:sp>
        <p:nvSpPr>
          <p:cNvPr id="20" name="tb"/>
          <p:cNvSpPr txBox="1"/>
          <p:nvPr/>
        </p:nvSpPr>
        <p:spPr>
          <a:xfrm>
            <a:off x="396000" y="1728000"/>
            <a:ext cx="54000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22E6FF"/>
                </a:solidFill>
              </a:rPr>
              <a:t>Aniqlik tibbiyoti  ·  Profilaktika  ·  Masofaviy g'amxo'rlik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480000" y="648000"/>
            <a:ext cx="5472000" cy="252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623999" y="827999"/>
            <a:ext cx="5184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600" b="1" dirty="0">
                <a:solidFill>
                  <a:srgbClr val="FFFFFF"/>
                </a:solidFill>
              </a:rPr>
              <a:t>Nega aynan hozir?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623999" y="1303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760799" y="1224000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Hisoblash quvvati va bulutli xizmatlar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623999" y="1573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760799" y="1494000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Katta tibbiy ma'lumotlar (Big Data)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623999" y="1843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760799" y="1764000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5G va kiyiladigan qurilmalar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623999" y="2113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760799" y="2034000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Pandemiyadan keyingi raqamli talab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7071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02 · VIRTUAL VA KENGAYTIRILGAN REALLIK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3780000" cy="126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3780000" cy="1080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88000" y="918000"/>
            <a:ext cx="3564000" cy="32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1" dirty="0">
                <a:solidFill>
                  <a:srgbClr val="FFFFFF"/>
                </a:solidFill>
              </a:rPr>
              <a:t>VR — Virtual reallik</a:t>
            </a:r>
          </a:p>
        </p:txBody>
      </p:sp>
      <p:sp>
        <p:nvSpPr>
          <p:cNvPr id="20" name="tb"/>
          <p:cNvSpPr txBox="1"/>
          <p:nvPr/>
        </p:nvSpPr>
        <p:spPr>
          <a:xfrm>
            <a:off x="288000" y="1260000"/>
            <a:ext cx="3564000" cy="64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9AA6D6"/>
                </a:solidFill>
              </a:rPr>
              <a:t>Foydalanuvchini to'liq raqamli muhitga 'botiradi'. Trening va simulyatsiya uchun ideal.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176000" y="720000"/>
            <a:ext cx="3780000" cy="126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176000" y="720000"/>
            <a:ext cx="3780000" cy="1080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284000" y="918000"/>
            <a:ext cx="3564000" cy="32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1" dirty="0">
                <a:solidFill>
                  <a:srgbClr val="FFFFFF"/>
                </a:solidFill>
              </a:rPr>
              <a:t>AR — Kengaytirilgan reallik</a:t>
            </a:r>
          </a:p>
        </p:txBody>
      </p:sp>
      <p:sp>
        <p:nvSpPr>
          <p:cNvPr id="20" name="tb"/>
          <p:cNvSpPr txBox="1"/>
          <p:nvPr/>
        </p:nvSpPr>
        <p:spPr>
          <a:xfrm>
            <a:off x="4284000" y="1260000"/>
            <a:ext cx="3564000" cy="64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9AA6D6"/>
                </a:solidFill>
              </a:rPr>
              <a:t>Real dunyo ustiga raqamli ma'lumot qo'shadi — masalan operatsiya paytida.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172000" y="720000"/>
            <a:ext cx="3780000" cy="126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172000" y="720000"/>
            <a:ext cx="3780000" cy="108000"/>
          </a:xfrm>
          <a:prstGeom prst="rect">
            <a:avLst/>
          </a:prstGeom>
          <a:solidFill>
            <a:srgbClr val="FF52D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8280000" y="918000"/>
            <a:ext cx="3564000" cy="32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1" dirty="0">
                <a:solidFill>
                  <a:srgbClr val="FFFFFF"/>
                </a:solidFill>
              </a:rPr>
              <a:t>MR — Aralash reallik</a:t>
            </a:r>
          </a:p>
        </p:txBody>
      </p:sp>
      <p:sp>
        <p:nvSpPr>
          <p:cNvPr id="20" name="tb"/>
          <p:cNvSpPr txBox="1"/>
          <p:nvPr/>
        </p:nvSpPr>
        <p:spPr>
          <a:xfrm>
            <a:off x="8280000" y="1260000"/>
            <a:ext cx="3564000" cy="64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9AA6D6"/>
                </a:solidFill>
              </a:rPr>
              <a:t>VR va AR sintezi: virtual ob'ektlar real muhit bilan o'zaro ta'sirlashadi.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2160000"/>
            <a:ext cx="3780000" cy="90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51999" y="2232000"/>
            <a:ext cx="360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2600" b="1" dirty="0">
                <a:solidFill>
                  <a:srgbClr val="22E6FF"/>
                </a:solidFill>
              </a:rPr>
              <a:t>3D</a:t>
            </a:r>
          </a:p>
        </p:txBody>
      </p:sp>
      <p:sp>
        <p:nvSpPr>
          <p:cNvPr id="20" name="tb"/>
          <p:cNvSpPr txBox="1"/>
          <p:nvPr/>
        </p:nvSpPr>
        <p:spPr>
          <a:xfrm>
            <a:off x="251999" y="2520000"/>
            <a:ext cx="3600000" cy="432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200" b="0" dirty="0">
                <a:solidFill>
                  <a:srgbClr val="9AA6D6"/>
                </a:solidFill>
              </a:rPr>
              <a:t>Anatomiyani hajmli o'rganish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212000" y="2160000"/>
            <a:ext cx="3780000" cy="90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284000" y="2232000"/>
            <a:ext cx="360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2600" b="1" dirty="0">
                <a:solidFill>
                  <a:srgbClr val="22E6FF"/>
                </a:solidFill>
              </a:rPr>
              <a:t>↑ 80%</a:t>
            </a:r>
          </a:p>
        </p:txBody>
      </p:sp>
      <p:sp>
        <p:nvSpPr>
          <p:cNvPr id="20" name="tb"/>
          <p:cNvSpPr txBox="1"/>
          <p:nvPr/>
        </p:nvSpPr>
        <p:spPr>
          <a:xfrm>
            <a:off x="4284000" y="2520000"/>
            <a:ext cx="3600000" cy="432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200" b="0" dirty="0">
                <a:solidFill>
                  <a:srgbClr val="9AA6D6"/>
                </a:solidFill>
              </a:rPr>
              <a:t>Bilimni eslab qolish (immersiv ta'lim)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243999" y="2160000"/>
            <a:ext cx="3780000" cy="90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8316000" y="2232000"/>
            <a:ext cx="360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2600" b="1" dirty="0">
                <a:solidFill>
                  <a:srgbClr val="22E6FF"/>
                </a:solidFill>
              </a:rPr>
              <a:t>0 risk</a:t>
            </a:r>
          </a:p>
        </p:txBody>
      </p:sp>
      <p:sp>
        <p:nvSpPr>
          <p:cNvPr id="20" name="tb"/>
          <p:cNvSpPr txBox="1"/>
          <p:nvPr/>
        </p:nvSpPr>
        <p:spPr>
          <a:xfrm>
            <a:off x="8316000" y="2520000"/>
            <a:ext cx="3600000" cy="432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200" b="0" dirty="0">
                <a:solidFill>
                  <a:srgbClr val="9AA6D6"/>
                </a:solidFill>
              </a:rPr>
              <a:t>Bemorsiz xavfsiz mashq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7071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03 · VR/AR KLINIK AMALIYOTDA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5580000" cy="126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108000" cy="12600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60000" y="792000"/>
            <a:ext cx="5328001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1" dirty="0">
                <a:solidFill>
                  <a:srgbClr val="FFFFFF"/>
                </a:solidFill>
              </a:rPr>
              <a:t>Xirurgik trening va rejalashtirish</a:t>
            </a:r>
          </a:p>
        </p:txBody>
      </p:sp>
      <p:sp>
        <p:nvSpPr>
          <p:cNvPr id="20" name="tb"/>
          <p:cNvSpPr txBox="1"/>
          <p:nvPr/>
        </p:nvSpPr>
        <p:spPr>
          <a:xfrm>
            <a:off x="360000" y="1116000"/>
            <a:ext cx="5328001" cy="792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9AA6D6"/>
                </a:solidFill>
              </a:rPr>
              <a:t>Murakkab operatsiyalarni avval virtual mashq qilish, 3D rejalashtirish.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192000" y="720000"/>
            <a:ext cx="5580000" cy="126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192000" y="720000"/>
            <a:ext cx="108000" cy="12600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372000" y="792000"/>
            <a:ext cx="5328001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1" dirty="0">
                <a:solidFill>
                  <a:srgbClr val="FFFFFF"/>
                </a:solidFill>
              </a:rPr>
              <a:t>AR navigatsiya operatsiyada</a:t>
            </a:r>
          </a:p>
        </p:txBody>
      </p:sp>
      <p:sp>
        <p:nvSpPr>
          <p:cNvPr id="20" name="tb"/>
          <p:cNvSpPr txBox="1"/>
          <p:nvPr/>
        </p:nvSpPr>
        <p:spPr>
          <a:xfrm>
            <a:off x="6372000" y="1116000"/>
            <a:ext cx="5328001" cy="792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9AA6D6"/>
                </a:solidFill>
              </a:rPr>
              <a:t>Jarroh ko'rish maydoniga real vaqtda anatomik ma'lumot proyeksiyasi.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2124000"/>
            <a:ext cx="5580000" cy="126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2124000"/>
            <a:ext cx="108000" cy="1260000"/>
          </a:xfrm>
          <a:prstGeom prst="rect">
            <a:avLst/>
          </a:prstGeom>
          <a:solidFill>
            <a:srgbClr val="FF52D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60000" y="2196000"/>
            <a:ext cx="5328001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1" dirty="0">
                <a:solidFill>
                  <a:srgbClr val="FFFFFF"/>
                </a:solidFill>
              </a:rPr>
              <a:t>Og'riq va fobiyalarni boshqarish</a:t>
            </a:r>
          </a:p>
        </p:txBody>
      </p:sp>
      <p:sp>
        <p:nvSpPr>
          <p:cNvPr id="20" name="tb"/>
          <p:cNvSpPr txBox="1"/>
          <p:nvPr/>
        </p:nvSpPr>
        <p:spPr>
          <a:xfrm>
            <a:off x="360000" y="2520000"/>
            <a:ext cx="5328001" cy="792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9AA6D6"/>
                </a:solidFill>
              </a:rPr>
              <a:t>VR-distraksiya og'riqni kamaytiradi, qo'rquv terapiyasida qo'llanadi.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192000" y="2124000"/>
            <a:ext cx="5580000" cy="126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192000" y="2124000"/>
            <a:ext cx="108000" cy="12600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372000" y="2196000"/>
            <a:ext cx="5328001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1" dirty="0">
                <a:solidFill>
                  <a:srgbClr val="FFFFFF"/>
                </a:solidFill>
              </a:rPr>
              <a:t>Reabilitatsiya va ta'lim</a:t>
            </a:r>
          </a:p>
        </p:txBody>
      </p:sp>
      <p:sp>
        <p:nvSpPr>
          <p:cNvPr id="20" name="tb"/>
          <p:cNvSpPr txBox="1"/>
          <p:nvPr/>
        </p:nvSpPr>
        <p:spPr>
          <a:xfrm>
            <a:off x="6372000" y="2520000"/>
            <a:ext cx="5328001" cy="792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9AA6D6"/>
                </a:solidFill>
              </a:rPr>
              <a:t>Insultdan keyingi tiklanish uchun o'yinlashtirilgan mashqlar, simulyatorlar.</a:t>
            </a:r>
          </a:p>
        </p:txBody>
      </p:sp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7071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04 · SUN'IY INTELLEKT (AI) ASOSLARI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90000" cy="23400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96000" y="720000"/>
            <a:ext cx="5400000" cy="72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EAF0FF"/>
                </a:solidFill>
              </a:rPr>
              <a:t>AI — kompyuter tizimlarining katta ma'lumotlardan</a:t>
            </a:r>
          </a:p>
          <a:p>
            <a:pPr algn="l" indent="0" marL="0"/>
            <a:r>
              <a:rPr lang="uz-UZ" sz="1400" b="0" dirty="0">
                <a:solidFill>
                  <a:srgbClr val="EAF0FF"/>
                </a:solidFill>
              </a:rPr>
              <a:t>o'rganish, naqshlarni topish va qaror qabul qilish</a:t>
            </a:r>
          </a:p>
          <a:p>
            <a:pPr algn="l" indent="0" marL="0"/>
            <a:r>
              <a:rPr lang="uz-UZ" sz="1400" b="0" dirty="0">
                <a:solidFill>
                  <a:srgbClr val="EAF0FF"/>
                </a:solidFill>
              </a:rPr>
              <a:t>qobiliyatidir. Tibbiyotda ML, DL va NLP qo'llanadi.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96000" y="1627200"/>
            <a:ext cx="64800" cy="648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532800" y="1548000"/>
            <a:ext cx="544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ML — Mashinali o'qitish: ma'lumotdan qonuniyat topish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96000" y="1897200"/>
            <a:ext cx="64800" cy="648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532800" y="1818000"/>
            <a:ext cx="544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DL — Chuqur o'qitish: tasvir va signallarni tahlil qilish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96000" y="2167200"/>
            <a:ext cx="64800" cy="648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532800" y="2088000"/>
            <a:ext cx="544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NLP — Tabiiy til: tibbiy hujjatlarni avtomatik tahlil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480000" y="648000"/>
            <a:ext cx="5472000" cy="252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623999" y="827999"/>
            <a:ext cx="5184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600" b="1" dirty="0">
                <a:solidFill>
                  <a:srgbClr val="FFFFFF"/>
                </a:solidFill>
              </a:rPr>
              <a:t>AI nimani uddalaydi?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623999" y="1303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760799" y="1224000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Tibbiy tasvirlarni tahlil qilish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623999" y="1573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760799" y="1494000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Xavf-xatarni bashorat qilish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623999" y="1843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760799" y="1764000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Hujjatlarni avtomatlashtirish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623999" y="2113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760799" y="2034000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Shifokorga qaror qo'llab-quvvatlash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7071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05 · AI TASHXIS VA DAVOLASHDA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3780000" cy="1044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3780000" cy="900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52000" y="882000"/>
            <a:ext cx="3636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FFFFFF"/>
                </a:solidFill>
              </a:rPr>
              <a:t>Tibbiy tasvir tahlili</a:t>
            </a:r>
          </a:p>
        </p:txBody>
      </p:sp>
      <p:sp>
        <p:nvSpPr>
          <p:cNvPr id="20" name="tb"/>
          <p:cNvSpPr txBox="1"/>
          <p:nvPr/>
        </p:nvSpPr>
        <p:spPr>
          <a:xfrm>
            <a:off x="252000" y="1188000"/>
            <a:ext cx="3636000" cy="503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9AA6D6"/>
                </a:solidFill>
              </a:rPr>
              <a:t>Rentgen, KT, MRT va gistologiyada o'sma/patologiyani aniqlash.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176000" y="720000"/>
            <a:ext cx="3780000" cy="1044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176000" y="720000"/>
            <a:ext cx="3780000" cy="900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248000" y="882000"/>
            <a:ext cx="3636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FFFFFF"/>
                </a:solidFill>
              </a:rPr>
              <a:t>Bashoratli tahlil</a:t>
            </a:r>
          </a:p>
        </p:txBody>
      </p:sp>
      <p:sp>
        <p:nvSpPr>
          <p:cNvPr id="20" name="tb"/>
          <p:cNvSpPr txBox="1"/>
          <p:nvPr/>
        </p:nvSpPr>
        <p:spPr>
          <a:xfrm>
            <a:off x="4248000" y="1188000"/>
            <a:ext cx="3636000" cy="503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9AA6D6"/>
                </a:solidFill>
              </a:rPr>
              <a:t>Asoratlar va kasallik xavfini erta bashorat qilish.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172000" y="720000"/>
            <a:ext cx="3780000" cy="1044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172000" y="720000"/>
            <a:ext cx="3780000" cy="90000"/>
          </a:xfrm>
          <a:prstGeom prst="rect">
            <a:avLst/>
          </a:prstGeom>
          <a:solidFill>
            <a:srgbClr val="FF52D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8244000" y="882000"/>
            <a:ext cx="3636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FFFFFF"/>
                </a:solidFill>
              </a:rPr>
              <a:t>Shaxsiy davolash</a:t>
            </a:r>
          </a:p>
        </p:txBody>
      </p:sp>
      <p:sp>
        <p:nvSpPr>
          <p:cNvPr id="20" name="tb"/>
          <p:cNvSpPr txBox="1"/>
          <p:nvPr/>
        </p:nvSpPr>
        <p:spPr>
          <a:xfrm>
            <a:off x="8244000" y="1188000"/>
            <a:ext cx="3636000" cy="503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9AA6D6"/>
                </a:solidFill>
              </a:rPr>
              <a:t>Aniqlik tibbiyoti: har bir bemorga moslangan davo rejasi.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1889999"/>
            <a:ext cx="3780000" cy="1044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1889999"/>
            <a:ext cx="3780000" cy="900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52000" y="2051999"/>
            <a:ext cx="3636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FFFFFF"/>
                </a:solidFill>
              </a:rPr>
              <a:t>Dori kashfiyoti</a:t>
            </a:r>
          </a:p>
        </p:txBody>
      </p:sp>
      <p:sp>
        <p:nvSpPr>
          <p:cNvPr id="20" name="tb"/>
          <p:cNvSpPr txBox="1"/>
          <p:nvPr/>
        </p:nvSpPr>
        <p:spPr>
          <a:xfrm>
            <a:off x="252000" y="2357999"/>
            <a:ext cx="3636000" cy="503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9AA6D6"/>
                </a:solidFill>
              </a:rPr>
              <a:t>Yangi molekulalarni tezroq topish va sinash.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176000" y="1889999"/>
            <a:ext cx="3780000" cy="1044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176000" y="1889999"/>
            <a:ext cx="3780000" cy="900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248000" y="2051999"/>
            <a:ext cx="3636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FFFFFF"/>
                </a:solidFill>
              </a:rPr>
              <a:t>Virtual yordamchilar</a:t>
            </a:r>
          </a:p>
        </p:txBody>
      </p:sp>
      <p:sp>
        <p:nvSpPr>
          <p:cNvPr id="20" name="tb"/>
          <p:cNvSpPr txBox="1"/>
          <p:nvPr/>
        </p:nvSpPr>
        <p:spPr>
          <a:xfrm>
            <a:off x="4248000" y="2357999"/>
            <a:ext cx="3636000" cy="503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9AA6D6"/>
                </a:solidFill>
              </a:rPr>
              <a:t>Chatbotlar bemor savollariga javob beradi, triaj qiladi.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172000" y="1889999"/>
            <a:ext cx="3780000" cy="1044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172000" y="1889999"/>
            <a:ext cx="3780000" cy="90000"/>
          </a:xfrm>
          <a:prstGeom prst="rect">
            <a:avLst/>
          </a:prstGeom>
          <a:solidFill>
            <a:srgbClr val="FF52D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8244000" y="2051999"/>
            <a:ext cx="3636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FFFFFF"/>
                </a:solidFill>
              </a:rPr>
              <a:t>Ish jarayonini optimallashtirish</a:t>
            </a:r>
          </a:p>
        </p:txBody>
      </p:sp>
      <p:sp>
        <p:nvSpPr>
          <p:cNvPr id="20" name="tb"/>
          <p:cNvSpPr txBox="1"/>
          <p:nvPr/>
        </p:nvSpPr>
        <p:spPr>
          <a:xfrm>
            <a:off x="8244000" y="2357999"/>
            <a:ext cx="3636000" cy="503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9AA6D6"/>
                </a:solidFill>
              </a:rPr>
              <a:t>Navbat, resurs va hujjatlarni avtomatlashtirish.</a:t>
            </a:r>
          </a:p>
        </p:txBody>
      </p:sp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7071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06 · TELEMEDITSINA IMKONIYATLARI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90000" cy="23400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96000" y="720000"/>
            <a:ext cx="5400000" cy="72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EAF0FF"/>
                </a:solidFill>
              </a:rPr>
              <a:t>Telemeditsina — axborot-kommunikatsiya texnologiyalari</a:t>
            </a:r>
          </a:p>
          <a:p>
            <a:pPr algn="l" indent="0" marL="0"/>
            <a:r>
              <a:rPr lang="uz-UZ" sz="1400" b="0" dirty="0">
                <a:solidFill>
                  <a:srgbClr val="EAF0FF"/>
                </a:solidFill>
              </a:rPr>
              <a:t>orqali masofadan tibbiy xizmat ko'rsatish. Masofa va</a:t>
            </a:r>
          </a:p>
          <a:p>
            <a:pPr algn="l" indent="0" marL="0"/>
            <a:r>
              <a:rPr lang="uz-UZ" sz="1400" b="0" dirty="0">
                <a:solidFill>
                  <a:srgbClr val="EAF0FF"/>
                </a:solidFill>
              </a:rPr>
              <a:t>resurs to'siqlarini bartaraf etadi.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96000" y="1627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532800" y="1548000"/>
            <a:ext cx="544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Telekonsultatsiya — masofaviy shifokor qabuli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96000" y="1897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532800" y="1818000"/>
            <a:ext cx="544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Telemonitoring — surunkali kasalliklarni masofadan kuzatish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96000" y="2167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532800" y="2088000"/>
            <a:ext cx="544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Tel-radiologiya/patologiya — tasvirlarni masofaviy tahlil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480000" y="648000"/>
            <a:ext cx="5472000" cy="252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623999" y="827999"/>
            <a:ext cx="5184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600" b="1" dirty="0">
                <a:solidFill>
                  <a:srgbClr val="FFFFFF"/>
                </a:solidFill>
              </a:rPr>
              <a:t>Kimga foydali?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623999" y="1303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760799" y="1224000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Olis va qishloq hududlari aholisi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623999" y="1573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760799" y="1494000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Harakati cheklangan bemorlar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623999" y="1843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760799" y="1764000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Surunkali kasallarni kuzatish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623999" y="2113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760799" y="2034000"/>
            <a:ext cx="490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Mutaxassislar yetishmaydigan markazlar</a:t>
            </a:r>
          </a:p>
        </p:txBody>
      </p:sp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7071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07 · MASOFAVIY REABILITATSIYA</a:t>
            </a:r>
          </a:p>
        </p:txBody>
      </p:sp>
      <p:sp>
        <p:nvSpPr>
          <p:cNvPr id="20" name="tb"/>
          <p:cNvSpPr txBox="1"/>
          <p:nvPr/>
        </p:nvSpPr>
        <p:spPr>
          <a:xfrm>
            <a:off x="216000" y="684000"/>
            <a:ext cx="11520000" cy="32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400" b="0" dirty="0">
                <a:solidFill>
                  <a:srgbClr val="9AA6D6"/>
                </a:solidFill>
              </a:rPr>
              <a:t>Telereabilitatsiya bemorga uy sharoitida, mutaxassis nazorati ostida tiklanish imkonini beradi.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1080000"/>
            <a:ext cx="3780000" cy="126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1080000"/>
            <a:ext cx="3780000" cy="1008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88000" y="1260000"/>
            <a:ext cx="3564000" cy="32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FFFFFF"/>
                </a:solidFill>
              </a:rPr>
              <a:t>Video-mashg'ulotlar</a:t>
            </a:r>
          </a:p>
        </p:txBody>
      </p:sp>
      <p:sp>
        <p:nvSpPr>
          <p:cNvPr id="20" name="tb"/>
          <p:cNvSpPr txBox="1"/>
          <p:nvPr/>
        </p:nvSpPr>
        <p:spPr>
          <a:xfrm>
            <a:off x="288000" y="1583999"/>
            <a:ext cx="3564000" cy="68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9AA6D6"/>
                </a:solidFill>
              </a:rPr>
              <a:t>Mashqlarni real vaqtda nazorat qilish va to'g'rilash.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176000" y="1080000"/>
            <a:ext cx="3780000" cy="126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176000" y="1080000"/>
            <a:ext cx="3780000" cy="100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284000" y="1260000"/>
            <a:ext cx="3564000" cy="32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FFFFFF"/>
                </a:solidFill>
              </a:rPr>
              <a:t>Sensorlar va kiyiladigan qurilmalar</a:t>
            </a:r>
          </a:p>
        </p:txBody>
      </p:sp>
      <p:sp>
        <p:nvSpPr>
          <p:cNvPr id="20" name="tb"/>
          <p:cNvSpPr txBox="1"/>
          <p:nvPr/>
        </p:nvSpPr>
        <p:spPr>
          <a:xfrm>
            <a:off x="4284000" y="1583999"/>
            <a:ext cx="3564000" cy="68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9AA6D6"/>
                </a:solidFill>
              </a:rPr>
              <a:t>Harakat, yurish va fiziologik ko'rsatkichlarni o'lchash.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172000" y="1080000"/>
            <a:ext cx="3780000" cy="126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172000" y="1080000"/>
            <a:ext cx="3780000" cy="100800"/>
          </a:xfrm>
          <a:prstGeom prst="rect">
            <a:avLst/>
          </a:prstGeom>
          <a:solidFill>
            <a:srgbClr val="FF52D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8280000" y="1260000"/>
            <a:ext cx="3564000" cy="32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FFFFFF"/>
                </a:solidFill>
              </a:rPr>
              <a:t>VR + AI birikmasi</a:t>
            </a:r>
          </a:p>
        </p:txBody>
      </p:sp>
      <p:sp>
        <p:nvSpPr>
          <p:cNvPr id="20" name="tb"/>
          <p:cNvSpPr txBox="1"/>
          <p:nvPr/>
        </p:nvSpPr>
        <p:spPr>
          <a:xfrm>
            <a:off x="8280000" y="1583999"/>
            <a:ext cx="3564000" cy="68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9AA6D6"/>
                </a:solidFill>
              </a:rPr>
              <a:t>O'yinlashtirilgan, motivatsion va moslashuvchan reabilitatsiya.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2484000"/>
            <a:ext cx="5688000" cy="64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88000" y="2556000"/>
            <a:ext cx="54000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800" b="1" dirty="0">
                <a:solidFill>
                  <a:srgbClr val="22E6FF"/>
                </a:solidFill>
              </a:rPr>
              <a:t>↑ Adherens</a:t>
            </a:r>
          </a:p>
        </p:txBody>
      </p:sp>
      <p:sp>
        <p:nvSpPr>
          <p:cNvPr id="20" name="tb"/>
          <p:cNvSpPr txBox="1"/>
          <p:nvPr/>
        </p:nvSpPr>
        <p:spPr>
          <a:xfrm>
            <a:off x="288000" y="2808000"/>
            <a:ext cx="54000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9AA6D6"/>
                </a:solidFill>
              </a:rPr>
              <a:t>Dasturga rioya qilish ortadi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228000" y="2484000"/>
            <a:ext cx="5688000" cy="64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336000" y="2556000"/>
            <a:ext cx="54000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800" b="1" dirty="0">
                <a:solidFill>
                  <a:srgbClr val="22E6FF"/>
                </a:solidFill>
              </a:rPr>
              <a:t>↓ Xarajat</a:t>
            </a:r>
          </a:p>
        </p:txBody>
      </p:sp>
      <p:sp>
        <p:nvSpPr>
          <p:cNvPr id="20" name="tb"/>
          <p:cNvSpPr txBox="1"/>
          <p:nvPr/>
        </p:nvSpPr>
        <p:spPr>
          <a:xfrm>
            <a:off x="6336000" y="2808000"/>
            <a:ext cx="54000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9AA6D6"/>
                </a:solidFill>
              </a:rPr>
              <a:t>Qatnov va kasalxona xarajatlari kamayadi</a:t>
            </a:r>
          </a:p>
        </p:txBody>
      </p:sp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7071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08 · TEXNOLOGIYALAR INTEGRATSIYASI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2520000" cy="46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88000" y="810000"/>
            <a:ext cx="234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500" b="1" dirty="0">
                <a:solidFill>
                  <a:srgbClr val="22E6FF"/>
                </a:solidFill>
              </a:rPr>
              <a:t>Tashxis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951999" y="918000"/>
            <a:ext cx="900000" cy="43200"/>
          </a:xfrm>
          <a:prstGeom prst="rect">
            <a:avLst/>
          </a:prstGeom>
          <a:solidFill>
            <a:srgbClr val="9AA6D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140000" y="720000"/>
            <a:ext cx="3240000" cy="46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212000" y="810000"/>
            <a:ext cx="306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FF52D9"/>
                </a:solidFill>
              </a:rPr>
              <a:t>AI + telemeditsina</a:t>
            </a:r>
          </a:p>
        </p:txBody>
      </p:sp>
      <p:sp>
        <p:nvSpPr>
          <p:cNvPr id="20" name="tb"/>
          <p:cNvSpPr txBox="1"/>
          <p:nvPr/>
        </p:nvSpPr>
        <p:spPr>
          <a:xfrm>
            <a:off x="7740000" y="756000"/>
            <a:ext cx="4140000" cy="396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9AA6D6"/>
                </a:solidFill>
              </a:rPr>
              <a:t>Masofadan yig'ilgan ma'lumotni AI tahlil qiladi, shifokor tasdiqlaydi.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1314000"/>
            <a:ext cx="2520000" cy="46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88000" y="1404000"/>
            <a:ext cx="234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500" b="1" dirty="0">
                <a:solidFill>
                  <a:srgbClr val="22E6FF"/>
                </a:solidFill>
              </a:rPr>
              <a:t>Reja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951999" y="1512000"/>
            <a:ext cx="900000" cy="43200"/>
          </a:xfrm>
          <a:prstGeom prst="rect">
            <a:avLst/>
          </a:prstGeom>
          <a:solidFill>
            <a:srgbClr val="9AA6D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140000" y="1314000"/>
            <a:ext cx="3240000" cy="46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212000" y="1404000"/>
            <a:ext cx="306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FF52D9"/>
                </a:solidFill>
              </a:rPr>
              <a:t>AI + VR/AR</a:t>
            </a:r>
          </a:p>
        </p:txBody>
      </p:sp>
      <p:sp>
        <p:nvSpPr>
          <p:cNvPr id="20" name="tb"/>
          <p:cNvSpPr txBox="1"/>
          <p:nvPr/>
        </p:nvSpPr>
        <p:spPr>
          <a:xfrm>
            <a:off x="7740000" y="1350000"/>
            <a:ext cx="4140000" cy="396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9AA6D6"/>
                </a:solidFill>
              </a:rPr>
              <a:t>Shaxsiylashtirilgan davo rejasi va 3D operatsiya simulyatsiyasi.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1908000"/>
            <a:ext cx="2520000" cy="46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88000" y="1998000"/>
            <a:ext cx="234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500" b="1" dirty="0">
                <a:solidFill>
                  <a:srgbClr val="22E6FF"/>
                </a:solidFill>
              </a:rPr>
              <a:t>Davolash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951999" y="2106000"/>
            <a:ext cx="900000" cy="43200"/>
          </a:xfrm>
          <a:prstGeom prst="rect">
            <a:avLst/>
          </a:prstGeom>
          <a:solidFill>
            <a:srgbClr val="9AA6D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140000" y="1908000"/>
            <a:ext cx="3240000" cy="46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212000" y="1998000"/>
            <a:ext cx="306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FF52D9"/>
                </a:solidFill>
              </a:rPr>
              <a:t>AR-navigatsiya</a:t>
            </a:r>
          </a:p>
        </p:txBody>
      </p:sp>
      <p:sp>
        <p:nvSpPr>
          <p:cNvPr id="20" name="tb"/>
          <p:cNvSpPr txBox="1"/>
          <p:nvPr/>
        </p:nvSpPr>
        <p:spPr>
          <a:xfrm>
            <a:off x="7740000" y="1944000"/>
            <a:ext cx="4140000" cy="396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9AA6D6"/>
                </a:solidFill>
              </a:rPr>
              <a:t>Operatsiya va protseduralarda real vaqt yo'riqnoma.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2502000"/>
            <a:ext cx="2520000" cy="46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88000" y="2592000"/>
            <a:ext cx="234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500" b="1" dirty="0">
                <a:solidFill>
                  <a:srgbClr val="22E6FF"/>
                </a:solidFill>
              </a:rPr>
              <a:t>Tiklanish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2951999" y="2700000"/>
            <a:ext cx="900000" cy="43200"/>
          </a:xfrm>
          <a:prstGeom prst="rect">
            <a:avLst/>
          </a:prstGeom>
          <a:solidFill>
            <a:srgbClr val="9AA6D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140000" y="2502000"/>
            <a:ext cx="3240000" cy="468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212000" y="2592000"/>
            <a:ext cx="306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FF52D9"/>
                </a:solidFill>
              </a:rPr>
              <a:t>Telereabilitatsiya</a:t>
            </a:r>
          </a:p>
        </p:txBody>
      </p:sp>
      <p:sp>
        <p:nvSpPr>
          <p:cNvPr id="20" name="tb"/>
          <p:cNvSpPr txBox="1"/>
          <p:nvPr/>
        </p:nvSpPr>
        <p:spPr>
          <a:xfrm>
            <a:off x="7740000" y="2538000"/>
            <a:ext cx="4140000" cy="396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9AA6D6"/>
                </a:solidFill>
              </a:rPr>
              <a:t>Uyda VR-mashqlar, sensorlar va masofaviy nazorat.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7071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09 · ASOSIY AFZALLIKLAR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2808000" cy="108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2808000" cy="900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52000" y="900000"/>
            <a:ext cx="2664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500" b="1" dirty="0">
                <a:solidFill>
                  <a:srgbClr val="FFFFFF"/>
                </a:solidFill>
              </a:rPr>
              <a:t>Aniqlik</a:t>
            </a:r>
          </a:p>
        </p:txBody>
      </p:sp>
      <p:sp>
        <p:nvSpPr>
          <p:cNvPr id="20" name="tb"/>
          <p:cNvSpPr txBox="1"/>
          <p:nvPr/>
        </p:nvSpPr>
        <p:spPr>
          <a:xfrm>
            <a:off x="252000" y="1223999"/>
            <a:ext cx="2664000" cy="503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200" b="0" dirty="0">
                <a:solidFill>
                  <a:srgbClr val="9AA6D6"/>
                </a:solidFill>
              </a:rPr>
              <a:t>Tashxis va davo aniqligi oshadi.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204000" y="720000"/>
            <a:ext cx="2808000" cy="108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204000" y="720000"/>
            <a:ext cx="2808000" cy="900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276000" y="900000"/>
            <a:ext cx="2664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500" b="1" dirty="0">
                <a:solidFill>
                  <a:srgbClr val="FFFFFF"/>
                </a:solidFill>
              </a:rPr>
              <a:t>Tezlik</a:t>
            </a:r>
          </a:p>
        </p:txBody>
      </p:sp>
      <p:sp>
        <p:nvSpPr>
          <p:cNvPr id="20" name="tb"/>
          <p:cNvSpPr txBox="1"/>
          <p:nvPr/>
        </p:nvSpPr>
        <p:spPr>
          <a:xfrm>
            <a:off x="3276000" y="1223999"/>
            <a:ext cx="2664000" cy="503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200" b="0" dirty="0">
                <a:solidFill>
                  <a:srgbClr val="9AA6D6"/>
                </a:solidFill>
              </a:rPr>
              <a:t>Qaror va xizmat tezlashadi.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228000" y="720000"/>
            <a:ext cx="2808000" cy="108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228000" y="720000"/>
            <a:ext cx="2808000" cy="90000"/>
          </a:xfrm>
          <a:prstGeom prst="rect">
            <a:avLst/>
          </a:prstGeom>
          <a:solidFill>
            <a:srgbClr val="FF52D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300000" y="900000"/>
            <a:ext cx="2664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500" b="1" dirty="0">
                <a:solidFill>
                  <a:srgbClr val="FFFFFF"/>
                </a:solidFill>
              </a:rPr>
              <a:t>Qulaylik</a:t>
            </a:r>
          </a:p>
        </p:txBody>
      </p:sp>
      <p:sp>
        <p:nvSpPr>
          <p:cNvPr id="20" name="tb"/>
          <p:cNvSpPr txBox="1"/>
          <p:nvPr/>
        </p:nvSpPr>
        <p:spPr>
          <a:xfrm>
            <a:off x="6300000" y="1223999"/>
            <a:ext cx="2664000" cy="503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200" b="0" dirty="0">
                <a:solidFill>
                  <a:srgbClr val="9AA6D6"/>
                </a:solidFill>
              </a:rPr>
              <a:t>Masofa to'siqlari yo'qoladi.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9252000" y="720000"/>
            <a:ext cx="2808000" cy="108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9252000" y="720000"/>
            <a:ext cx="2808000" cy="900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9324000" y="900000"/>
            <a:ext cx="2664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500" b="1" dirty="0">
                <a:solidFill>
                  <a:srgbClr val="FFFFFF"/>
                </a:solidFill>
              </a:rPr>
              <a:t>Tejamkorlik</a:t>
            </a:r>
          </a:p>
        </p:txBody>
      </p:sp>
      <p:sp>
        <p:nvSpPr>
          <p:cNvPr id="20" name="tb"/>
          <p:cNvSpPr txBox="1"/>
          <p:nvPr/>
        </p:nvSpPr>
        <p:spPr>
          <a:xfrm>
            <a:off x="9324000" y="1223999"/>
            <a:ext cx="2664000" cy="503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200" b="0" dirty="0">
                <a:solidFill>
                  <a:srgbClr val="9AA6D6"/>
                </a:solidFill>
              </a:rPr>
              <a:t>Uzoq muddatda xarajat kamayadi.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1980000"/>
            <a:ext cx="3780000" cy="72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51999" y="2052000"/>
            <a:ext cx="360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2400" b="1" dirty="0">
                <a:solidFill>
                  <a:srgbClr val="22E6FF"/>
                </a:solidFill>
              </a:rPr>
              <a:t>24/7</a:t>
            </a:r>
          </a:p>
        </p:txBody>
      </p:sp>
      <p:sp>
        <p:nvSpPr>
          <p:cNvPr id="20" name="tb"/>
          <p:cNvSpPr txBox="1"/>
          <p:nvPr/>
        </p:nvSpPr>
        <p:spPr>
          <a:xfrm>
            <a:off x="251999" y="2340000"/>
            <a:ext cx="360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200" b="0" dirty="0">
                <a:solidFill>
                  <a:srgbClr val="9AA6D6"/>
                </a:solidFill>
              </a:rPr>
              <a:t>Uzluksiz monitoring imkoni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212000" y="1980000"/>
            <a:ext cx="3780000" cy="72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284000" y="2052000"/>
            <a:ext cx="360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2400" b="1" dirty="0">
                <a:solidFill>
                  <a:srgbClr val="22E6FF"/>
                </a:solidFill>
              </a:rPr>
              <a:t>↑ Qamrov</a:t>
            </a:r>
          </a:p>
        </p:txBody>
      </p:sp>
      <p:sp>
        <p:nvSpPr>
          <p:cNvPr id="20" name="tb"/>
          <p:cNvSpPr txBox="1"/>
          <p:nvPr/>
        </p:nvSpPr>
        <p:spPr>
          <a:xfrm>
            <a:off x="4284000" y="2340000"/>
            <a:ext cx="360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200" b="0" dirty="0">
                <a:solidFill>
                  <a:srgbClr val="9AA6D6"/>
                </a:solidFill>
              </a:rPr>
              <a:t>Olis hududlarga yetib borish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243999" y="1980000"/>
            <a:ext cx="3780000" cy="72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8316000" y="2052000"/>
            <a:ext cx="360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2400" b="1" dirty="0">
                <a:solidFill>
                  <a:srgbClr val="22E6FF"/>
                </a:solidFill>
              </a:rPr>
              <a:t>↑ Ta'lim</a:t>
            </a:r>
          </a:p>
        </p:txBody>
      </p:sp>
      <p:sp>
        <p:nvSpPr>
          <p:cNvPr id="20" name="tb"/>
          <p:cNvSpPr txBox="1"/>
          <p:nvPr/>
        </p:nvSpPr>
        <p:spPr>
          <a:xfrm>
            <a:off x="8316000" y="2340000"/>
            <a:ext cx="360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200" b="0" dirty="0">
                <a:solidFill>
                  <a:srgbClr val="9AA6D6"/>
                </a:solidFill>
              </a:rPr>
              <a:t>Xavfsiz va takrorlanuvchi mashq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7071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10 · TO'SIQLAR VA YECHIMLAR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684000"/>
            <a:ext cx="5688000" cy="2700000"/>
          </a:xfrm>
          <a:prstGeom prst="rect">
            <a:avLst/>
          </a:prstGeom>
          <a:solidFill>
            <a:srgbClr val="2A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324000" y="792000"/>
            <a:ext cx="504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600" b="1" dirty="0">
                <a:solidFill>
                  <a:srgbClr val="FF52D9"/>
                </a:solidFill>
              </a:rPr>
              <a:t>⚠  MUAMMOLAR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24000" y="1231200"/>
            <a:ext cx="64800" cy="64800"/>
          </a:xfrm>
          <a:prstGeom prst="rect">
            <a:avLst/>
          </a:prstGeom>
          <a:solidFill>
            <a:srgbClr val="FF52D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60800" y="1152000"/>
            <a:ext cx="508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Ma'lumotlar maxfiyligi va kiberxavfsizlik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24000" y="1501200"/>
            <a:ext cx="64800" cy="64800"/>
          </a:xfrm>
          <a:prstGeom prst="rect">
            <a:avLst/>
          </a:prstGeom>
          <a:solidFill>
            <a:srgbClr val="FF52D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60800" y="1422000"/>
            <a:ext cx="508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Yuqori boshlang'ich xarajat va infratuzilma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24000" y="1771200"/>
            <a:ext cx="64800" cy="64800"/>
          </a:xfrm>
          <a:prstGeom prst="rect">
            <a:avLst/>
          </a:prstGeom>
          <a:solidFill>
            <a:srgbClr val="FF52D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60800" y="1692000"/>
            <a:ext cx="508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Huquqiy-etik baza va javobgarlik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24000" y="2041200"/>
            <a:ext cx="64800" cy="64800"/>
          </a:xfrm>
          <a:prstGeom prst="rect">
            <a:avLst/>
          </a:prstGeom>
          <a:solidFill>
            <a:srgbClr val="FF52D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60800" y="1962000"/>
            <a:ext cx="508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Raqamli tengsizlik (internet/qurilma)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24000" y="2311200"/>
            <a:ext cx="64800" cy="64800"/>
          </a:xfrm>
          <a:prstGeom prst="rect">
            <a:avLst/>
          </a:prstGeom>
          <a:solidFill>
            <a:srgbClr val="FF52D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60800" y="2232000"/>
            <a:ext cx="508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Kadrlar malakasi va qarshilik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228000" y="684000"/>
            <a:ext cx="5688000" cy="2700000"/>
          </a:xfrm>
          <a:prstGeom prst="rect">
            <a:avLst/>
          </a:prstGeom>
          <a:solidFill>
            <a:srgbClr val="0D2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372000" y="792000"/>
            <a:ext cx="5040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600" b="1" dirty="0">
                <a:solidFill>
                  <a:srgbClr val="22E6FF"/>
                </a:solidFill>
              </a:rPr>
              <a:t>✔  YECHIMLAR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372000" y="1231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508800" y="1152000"/>
            <a:ext cx="508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Shifrlash va standartlar (HL7/FHIR, GDPR)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372000" y="1501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508800" y="1422000"/>
            <a:ext cx="508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Bosqichma-bosqich joriy etish va pilotlar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372000" y="1771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508800" y="1692000"/>
            <a:ext cx="508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Aniq normativ-huquqiy hujjatlar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372000" y="2041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508800" y="1962000"/>
            <a:ext cx="508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Davlat dasturlari va internet qamrovi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6372000" y="2311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6508800" y="2232000"/>
            <a:ext cx="508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0" dirty="0">
                <a:solidFill>
                  <a:srgbClr val="EAF0FF"/>
                </a:solidFill>
              </a:rPr>
              <a:t>Uzluksiz o'qitish va sertifikatsiya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7071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11 · ISTIQBOL YO'NALISHLARI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3780000" cy="126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180000" y="720000"/>
            <a:ext cx="3780000" cy="1008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88000" y="900000"/>
            <a:ext cx="3564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FFFFFF"/>
                </a:solidFill>
              </a:rPr>
              <a:t>Raqamli egizak</a:t>
            </a:r>
          </a:p>
        </p:txBody>
      </p:sp>
      <p:sp>
        <p:nvSpPr>
          <p:cNvPr id="20" name="tb"/>
          <p:cNvSpPr txBox="1"/>
          <p:nvPr/>
        </p:nvSpPr>
        <p:spPr>
          <a:xfrm>
            <a:off x="288000" y="1223999"/>
            <a:ext cx="3564000" cy="68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9AA6D6"/>
                </a:solidFill>
              </a:rPr>
              <a:t>Bemorning virtual modeli orqali davoni oldindan sinash.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176000" y="720000"/>
            <a:ext cx="3780000" cy="126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4176000" y="720000"/>
            <a:ext cx="3780000" cy="100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284000" y="900000"/>
            <a:ext cx="3564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FFFFFF"/>
                </a:solidFill>
              </a:rPr>
              <a:t>Generativ AI</a:t>
            </a:r>
          </a:p>
        </p:txBody>
      </p:sp>
      <p:sp>
        <p:nvSpPr>
          <p:cNvPr id="20" name="tb"/>
          <p:cNvSpPr txBox="1"/>
          <p:nvPr/>
        </p:nvSpPr>
        <p:spPr>
          <a:xfrm>
            <a:off x="4284000" y="1223999"/>
            <a:ext cx="3564000" cy="68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9AA6D6"/>
                </a:solidFill>
              </a:rPr>
              <a:t>Hujjat, tavsiya va ta'limda yangi avlod yordamchilari.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172000" y="720000"/>
            <a:ext cx="3780000" cy="1260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8172000" y="720000"/>
            <a:ext cx="3780000" cy="100800"/>
          </a:xfrm>
          <a:prstGeom prst="rect">
            <a:avLst/>
          </a:prstGeom>
          <a:solidFill>
            <a:srgbClr val="FF52D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8280000" y="900000"/>
            <a:ext cx="3564000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300" b="1" dirty="0">
                <a:solidFill>
                  <a:srgbClr val="FFFFFF"/>
                </a:solidFill>
              </a:rPr>
              <a:t>Metaverse-klinika</a:t>
            </a:r>
          </a:p>
        </p:txBody>
      </p:sp>
      <p:sp>
        <p:nvSpPr>
          <p:cNvPr id="20" name="tb"/>
          <p:cNvSpPr txBox="1"/>
          <p:nvPr/>
        </p:nvSpPr>
        <p:spPr>
          <a:xfrm>
            <a:off x="8280000" y="1223999"/>
            <a:ext cx="3564000" cy="68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200" b="0" dirty="0">
                <a:solidFill>
                  <a:srgbClr val="9AA6D6"/>
                </a:solidFill>
              </a:rPr>
              <a:t>Immersiv virtual qabulxonalar va jamoaviy operatsiya.</a:t>
            </a:r>
          </a:p>
        </p:txBody>
      </p:sp>
      <p:sp>
        <p:nvSpPr>
          <p:cNvPr id="20" name="tb"/>
          <p:cNvSpPr txBox="1"/>
          <p:nvPr/>
        </p:nvSpPr>
        <p:spPr>
          <a:xfrm>
            <a:off x="216000" y="2160000"/>
            <a:ext cx="11520000" cy="503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500" b="1" dirty="0">
                <a:solidFill>
                  <a:srgbClr val="22E6FF"/>
                </a:solidFill>
              </a:rPr>
              <a:t>Texnologiyalar shifokorni ALMASHTIRMAYDI, balki imkoniyatlarini kuchaytiradi.</a:t>
            </a:r>
          </a:p>
          <a:p>
            <a:pPr algn="l" indent="0" marL="0"/>
            <a:r>
              <a:rPr lang="uz-UZ" sz="1400" b="0" dirty="0">
                <a:solidFill>
                  <a:srgbClr val="9AA6D6"/>
                </a:solidFill>
              </a:rPr>
              <a:t>Qaror baribir inson zimmasida qoladi.</a:t>
            </a:r>
          </a:p>
        </p:txBody>
      </p:sp>
    </p:spTree>
  </p:cSld>
  <p:clrMapOvr>
    <a:masterClr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7071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216000" y="125999"/>
            <a:ext cx="9000000" cy="36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2000" b="1" dirty="0">
                <a:solidFill>
                  <a:srgbClr val="FFFFFF"/>
                </a:solidFill>
              </a:rPr>
              <a:t>ASOSIY XULOSALAR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60000" y="871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96800" y="792000"/>
            <a:ext cx="110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500" b="0" dirty="0">
                <a:solidFill>
                  <a:srgbClr val="EAF0FF"/>
                </a:solidFill>
              </a:rPr>
              <a:t>VR/AR, AI va telemeditsina tashxis, davolash va reabilitatsiyani sifat jihatdan yangilaydi.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60000" y="1141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96800" y="1062000"/>
            <a:ext cx="110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500" b="0" dirty="0">
                <a:solidFill>
                  <a:srgbClr val="EAF0FF"/>
                </a:solidFill>
              </a:rPr>
              <a:t>Ularning integratsiyasi uzluksiz bemor yo'lini (tashxis → davo → tiklanish) yaratadi.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60000" y="1411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96800" y="1332000"/>
            <a:ext cx="110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500" b="0" dirty="0">
                <a:solidFill>
                  <a:srgbClr val="EAF0FF"/>
                </a:solidFill>
              </a:rPr>
              <a:t>Maxfiylik, etika va kadrlar tayyorgarligi — muvaffaqiyatning asosiy sharti.</a:t>
            </a:r>
          </a:p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360000" y="1681200"/>
            <a:ext cx="64800" cy="64800"/>
          </a:xfrm>
          <a:prstGeom prst="rect">
            <a:avLst/>
          </a:prstGeom>
          <a:solidFill>
            <a:srgbClr val="22E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496800" y="1602000"/>
            <a:ext cx="11023200" cy="2519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indent="0" marL="0"/>
            <a:r>
              <a:rPr lang="uz-UZ" sz="1500" b="0" dirty="0">
                <a:solidFill>
                  <a:srgbClr val="EAF0FF"/>
                </a:solidFill>
              </a:rPr>
              <a:t>Bosqichma-bosqich va inson nazorati ostida joriy etish eng samarali yondashuv.</a:t>
            </a:r>
          </a:p>
        </p:txBody>
      </p:sp>
    </p:spTree>
  </p:cSld>
  <p:clrMapOvr>
    <a:masterClr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119" cy="6858000"/>
          <a:chOff x="0" y="0"/>
          <a:chExt cx="12192119" cy="6858000"/>
        </a:xfrm>
      </p:grpSpPr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7071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12192119" cy="1800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bg"/>
          <p:cNvSpPr>
            <a:spLocks noGrp="1"/>
          </p:cNvSpPr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1CB3C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b"/>
          <p:cNvSpPr txBox="1"/>
          <p:nvPr/>
        </p:nvSpPr>
        <p:spPr>
          <a:xfrm>
            <a:off x="0" y="1080000"/>
            <a:ext cx="12192119" cy="72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3600" b="1" dirty="0">
                <a:solidFill>
                  <a:srgbClr val="FFFFFF"/>
                </a:solidFill>
              </a:rPr>
              <a:t>E'tiboringiz uchun rahmat!</a:t>
            </a:r>
          </a:p>
        </p:txBody>
      </p:sp>
      <p:sp>
        <p:nvSpPr>
          <p:cNvPr id="20" name="tb"/>
          <p:cNvSpPr txBox="1"/>
          <p:nvPr/>
        </p:nvSpPr>
        <p:spPr>
          <a:xfrm>
            <a:off x="0" y="1980000"/>
            <a:ext cx="12192119" cy="432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800" b="0" dirty="0">
                <a:solidFill>
                  <a:srgbClr val="22E6FF"/>
                </a:solidFill>
              </a:rPr>
              <a:t>Kelajak tibbiyoti — texnologiya va insoniylikning uyg'unligi.</a:t>
            </a:r>
          </a:p>
        </p:txBody>
      </p:sp>
      <p:sp>
        <p:nvSpPr>
          <p:cNvPr id="20" name="tb"/>
          <p:cNvSpPr txBox="1"/>
          <p:nvPr/>
        </p:nvSpPr>
        <p:spPr>
          <a:xfrm>
            <a:off x="0" y="2700000"/>
            <a:ext cx="12192119" cy="288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 indent="0" marL="0"/>
            <a:r>
              <a:rPr lang="uz-UZ" sz="1400" b="0" dirty="0">
                <a:solidFill>
                  <a:srgbClr val="9AA6D6"/>
                </a:solidFill>
              </a:rPr>
              <a:t>MedTech  ·  2026</a:t>
            </a:r>
          </a:p>
        </p:txBody>
      </p:sp>
    </p:spTree>
  </p:cSld>
  <p:clrMapOvr>
    <a:masterClr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VR/AR, AI va telemeditsina-telereabilitatsiyani klinik amaliyotga joriy etish</dc:title>
  <dc:creator>Kiro</dc:creator>
</cp:coreProperties>
</file>