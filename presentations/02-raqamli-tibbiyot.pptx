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
    Type="http://schemas.openxmlformats.org/officeDocument/2006/relationships/officeDocument"
    Target="ppt/presentation.xml"/>
  <Relationship Id="rId2"
    Type="http://schemas.openxmlformats.org/package/2006/relationships/metadata/core-properties"
    Target="docProps/core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 autoCompressPictures="0">
  <p:sldMasterIdLst>
    <p:sldMasterId id="2147483648" r:id="rId1"/>
  </p:sldMasterIdLst>
  <p:sldSz cx="12192119" cy="6858000" type="custom"/>
  <p:notesSz cx="12192119" cy="6858000"/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     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  <Relationship Id="rId13" Type="http://schemas.openxmlformats.org/officeDocument/2006/relationships/slide" Target="slides/slide11.xml"/>
  <Relationship Id="rId14" Type="http://schemas.openxmlformats.org/officeDocument/2006/relationships/slide" Target="slides/slide12.xml"/>
  <Relationship Id="rId15" Type="http://schemas.openxmlformats.org/officeDocument/2006/relationships/slide" Target="slides/slide13.xml"/>
  <Relationship Id="rId16" Type="http://schemas.openxmlformats.org/officeDocument/2006/relationships/slide" Target="slides/slide14.xml"/>
  <Relationship Id="rId17" Type="http://schemas.openxmlformats.org/officeDocument/2006/relationships/slide" Target="slides/slide15.xml"/>
  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
   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</p:spTree>
  </p:cSld>
  <p:clrMapOvr>
    <a:masterClr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  <Relationship Id="rId2" Type="http://schemas.openxmlformats.org/officeDocument/2006/relationships/theme"
   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352" name="r352"/>
          <p:cNvSpPr>
            <a:spLocks noGrp="1"/>
          </p:cNvSpPr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70713"/>
          </a:solidFill>
          <a:ln>
            <a:noFill/>
          </a:ln>
        </p:spPr>
        <p:txBody>
          <a:bodyPr/>
          <a:lstStyle/>
          <a:p/>
        </p:txBody>
      </p:sp>
      <p:sp>
        <p:nvSpPr>
          <p:cNvPr id="353" name="r353"/>
          <p:cNvSpPr>
            <a:spLocks noGrp="1"/>
          </p:cNvSpPr>
          <p:nvPr/>
        </p:nvSpPr>
        <p:spPr>
          <a:xfrm>
            <a:off x="0" y="0"/>
            <a:ext cx="12192119" cy="162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54" name="r354"/>
          <p:cNvSpPr>
            <a:spLocks noGrp="1"/>
          </p:cNvSpPr>
          <p:nvPr/>
        </p:nvSpPr>
        <p:spPr>
          <a:xfrm>
            <a:off x="0" y="6696000"/>
            <a:ext cx="12192119" cy="162000"/>
          </a:xfrm>
          <a:prstGeom prst="rect">
            <a:avLst/>
          </a:prstGeom>
          <a:solidFill>
            <a:srgbClr val="1CB3CC"/>
          </a:solidFill>
          <a:ln>
            <a:noFill/>
          </a:ln>
        </p:spPr>
        <p:txBody>
          <a:bodyPr/>
          <a:lstStyle/>
          <a:p/>
        </p:txBody>
      </p:sp>
      <p:sp>
        <p:nvSpPr>
          <p:cNvPr id="355" name="t355"/>
          <p:cNvSpPr txBox="1"/>
          <p:nvPr/>
        </p:nvSpPr>
        <p:spPr>
          <a:xfrm>
            <a:off x="216000" y="251999"/>
            <a:ext cx="90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100" b="1" dirty="0" smtClean="0">
                <a:solidFill>
                  <a:srgbClr val="22E6FF"/>
                </a:solidFill>
                <a:latin typeface="+mj-lt"/>
              </a:rPr>
              <a:t>RAQAMLI SOG'LIQNI SAQLASH  ·  DIGITAL HEALTH  ·  2026</a:t>
            </a:r>
          </a:p>
        </p:txBody>
      </p:sp>
      <p:sp>
        <p:nvSpPr>
          <p:cNvPr id="356" name="t356"/>
          <p:cNvSpPr txBox="1"/>
          <p:nvPr/>
        </p:nvSpPr>
        <p:spPr>
          <a:xfrm>
            <a:off x="216000" y="720000"/>
            <a:ext cx="10800000" cy="16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600" b="1" dirty="0" smtClean="0">
                <a:solidFill>
                  <a:srgbClr val="FFFFFF"/>
                </a:solidFill>
                <a:latin typeface="+mj-lt"/>
              </a:rPr>
              <a:t>VR/AR, sun'iy intellekt (AI) va</a:t>
            </a:r>
          </a:p>
          <a:p>
            <a:pPr algn="l" indent="0" marL="0"/>
            <a:r>
              <a:rPr lang="uz-UZ" sz="2600" b="1" dirty="0" smtClean="0">
                <a:solidFill>
                  <a:srgbClr val="FFFFFF"/>
                </a:solidFill>
                <a:latin typeface="+mj-lt"/>
              </a:rPr>
              <a:t>telemeditsina-telereabilitatsiya</a:t>
            </a:r>
          </a:p>
          <a:p>
            <a:pPr algn="l" indent="0" marL="0"/>
            <a:r>
              <a:rPr lang="uz-UZ" sz="2600" b="1" dirty="0" smtClean="0">
                <a:solidFill>
                  <a:srgbClr val="22E6FF"/>
                </a:solidFill>
                <a:latin typeface="+mj-lt"/>
              </a:rPr>
              <a:t>texnologiyalarini klinik amaliyotga</a:t>
            </a:r>
          </a:p>
          <a:p>
            <a:pPr algn="l" indent="0" marL="0"/>
            <a:r>
              <a:rPr lang="uz-UZ" sz="2600" b="1" dirty="0" smtClean="0">
                <a:solidFill>
                  <a:srgbClr val="22E6FF"/>
                </a:solidFill>
                <a:latin typeface="+mj-lt"/>
              </a:rPr>
              <a:t>joriy etish</a:t>
            </a:r>
          </a:p>
        </p:txBody>
      </p:sp>
      <p:sp>
        <p:nvSpPr>
          <p:cNvPr id="357" name="t357"/>
          <p:cNvSpPr txBox="1"/>
          <p:nvPr/>
        </p:nvSpPr>
        <p:spPr>
          <a:xfrm>
            <a:off x="216000" y="2448000"/>
            <a:ext cx="936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9AA6D6"/>
                </a:solidFill>
                <a:latin typeface="+mj-lt"/>
              </a:rPr>
              <a:t>Zamonaviy raqamli texnologiyalar tashxis, davolash va reabilitatsiyani</a:t>
            </a:r>
          </a:p>
          <a:p>
            <a:pPr algn="l" indent="0" marL="0"/>
            <a:r>
              <a:rPr lang="uz-UZ" sz="1400" b="0" dirty="0" smtClean="0">
                <a:solidFill>
                  <a:srgbClr val="9AA6D6"/>
                </a:solidFill>
                <a:latin typeface="+mj-lt"/>
              </a:rPr>
              <a:t>qanday o'zgartirmoqda — imkoniyatlar, misollar va istiqbollar.</a:t>
            </a:r>
          </a:p>
        </p:txBody>
      </p:sp>
      <p:sp>
        <p:nvSpPr>
          <p:cNvPr id="358" name="t358"/>
          <p:cNvSpPr txBox="1"/>
          <p:nvPr/>
        </p:nvSpPr>
        <p:spPr>
          <a:xfrm>
            <a:off x="216000" y="3024000"/>
            <a:ext cx="792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MedTech  ·  2026  ·  15 slayd</a:t>
            </a:r>
          </a:p>
        </p:txBody>
      </p:sp>
    </p:spTree>
  </p:cSld>
  <p:clrMapOvr>
    <a:masterClr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359" name="r359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60" name="t360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TAQDIMOT REJASI</a:t>
            </a:r>
          </a:p>
        </p:txBody>
      </p:sp>
      <p:sp>
        <p:nvSpPr>
          <p:cNvPr id="361" name="r361"/>
          <p:cNvSpPr>
            <a:spLocks noGrp="1"/>
          </p:cNvSpPr>
          <p:nvPr/>
        </p:nvSpPr>
        <p:spPr>
          <a:xfrm>
            <a:off x="216000" y="799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62" name="t362"/>
          <p:cNvSpPr txBox="1"/>
          <p:nvPr/>
        </p:nvSpPr>
        <p:spPr>
          <a:xfrm>
            <a:off x="341999" y="720000"/>
            <a:ext cx="527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01 – Raqamli tibbiyot inqilobi</a:t>
            </a:r>
          </a:p>
        </p:txBody>
      </p:sp>
      <p:sp>
        <p:nvSpPr>
          <p:cNvPr id="363" name="r363"/>
          <p:cNvSpPr>
            <a:spLocks noGrp="1"/>
          </p:cNvSpPr>
          <p:nvPr/>
        </p:nvSpPr>
        <p:spPr>
          <a:xfrm>
            <a:off x="216000" y="10944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64" name="t364"/>
          <p:cNvSpPr txBox="1"/>
          <p:nvPr/>
        </p:nvSpPr>
        <p:spPr>
          <a:xfrm>
            <a:off x="341999" y="1015200"/>
            <a:ext cx="527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02 – VR/AR: tushuncha va texnologiya</a:t>
            </a:r>
          </a:p>
        </p:txBody>
      </p:sp>
      <p:sp>
        <p:nvSpPr>
          <p:cNvPr id="365" name="r365"/>
          <p:cNvSpPr>
            <a:spLocks noGrp="1"/>
          </p:cNvSpPr>
          <p:nvPr/>
        </p:nvSpPr>
        <p:spPr>
          <a:xfrm>
            <a:off x="216000" y="1389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66" name="t366"/>
          <p:cNvSpPr txBox="1"/>
          <p:nvPr/>
        </p:nvSpPr>
        <p:spPr>
          <a:xfrm>
            <a:off x="341999" y="1310400"/>
            <a:ext cx="527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03 – VR/AR klinik amaliyotda</a:t>
            </a:r>
          </a:p>
        </p:txBody>
      </p:sp>
      <p:sp>
        <p:nvSpPr>
          <p:cNvPr id="367" name="r367"/>
          <p:cNvSpPr>
            <a:spLocks noGrp="1"/>
          </p:cNvSpPr>
          <p:nvPr/>
        </p:nvSpPr>
        <p:spPr>
          <a:xfrm>
            <a:off x="216000" y="16848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68" name="t368"/>
          <p:cNvSpPr txBox="1"/>
          <p:nvPr/>
        </p:nvSpPr>
        <p:spPr>
          <a:xfrm>
            <a:off x="341999" y="1605600"/>
            <a:ext cx="527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04 – Sun'iy intellekt (AI) asoslari</a:t>
            </a:r>
          </a:p>
        </p:txBody>
      </p:sp>
      <p:sp>
        <p:nvSpPr>
          <p:cNvPr id="369" name="r369"/>
          <p:cNvSpPr>
            <a:spLocks noGrp="1"/>
          </p:cNvSpPr>
          <p:nvPr/>
        </p:nvSpPr>
        <p:spPr>
          <a:xfrm>
            <a:off x="6120000" y="7992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370" name="t370"/>
          <p:cNvSpPr txBox="1"/>
          <p:nvPr/>
        </p:nvSpPr>
        <p:spPr>
          <a:xfrm>
            <a:off x="6245999" y="7200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05 – AI tashxis va davolashda</a:t>
            </a:r>
          </a:p>
        </p:txBody>
      </p:sp>
      <p:sp>
        <p:nvSpPr>
          <p:cNvPr id="371" name="r371"/>
          <p:cNvSpPr>
            <a:spLocks noGrp="1"/>
          </p:cNvSpPr>
          <p:nvPr/>
        </p:nvSpPr>
        <p:spPr>
          <a:xfrm>
            <a:off x="6120000" y="10944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372" name="t372"/>
          <p:cNvSpPr txBox="1"/>
          <p:nvPr/>
        </p:nvSpPr>
        <p:spPr>
          <a:xfrm>
            <a:off x="6245999" y="10152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06 – Telemeditsina imkoniyatlari</a:t>
            </a:r>
          </a:p>
        </p:txBody>
      </p:sp>
      <p:sp>
        <p:nvSpPr>
          <p:cNvPr id="373" name="r373"/>
          <p:cNvSpPr>
            <a:spLocks noGrp="1"/>
          </p:cNvSpPr>
          <p:nvPr/>
        </p:nvSpPr>
        <p:spPr>
          <a:xfrm>
            <a:off x="6120000" y="13896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374" name="t374"/>
          <p:cNvSpPr txBox="1"/>
          <p:nvPr/>
        </p:nvSpPr>
        <p:spPr>
          <a:xfrm>
            <a:off x="6245999" y="13104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07 – Telereabilitatsiya</a:t>
            </a:r>
          </a:p>
        </p:txBody>
      </p:sp>
      <p:sp>
        <p:nvSpPr>
          <p:cNvPr id="375" name="r375"/>
          <p:cNvSpPr>
            <a:spLocks noGrp="1"/>
          </p:cNvSpPr>
          <p:nvPr/>
        </p:nvSpPr>
        <p:spPr>
          <a:xfrm>
            <a:off x="6120000" y="16848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376" name="t376"/>
          <p:cNvSpPr txBox="1"/>
          <p:nvPr/>
        </p:nvSpPr>
        <p:spPr>
          <a:xfrm>
            <a:off x="6245999" y="16056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08 – Afzalliklar, chaqiriqlar, istiqbol</a:t>
            </a:r>
          </a:p>
        </p:txBody>
      </p:sp>
    </p:spTree>
  </p:cSld>
  <p:clrMapOvr>
    <a:masterClr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377" name="r377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78" name="t378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01 · RAQAMLI TIBBIYOT INQILOBI</a:t>
            </a:r>
          </a:p>
        </p:txBody>
      </p:sp>
      <p:sp>
        <p:nvSpPr>
          <p:cNvPr id="379" name="r379"/>
          <p:cNvSpPr>
            <a:spLocks noGrp="1"/>
          </p:cNvSpPr>
          <p:nvPr/>
        </p:nvSpPr>
        <p:spPr>
          <a:xfrm>
            <a:off x="180000" y="720000"/>
            <a:ext cx="79200" cy="216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80" name="t380"/>
          <p:cNvSpPr txBox="1"/>
          <p:nvPr/>
        </p:nvSpPr>
        <p:spPr>
          <a:xfrm>
            <a:off x="396000" y="720000"/>
            <a:ext cx="558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Tibbiyot an'anaviy modeldan ma'lumotlarga asoslangan,</a:t>
            </a:r>
          </a:p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bemorga yo'naltirilgan va masofadan boshqariladigan</a:t>
            </a:r>
          </a:p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tizimga o'tmoqda. VR/AR, AI va telemeditsina — uch ustun.</a:t>
            </a:r>
          </a:p>
        </p:txBody>
      </p:sp>
      <p:sp>
        <p:nvSpPr>
          <p:cNvPr id="381" name="t381"/>
          <p:cNvSpPr txBox="1"/>
          <p:nvPr/>
        </p:nvSpPr>
        <p:spPr>
          <a:xfrm>
            <a:off x="396000" y="1728000"/>
            <a:ext cx="54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22E6FF"/>
                </a:solidFill>
                <a:latin typeface="+mj-lt"/>
              </a:rPr>
              <a:t>Aniqlik  ·  Profilaktika  ·  Masofaviy g'amxo'rlik</a:t>
            </a:r>
          </a:p>
        </p:txBody>
      </p:sp>
      <p:sp>
        <p:nvSpPr>
          <p:cNvPr id="382" name="r382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383" name="t383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+mj-lt"/>
              </a:rPr>
              <a:t>Nega aynan hozir?</a:t>
            </a:r>
          </a:p>
        </p:txBody>
      </p:sp>
      <p:sp>
        <p:nvSpPr>
          <p:cNvPr id="384" name="r384"/>
          <p:cNvSpPr>
            <a:spLocks noGrp="1"/>
          </p:cNvSpPr>
          <p:nvPr/>
        </p:nvSpPr>
        <p:spPr>
          <a:xfrm>
            <a:off x="6623999" y="1303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85" name="t385"/>
          <p:cNvSpPr txBox="1"/>
          <p:nvPr/>
        </p:nvSpPr>
        <p:spPr>
          <a:xfrm>
            <a:off x="6749998" y="12240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Hisoblash quvvati va bulutli xizmatlar</a:t>
            </a:r>
          </a:p>
        </p:txBody>
      </p:sp>
      <p:sp>
        <p:nvSpPr>
          <p:cNvPr id="386" name="r386"/>
          <p:cNvSpPr>
            <a:spLocks noGrp="1"/>
          </p:cNvSpPr>
          <p:nvPr/>
        </p:nvSpPr>
        <p:spPr>
          <a:xfrm>
            <a:off x="6623999" y="15984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87" name="t387"/>
          <p:cNvSpPr txBox="1"/>
          <p:nvPr/>
        </p:nvSpPr>
        <p:spPr>
          <a:xfrm>
            <a:off x="6749998" y="15192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Katta tibbiy ma'lumotlar (Big Data)</a:t>
            </a:r>
          </a:p>
        </p:txBody>
      </p:sp>
      <p:sp>
        <p:nvSpPr>
          <p:cNvPr id="388" name="r388"/>
          <p:cNvSpPr>
            <a:spLocks noGrp="1"/>
          </p:cNvSpPr>
          <p:nvPr/>
        </p:nvSpPr>
        <p:spPr>
          <a:xfrm>
            <a:off x="6623999" y="1893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89" name="t389"/>
          <p:cNvSpPr txBox="1"/>
          <p:nvPr/>
        </p:nvSpPr>
        <p:spPr>
          <a:xfrm>
            <a:off x="6749998" y="18144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5G va kiyiladigan qurilmalar</a:t>
            </a:r>
          </a:p>
        </p:txBody>
      </p:sp>
      <p:sp>
        <p:nvSpPr>
          <p:cNvPr id="390" name="r390"/>
          <p:cNvSpPr>
            <a:spLocks noGrp="1"/>
          </p:cNvSpPr>
          <p:nvPr/>
        </p:nvSpPr>
        <p:spPr>
          <a:xfrm>
            <a:off x="6623999" y="21888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91" name="t391"/>
          <p:cNvSpPr txBox="1"/>
          <p:nvPr/>
        </p:nvSpPr>
        <p:spPr>
          <a:xfrm>
            <a:off x="6749998" y="21096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Pandemiyadan keyingi raqamli talab</a:t>
            </a:r>
          </a:p>
        </p:txBody>
      </p:sp>
    </p:spTree>
  </p:cSld>
  <p:clrMapOvr>
    <a:masterClr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392" name="r39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93" name="t39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02 · VIRTUAL VA KENGAYTIRILGAN REALLIK</a:t>
            </a:r>
          </a:p>
        </p:txBody>
      </p:sp>
      <p:sp>
        <p:nvSpPr>
          <p:cNvPr id="394" name="r394"/>
          <p:cNvSpPr>
            <a:spLocks noGrp="1"/>
          </p:cNvSpPr>
          <p:nvPr/>
        </p:nvSpPr>
        <p:spPr>
          <a:xfrm>
            <a:off x="180000" y="72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395" name="r395"/>
          <p:cNvSpPr>
            <a:spLocks noGrp="1"/>
          </p:cNvSpPr>
          <p:nvPr/>
        </p:nvSpPr>
        <p:spPr>
          <a:xfrm>
            <a:off x="180000" y="720000"/>
            <a:ext cx="3780000" cy="90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96" name="t396"/>
          <p:cNvSpPr txBox="1"/>
          <p:nvPr/>
        </p:nvSpPr>
        <p:spPr>
          <a:xfrm>
            <a:off x="288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VR — Virtual reallik</a:t>
            </a:r>
          </a:p>
        </p:txBody>
      </p:sp>
      <p:sp>
        <p:nvSpPr>
          <p:cNvPr id="397" name="t397"/>
          <p:cNvSpPr txBox="1"/>
          <p:nvPr/>
        </p:nvSpPr>
        <p:spPr>
          <a:xfrm>
            <a:off x="288000" y="1188000"/>
            <a:ext cx="3600000" cy="55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Foydalanuvchini to'liq raqamli muhitga botiradi. Trening va simulyatsiya uchun ideal.</a:t>
            </a:r>
          </a:p>
        </p:txBody>
      </p:sp>
      <p:sp>
        <p:nvSpPr>
          <p:cNvPr id="398" name="r398"/>
          <p:cNvSpPr>
            <a:spLocks noGrp="1"/>
          </p:cNvSpPr>
          <p:nvPr/>
        </p:nvSpPr>
        <p:spPr>
          <a:xfrm>
            <a:off x="4176000" y="72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399" name="r399"/>
          <p:cNvSpPr>
            <a:spLocks noGrp="1"/>
          </p:cNvSpPr>
          <p:nvPr/>
        </p:nvSpPr>
        <p:spPr>
          <a:xfrm>
            <a:off x="4176000" y="720000"/>
            <a:ext cx="3780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00" name="t400"/>
          <p:cNvSpPr txBox="1"/>
          <p:nvPr/>
        </p:nvSpPr>
        <p:spPr>
          <a:xfrm>
            <a:off x="4284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AR — Kengaytirilgan reallik</a:t>
            </a:r>
          </a:p>
        </p:txBody>
      </p:sp>
      <p:sp>
        <p:nvSpPr>
          <p:cNvPr id="401" name="t401"/>
          <p:cNvSpPr txBox="1"/>
          <p:nvPr/>
        </p:nvSpPr>
        <p:spPr>
          <a:xfrm>
            <a:off x="4284000" y="1188000"/>
            <a:ext cx="3600000" cy="55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Real dunyo ustiga raqamli ma'lumot qo'shadi — masalan operatsiya paytida.</a:t>
            </a:r>
          </a:p>
        </p:txBody>
      </p:sp>
      <p:sp>
        <p:nvSpPr>
          <p:cNvPr id="402" name="r402"/>
          <p:cNvSpPr>
            <a:spLocks noGrp="1"/>
          </p:cNvSpPr>
          <p:nvPr/>
        </p:nvSpPr>
        <p:spPr>
          <a:xfrm>
            <a:off x="8172000" y="72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03" name="r403"/>
          <p:cNvSpPr>
            <a:spLocks noGrp="1"/>
          </p:cNvSpPr>
          <p:nvPr/>
        </p:nvSpPr>
        <p:spPr>
          <a:xfrm>
            <a:off x="8172000" y="720000"/>
            <a:ext cx="3780000" cy="900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404" name="t404"/>
          <p:cNvSpPr txBox="1"/>
          <p:nvPr/>
        </p:nvSpPr>
        <p:spPr>
          <a:xfrm>
            <a:off x="8280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MR — Aralash reallik</a:t>
            </a:r>
          </a:p>
        </p:txBody>
      </p:sp>
      <p:sp>
        <p:nvSpPr>
          <p:cNvPr id="405" name="t405"/>
          <p:cNvSpPr txBox="1"/>
          <p:nvPr/>
        </p:nvSpPr>
        <p:spPr>
          <a:xfrm>
            <a:off x="8280000" y="1188000"/>
            <a:ext cx="3600000" cy="55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VR va AR sintezi: virtual ob'ektlar real muhit bilan o'zaro ta'sirlashadi.</a:t>
            </a:r>
          </a:p>
        </p:txBody>
      </p:sp>
      <p:sp>
        <p:nvSpPr>
          <p:cNvPr id="406" name="r406"/>
          <p:cNvSpPr>
            <a:spLocks noGrp="1"/>
          </p:cNvSpPr>
          <p:nvPr/>
        </p:nvSpPr>
        <p:spPr>
          <a:xfrm>
            <a:off x="180000" y="1980000"/>
            <a:ext cx="3911999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07" name="t407"/>
          <p:cNvSpPr txBox="1"/>
          <p:nvPr/>
        </p:nvSpPr>
        <p:spPr>
          <a:xfrm>
            <a:off x="252000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22E6FF"/>
                </a:solidFill>
                <a:latin typeface="+mj-lt"/>
              </a:rPr>
              <a:t>3D</a:t>
            </a:r>
          </a:p>
        </p:txBody>
      </p:sp>
      <p:sp>
        <p:nvSpPr>
          <p:cNvPr id="408" name="t408"/>
          <p:cNvSpPr txBox="1"/>
          <p:nvPr/>
        </p:nvSpPr>
        <p:spPr>
          <a:xfrm>
            <a:off x="252000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Anatomiyani hajmli o'rganish</a:t>
            </a:r>
          </a:p>
        </p:txBody>
      </p:sp>
      <p:sp>
        <p:nvSpPr>
          <p:cNvPr id="409" name="r409"/>
          <p:cNvSpPr>
            <a:spLocks noGrp="1"/>
          </p:cNvSpPr>
          <p:nvPr/>
        </p:nvSpPr>
        <p:spPr>
          <a:xfrm>
            <a:off x="4199999" y="1980000"/>
            <a:ext cx="3911999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10" name="t410"/>
          <p:cNvSpPr txBox="1"/>
          <p:nvPr/>
        </p:nvSpPr>
        <p:spPr>
          <a:xfrm>
            <a:off x="4271999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22E6FF"/>
                </a:solidFill>
                <a:latin typeface="+mj-lt"/>
              </a:rPr>
              <a:t>80%</a:t>
            </a:r>
          </a:p>
        </p:txBody>
      </p:sp>
      <p:sp>
        <p:nvSpPr>
          <p:cNvPr id="411" name="t411"/>
          <p:cNvSpPr txBox="1"/>
          <p:nvPr/>
        </p:nvSpPr>
        <p:spPr>
          <a:xfrm>
            <a:off x="4271999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Bilimni eslab qolish</a:t>
            </a:r>
          </a:p>
        </p:txBody>
      </p:sp>
      <p:sp>
        <p:nvSpPr>
          <p:cNvPr id="412" name="r412"/>
          <p:cNvSpPr>
            <a:spLocks noGrp="1"/>
          </p:cNvSpPr>
          <p:nvPr/>
        </p:nvSpPr>
        <p:spPr>
          <a:xfrm>
            <a:off x="8219998" y="1980000"/>
            <a:ext cx="3911999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13" name="t413"/>
          <p:cNvSpPr txBox="1"/>
          <p:nvPr/>
        </p:nvSpPr>
        <p:spPr>
          <a:xfrm>
            <a:off x="8291998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22E6FF"/>
                </a:solidFill>
                <a:latin typeface="+mj-lt"/>
              </a:rPr>
              <a:t>0 risk</a:t>
            </a:r>
          </a:p>
        </p:txBody>
      </p:sp>
      <p:sp>
        <p:nvSpPr>
          <p:cNvPr id="414" name="t414"/>
          <p:cNvSpPr txBox="1"/>
          <p:nvPr/>
        </p:nvSpPr>
        <p:spPr>
          <a:xfrm>
            <a:off x="8291998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Bemorsiz xavfsiz mashq</a:t>
            </a:r>
          </a:p>
        </p:txBody>
      </p:sp>
    </p:spTree>
  </p:cSld>
  <p:clrMapOvr>
    <a:masterClr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415" name="r415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16" name="t416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03 · VR/AR KLINIK AMALIYOTDA</a:t>
            </a:r>
          </a:p>
        </p:txBody>
      </p:sp>
      <p:sp>
        <p:nvSpPr>
          <p:cNvPr id="417" name="r417"/>
          <p:cNvSpPr>
            <a:spLocks noGrp="1"/>
          </p:cNvSpPr>
          <p:nvPr/>
        </p:nvSpPr>
        <p:spPr>
          <a:xfrm>
            <a:off x="180000" y="720000"/>
            <a:ext cx="5580000" cy="115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18" name="r418"/>
          <p:cNvSpPr>
            <a:spLocks noGrp="1"/>
          </p:cNvSpPr>
          <p:nvPr/>
        </p:nvSpPr>
        <p:spPr>
          <a:xfrm>
            <a:off x="180000" y="720000"/>
            <a:ext cx="5580000" cy="1008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19" name="t419"/>
          <p:cNvSpPr txBox="1"/>
          <p:nvPr/>
        </p:nvSpPr>
        <p:spPr>
          <a:xfrm>
            <a:off x="288000" y="892800"/>
            <a:ext cx="54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+mj-lt"/>
              </a:rPr>
              <a:t>Xirurgik trening va rejalashtirish</a:t>
            </a:r>
          </a:p>
        </p:txBody>
      </p:sp>
      <p:sp>
        <p:nvSpPr>
          <p:cNvPr id="420" name="t420"/>
          <p:cNvSpPr txBox="1"/>
          <p:nvPr/>
        </p:nvSpPr>
        <p:spPr>
          <a:xfrm>
            <a:off x="288000" y="1188000"/>
            <a:ext cx="540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+mj-lt"/>
              </a:rPr>
              <a:t>Murakkab operatsiyalarni avval virtual mashq qilish, 3D rejalashtirish.</a:t>
            </a:r>
          </a:p>
        </p:txBody>
      </p:sp>
      <p:sp>
        <p:nvSpPr>
          <p:cNvPr id="421" name="r421"/>
          <p:cNvSpPr>
            <a:spLocks noGrp="1"/>
          </p:cNvSpPr>
          <p:nvPr/>
        </p:nvSpPr>
        <p:spPr>
          <a:xfrm>
            <a:off x="6192000" y="720000"/>
            <a:ext cx="5580000" cy="115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22" name="r422"/>
          <p:cNvSpPr>
            <a:spLocks noGrp="1"/>
          </p:cNvSpPr>
          <p:nvPr/>
        </p:nvSpPr>
        <p:spPr>
          <a:xfrm>
            <a:off x="6192000" y="720000"/>
            <a:ext cx="5580000" cy="1008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23" name="t423"/>
          <p:cNvSpPr txBox="1"/>
          <p:nvPr/>
        </p:nvSpPr>
        <p:spPr>
          <a:xfrm>
            <a:off x="6300000" y="892800"/>
            <a:ext cx="54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+mj-lt"/>
              </a:rPr>
              <a:t>AR navigatsiya operatsiyada</a:t>
            </a:r>
          </a:p>
        </p:txBody>
      </p:sp>
      <p:sp>
        <p:nvSpPr>
          <p:cNvPr id="424" name="t424"/>
          <p:cNvSpPr txBox="1"/>
          <p:nvPr/>
        </p:nvSpPr>
        <p:spPr>
          <a:xfrm>
            <a:off x="6300000" y="1188000"/>
            <a:ext cx="540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+mj-lt"/>
              </a:rPr>
              <a:t>Jarroh ko'rish maydoniga real vaqtda anatomik ma'lumot proyeksiyasi.</a:t>
            </a:r>
          </a:p>
        </p:txBody>
      </p:sp>
      <p:sp>
        <p:nvSpPr>
          <p:cNvPr id="425" name="r425"/>
          <p:cNvSpPr>
            <a:spLocks noGrp="1"/>
          </p:cNvSpPr>
          <p:nvPr/>
        </p:nvSpPr>
        <p:spPr>
          <a:xfrm>
            <a:off x="180000" y="2034000"/>
            <a:ext cx="5580000" cy="115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26" name="r426"/>
          <p:cNvSpPr>
            <a:spLocks noGrp="1"/>
          </p:cNvSpPr>
          <p:nvPr/>
        </p:nvSpPr>
        <p:spPr>
          <a:xfrm>
            <a:off x="180000" y="2034000"/>
            <a:ext cx="5580000" cy="1008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427" name="t427"/>
          <p:cNvSpPr txBox="1"/>
          <p:nvPr/>
        </p:nvSpPr>
        <p:spPr>
          <a:xfrm>
            <a:off x="288000" y="2206800"/>
            <a:ext cx="54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+mj-lt"/>
              </a:rPr>
              <a:t>Og'riq va fobiyalarni boshqarish</a:t>
            </a:r>
          </a:p>
        </p:txBody>
      </p:sp>
      <p:sp>
        <p:nvSpPr>
          <p:cNvPr id="428" name="t428"/>
          <p:cNvSpPr txBox="1"/>
          <p:nvPr/>
        </p:nvSpPr>
        <p:spPr>
          <a:xfrm>
            <a:off x="288000" y="2502000"/>
            <a:ext cx="540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+mj-lt"/>
              </a:rPr>
              <a:t>VR-distraksiya og'riqni kamaytiradi, qo'rquv terapiyasida qo'llanadi.</a:t>
            </a:r>
          </a:p>
        </p:txBody>
      </p:sp>
      <p:sp>
        <p:nvSpPr>
          <p:cNvPr id="429" name="r429"/>
          <p:cNvSpPr>
            <a:spLocks noGrp="1"/>
          </p:cNvSpPr>
          <p:nvPr/>
        </p:nvSpPr>
        <p:spPr>
          <a:xfrm>
            <a:off x="6192000" y="2034000"/>
            <a:ext cx="5580000" cy="115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30" name="r430"/>
          <p:cNvSpPr>
            <a:spLocks noGrp="1"/>
          </p:cNvSpPr>
          <p:nvPr/>
        </p:nvSpPr>
        <p:spPr>
          <a:xfrm>
            <a:off x="6192000" y="2034000"/>
            <a:ext cx="5580000" cy="1008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31" name="t431"/>
          <p:cNvSpPr txBox="1"/>
          <p:nvPr/>
        </p:nvSpPr>
        <p:spPr>
          <a:xfrm>
            <a:off x="6300000" y="2206800"/>
            <a:ext cx="54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+mj-lt"/>
              </a:rPr>
              <a:t>Reabilitatsiya va ta'lim</a:t>
            </a:r>
          </a:p>
        </p:txBody>
      </p:sp>
      <p:sp>
        <p:nvSpPr>
          <p:cNvPr id="432" name="t432"/>
          <p:cNvSpPr txBox="1"/>
          <p:nvPr/>
        </p:nvSpPr>
        <p:spPr>
          <a:xfrm>
            <a:off x="6300000" y="2502000"/>
            <a:ext cx="540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+mj-lt"/>
              </a:rPr>
              <a:t>Insultdan keyingi tiklanish uchun o'yinlashtirilgan mashqlar, simulyatorlar.</a:t>
            </a:r>
          </a:p>
        </p:txBody>
      </p:sp>
    </p:spTree>
  </p:cSld>
  <p:clrMapOvr>
    <a:masterClr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433" name="r433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34" name="t434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04 · SUN'IY INTELLEKT (AI) ASOSLARI</a:t>
            </a:r>
          </a:p>
        </p:txBody>
      </p:sp>
      <p:sp>
        <p:nvSpPr>
          <p:cNvPr id="435" name="r435"/>
          <p:cNvSpPr>
            <a:spLocks noGrp="1"/>
          </p:cNvSpPr>
          <p:nvPr/>
        </p:nvSpPr>
        <p:spPr>
          <a:xfrm>
            <a:off x="180000" y="720000"/>
            <a:ext cx="79200" cy="216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36" name="t436"/>
          <p:cNvSpPr txBox="1"/>
          <p:nvPr/>
        </p:nvSpPr>
        <p:spPr>
          <a:xfrm>
            <a:off x="396000" y="720000"/>
            <a:ext cx="558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AI — kompyuter tizimlarining katta ma'lumotlardan</a:t>
            </a:r>
          </a:p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o'rganish, naqshlarni topish va qaror qabul qilish</a:t>
            </a:r>
          </a:p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qobiliyatidir. Tibbiyotda ML, DL va NLP qo'llanadi.</a:t>
            </a:r>
          </a:p>
        </p:txBody>
      </p:sp>
      <p:sp>
        <p:nvSpPr>
          <p:cNvPr id="437" name="r437"/>
          <p:cNvSpPr>
            <a:spLocks noGrp="1"/>
          </p:cNvSpPr>
          <p:nvPr/>
        </p:nvSpPr>
        <p:spPr>
          <a:xfrm>
            <a:off x="396000" y="1807200"/>
            <a:ext cx="57600" cy="576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38" name="t438"/>
          <p:cNvSpPr txBox="1"/>
          <p:nvPr/>
        </p:nvSpPr>
        <p:spPr>
          <a:xfrm>
            <a:off x="521999" y="1728000"/>
            <a:ext cx="545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ML — Mashinali o'qitish: ma'lumotdan qonuniyat topish</a:t>
            </a:r>
          </a:p>
        </p:txBody>
      </p:sp>
      <p:sp>
        <p:nvSpPr>
          <p:cNvPr id="439" name="r439"/>
          <p:cNvSpPr>
            <a:spLocks noGrp="1"/>
          </p:cNvSpPr>
          <p:nvPr/>
        </p:nvSpPr>
        <p:spPr>
          <a:xfrm>
            <a:off x="396000" y="2102400"/>
            <a:ext cx="57600" cy="576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40" name="t440"/>
          <p:cNvSpPr txBox="1"/>
          <p:nvPr/>
        </p:nvSpPr>
        <p:spPr>
          <a:xfrm>
            <a:off x="521999" y="2023200"/>
            <a:ext cx="545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DL — Chuqur o'qitish: tasvir va signallarni tahlil</a:t>
            </a:r>
          </a:p>
        </p:txBody>
      </p:sp>
      <p:sp>
        <p:nvSpPr>
          <p:cNvPr id="441" name="r441"/>
          <p:cNvSpPr>
            <a:spLocks noGrp="1"/>
          </p:cNvSpPr>
          <p:nvPr/>
        </p:nvSpPr>
        <p:spPr>
          <a:xfrm>
            <a:off x="396000" y="2397600"/>
            <a:ext cx="57600" cy="576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42" name="t442"/>
          <p:cNvSpPr txBox="1"/>
          <p:nvPr/>
        </p:nvSpPr>
        <p:spPr>
          <a:xfrm>
            <a:off x="521999" y="2318400"/>
            <a:ext cx="545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NLP — Tabiiy til: tibbiy hujjatlarni avtomatik tahlil</a:t>
            </a:r>
          </a:p>
        </p:txBody>
      </p:sp>
      <p:sp>
        <p:nvSpPr>
          <p:cNvPr id="443" name="r443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44" name="t444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+mj-lt"/>
              </a:rPr>
              <a:t>AI nimani uddalaydi?</a:t>
            </a:r>
          </a:p>
        </p:txBody>
      </p:sp>
      <p:sp>
        <p:nvSpPr>
          <p:cNvPr id="445" name="r445"/>
          <p:cNvSpPr>
            <a:spLocks noGrp="1"/>
          </p:cNvSpPr>
          <p:nvPr/>
        </p:nvSpPr>
        <p:spPr>
          <a:xfrm>
            <a:off x="6623999" y="1303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46" name="t446"/>
          <p:cNvSpPr txBox="1"/>
          <p:nvPr/>
        </p:nvSpPr>
        <p:spPr>
          <a:xfrm>
            <a:off x="6749998" y="12240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Tibbiy tasvirlarni tahlil qilish</a:t>
            </a:r>
          </a:p>
        </p:txBody>
      </p:sp>
      <p:sp>
        <p:nvSpPr>
          <p:cNvPr id="447" name="r447"/>
          <p:cNvSpPr>
            <a:spLocks noGrp="1"/>
          </p:cNvSpPr>
          <p:nvPr/>
        </p:nvSpPr>
        <p:spPr>
          <a:xfrm>
            <a:off x="6623999" y="15984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48" name="t448"/>
          <p:cNvSpPr txBox="1"/>
          <p:nvPr/>
        </p:nvSpPr>
        <p:spPr>
          <a:xfrm>
            <a:off x="6749998" y="15192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Xavf-xatarni bashorat qilish</a:t>
            </a:r>
          </a:p>
        </p:txBody>
      </p:sp>
      <p:sp>
        <p:nvSpPr>
          <p:cNvPr id="449" name="r449"/>
          <p:cNvSpPr>
            <a:spLocks noGrp="1"/>
          </p:cNvSpPr>
          <p:nvPr/>
        </p:nvSpPr>
        <p:spPr>
          <a:xfrm>
            <a:off x="6623999" y="1893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50" name="t450"/>
          <p:cNvSpPr txBox="1"/>
          <p:nvPr/>
        </p:nvSpPr>
        <p:spPr>
          <a:xfrm>
            <a:off x="6749998" y="18144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Hujjatlarni avtomatlashtirish</a:t>
            </a:r>
          </a:p>
        </p:txBody>
      </p:sp>
      <p:sp>
        <p:nvSpPr>
          <p:cNvPr id="451" name="r451"/>
          <p:cNvSpPr>
            <a:spLocks noGrp="1"/>
          </p:cNvSpPr>
          <p:nvPr/>
        </p:nvSpPr>
        <p:spPr>
          <a:xfrm>
            <a:off x="6623999" y="21888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52" name="t452"/>
          <p:cNvSpPr txBox="1"/>
          <p:nvPr/>
        </p:nvSpPr>
        <p:spPr>
          <a:xfrm>
            <a:off x="6749998" y="21096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Shifokorga qaror qo'llab-quvvatlash</a:t>
            </a:r>
          </a:p>
        </p:txBody>
      </p:sp>
    </p:spTree>
  </p:cSld>
  <p:clrMapOvr>
    <a:masterClr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453" name="r453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54" name="t454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05 · AI TASHXIS VA DAVOLASHDA</a:t>
            </a:r>
          </a:p>
        </p:txBody>
      </p:sp>
      <p:sp>
        <p:nvSpPr>
          <p:cNvPr id="455" name="r455"/>
          <p:cNvSpPr>
            <a:spLocks noGrp="1"/>
          </p:cNvSpPr>
          <p:nvPr/>
        </p:nvSpPr>
        <p:spPr>
          <a:xfrm>
            <a:off x="180000" y="720000"/>
            <a:ext cx="3780000" cy="1044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56" name="r456"/>
          <p:cNvSpPr>
            <a:spLocks noGrp="1"/>
          </p:cNvSpPr>
          <p:nvPr/>
        </p:nvSpPr>
        <p:spPr>
          <a:xfrm>
            <a:off x="180000" y="720000"/>
            <a:ext cx="3780000" cy="90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57" name="t457"/>
          <p:cNvSpPr txBox="1"/>
          <p:nvPr/>
        </p:nvSpPr>
        <p:spPr>
          <a:xfrm>
            <a:off x="288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Tibbiy tasvir tahlili</a:t>
            </a:r>
          </a:p>
        </p:txBody>
      </p:sp>
      <p:sp>
        <p:nvSpPr>
          <p:cNvPr id="458" name="t458"/>
          <p:cNvSpPr txBox="1"/>
          <p:nvPr/>
        </p:nvSpPr>
        <p:spPr>
          <a:xfrm>
            <a:off x="288000" y="1188000"/>
            <a:ext cx="3600000" cy="52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Rentgen, KT, MRT va gistologiyada patologiyani aniqlash.</a:t>
            </a:r>
          </a:p>
        </p:txBody>
      </p:sp>
      <p:sp>
        <p:nvSpPr>
          <p:cNvPr id="459" name="r459"/>
          <p:cNvSpPr>
            <a:spLocks noGrp="1"/>
          </p:cNvSpPr>
          <p:nvPr/>
        </p:nvSpPr>
        <p:spPr>
          <a:xfrm>
            <a:off x="4176000" y="720000"/>
            <a:ext cx="3780000" cy="1044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60" name="r460"/>
          <p:cNvSpPr>
            <a:spLocks noGrp="1"/>
          </p:cNvSpPr>
          <p:nvPr/>
        </p:nvSpPr>
        <p:spPr>
          <a:xfrm>
            <a:off x="4176000" y="720000"/>
            <a:ext cx="3780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61" name="t461"/>
          <p:cNvSpPr txBox="1"/>
          <p:nvPr/>
        </p:nvSpPr>
        <p:spPr>
          <a:xfrm>
            <a:off x="4284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Bashoratli tahlil</a:t>
            </a:r>
          </a:p>
        </p:txBody>
      </p:sp>
      <p:sp>
        <p:nvSpPr>
          <p:cNvPr id="462" name="t462"/>
          <p:cNvSpPr txBox="1"/>
          <p:nvPr/>
        </p:nvSpPr>
        <p:spPr>
          <a:xfrm>
            <a:off x="4284000" y="1188000"/>
            <a:ext cx="3600000" cy="52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Asoratlar va kasallik xavfini erta bashorat qilish.</a:t>
            </a:r>
          </a:p>
        </p:txBody>
      </p:sp>
      <p:sp>
        <p:nvSpPr>
          <p:cNvPr id="463" name="r463"/>
          <p:cNvSpPr>
            <a:spLocks noGrp="1"/>
          </p:cNvSpPr>
          <p:nvPr/>
        </p:nvSpPr>
        <p:spPr>
          <a:xfrm>
            <a:off x="8172000" y="720000"/>
            <a:ext cx="3780000" cy="1044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64" name="r464"/>
          <p:cNvSpPr>
            <a:spLocks noGrp="1"/>
          </p:cNvSpPr>
          <p:nvPr/>
        </p:nvSpPr>
        <p:spPr>
          <a:xfrm>
            <a:off x="8172000" y="720000"/>
            <a:ext cx="3780000" cy="900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465" name="t465"/>
          <p:cNvSpPr txBox="1"/>
          <p:nvPr/>
        </p:nvSpPr>
        <p:spPr>
          <a:xfrm>
            <a:off x="8280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Shaxsiy davolash</a:t>
            </a:r>
          </a:p>
        </p:txBody>
      </p:sp>
      <p:sp>
        <p:nvSpPr>
          <p:cNvPr id="466" name="t466"/>
          <p:cNvSpPr txBox="1"/>
          <p:nvPr/>
        </p:nvSpPr>
        <p:spPr>
          <a:xfrm>
            <a:off x="8280000" y="1188000"/>
            <a:ext cx="3600000" cy="52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Har bir bemorga moslangan davo rejasi.</a:t>
            </a:r>
          </a:p>
        </p:txBody>
      </p:sp>
      <p:sp>
        <p:nvSpPr>
          <p:cNvPr id="467" name="r467"/>
          <p:cNvSpPr>
            <a:spLocks noGrp="1"/>
          </p:cNvSpPr>
          <p:nvPr/>
        </p:nvSpPr>
        <p:spPr>
          <a:xfrm>
            <a:off x="180000" y="1872000"/>
            <a:ext cx="3780000" cy="1044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68" name="r468"/>
          <p:cNvSpPr>
            <a:spLocks noGrp="1"/>
          </p:cNvSpPr>
          <p:nvPr/>
        </p:nvSpPr>
        <p:spPr>
          <a:xfrm>
            <a:off x="180000" y="1872000"/>
            <a:ext cx="3780000" cy="90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69" name="t469"/>
          <p:cNvSpPr txBox="1"/>
          <p:nvPr/>
        </p:nvSpPr>
        <p:spPr>
          <a:xfrm>
            <a:off x="288000" y="2034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Dori kashfiyoti</a:t>
            </a:r>
          </a:p>
        </p:txBody>
      </p:sp>
      <p:sp>
        <p:nvSpPr>
          <p:cNvPr id="470" name="t470"/>
          <p:cNvSpPr txBox="1"/>
          <p:nvPr/>
        </p:nvSpPr>
        <p:spPr>
          <a:xfrm>
            <a:off x="288000" y="2340000"/>
            <a:ext cx="3600000" cy="52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Yangi molekulalarni tezroq topish va sinash.</a:t>
            </a:r>
          </a:p>
        </p:txBody>
      </p:sp>
      <p:sp>
        <p:nvSpPr>
          <p:cNvPr id="471" name="r471"/>
          <p:cNvSpPr>
            <a:spLocks noGrp="1"/>
          </p:cNvSpPr>
          <p:nvPr/>
        </p:nvSpPr>
        <p:spPr>
          <a:xfrm>
            <a:off x="4176000" y="1872000"/>
            <a:ext cx="3780000" cy="1044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72" name="r472"/>
          <p:cNvSpPr>
            <a:spLocks noGrp="1"/>
          </p:cNvSpPr>
          <p:nvPr/>
        </p:nvSpPr>
        <p:spPr>
          <a:xfrm>
            <a:off x="4176000" y="1872000"/>
            <a:ext cx="3780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73" name="t473"/>
          <p:cNvSpPr txBox="1"/>
          <p:nvPr/>
        </p:nvSpPr>
        <p:spPr>
          <a:xfrm>
            <a:off x="4284000" y="2034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Virtual yordamchilar</a:t>
            </a:r>
          </a:p>
        </p:txBody>
      </p:sp>
      <p:sp>
        <p:nvSpPr>
          <p:cNvPr id="474" name="t474"/>
          <p:cNvSpPr txBox="1"/>
          <p:nvPr/>
        </p:nvSpPr>
        <p:spPr>
          <a:xfrm>
            <a:off x="4284000" y="2340000"/>
            <a:ext cx="3600000" cy="52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Chatbotlar bemor savollariga javob beradi, triaj qiladi.</a:t>
            </a:r>
          </a:p>
        </p:txBody>
      </p:sp>
      <p:sp>
        <p:nvSpPr>
          <p:cNvPr id="475" name="r475"/>
          <p:cNvSpPr>
            <a:spLocks noGrp="1"/>
          </p:cNvSpPr>
          <p:nvPr/>
        </p:nvSpPr>
        <p:spPr>
          <a:xfrm>
            <a:off x="8172000" y="1872000"/>
            <a:ext cx="3780000" cy="1044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76" name="r476"/>
          <p:cNvSpPr>
            <a:spLocks noGrp="1"/>
          </p:cNvSpPr>
          <p:nvPr/>
        </p:nvSpPr>
        <p:spPr>
          <a:xfrm>
            <a:off x="8172000" y="1872000"/>
            <a:ext cx="3780000" cy="900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477" name="t477"/>
          <p:cNvSpPr txBox="1"/>
          <p:nvPr/>
        </p:nvSpPr>
        <p:spPr>
          <a:xfrm>
            <a:off x="8280000" y="2034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Ish jarayonini optimallashtirish</a:t>
            </a:r>
          </a:p>
        </p:txBody>
      </p:sp>
      <p:sp>
        <p:nvSpPr>
          <p:cNvPr id="478" name="t478"/>
          <p:cNvSpPr txBox="1"/>
          <p:nvPr/>
        </p:nvSpPr>
        <p:spPr>
          <a:xfrm>
            <a:off x="8280000" y="2340000"/>
            <a:ext cx="3600000" cy="52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Navbat, resurs va hujjatlarni avtomatlashtirish.</a:t>
            </a:r>
          </a:p>
        </p:txBody>
      </p:sp>
    </p:spTree>
  </p:cSld>
  <p:clrMapOvr>
    <a:masterClr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479" name="r479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80" name="t480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06 · TELEMEDITSINA IMKONIYATLARI</a:t>
            </a:r>
          </a:p>
        </p:txBody>
      </p:sp>
      <p:sp>
        <p:nvSpPr>
          <p:cNvPr id="481" name="r481"/>
          <p:cNvSpPr>
            <a:spLocks noGrp="1"/>
          </p:cNvSpPr>
          <p:nvPr/>
        </p:nvSpPr>
        <p:spPr>
          <a:xfrm>
            <a:off x="180000" y="720000"/>
            <a:ext cx="79200" cy="216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82" name="t482"/>
          <p:cNvSpPr txBox="1"/>
          <p:nvPr/>
        </p:nvSpPr>
        <p:spPr>
          <a:xfrm>
            <a:off x="396000" y="720000"/>
            <a:ext cx="558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Telemeditsina — axborot-kommunikatsiya texnologiyalari</a:t>
            </a:r>
          </a:p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orqali masofadan tibbiy xizmat ko'rsatish. Masofa va</a:t>
            </a:r>
          </a:p>
          <a:p>
            <a:pPr algn="l" indent="0" marL="0"/>
            <a:r>
              <a:rPr lang="uz-UZ" sz="1400" b="0" dirty="0" smtClean="0">
                <a:solidFill>
                  <a:srgbClr val="EAF0FF"/>
                </a:solidFill>
                <a:latin typeface="+mj-lt"/>
              </a:rPr>
              <a:t>resurs to'siqlarini bartaraf etadi.</a:t>
            </a:r>
          </a:p>
        </p:txBody>
      </p:sp>
      <p:sp>
        <p:nvSpPr>
          <p:cNvPr id="483" name="r483"/>
          <p:cNvSpPr>
            <a:spLocks noGrp="1"/>
          </p:cNvSpPr>
          <p:nvPr/>
        </p:nvSpPr>
        <p:spPr>
          <a:xfrm>
            <a:off x="396000" y="1807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84" name="t484"/>
          <p:cNvSpPr txBox="1"/>
          <p:nvPr/>
        </p:nvSpPr>
        <p:spPr>
          <a:xfrm>
            <a:off x="521999" y="1728000"/>
            <a:ext cx="545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Telekonsultatsiya — masofaviy shifokor qabuli</a:t>
            </a:r>
          </a:p>
        </p:txBody>
      </p:sp>
      <p:sp>
        <p:nvSpPr>
          <p:cNvPr id="485" name="r485"/>
          <p:cNvSpPr>
            <a:spLocks noGrp="1"/>
          </p:cNvSpPr>
          <p:nvPr/>
        </p:nvSpPr>
        <p:spPr>
          <a:xfrm>
            <a:off x="396000" y="21024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86" name="t486"/>
          <p:cNvSpPr txBox="1"/>
          <p:nvPr/>
        </p:nvSpPr>
        <p:spPr>
          <a:xfrm>
            <a:off x="521999" y="2023200"/>
            <a:ext cx="545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Telemonitoring — surunkali kasalliklarni masofadan kuzatish</a:t>
            </a:r>
          </a:p>
        </p:txBody>
      </p:sp>
      <p:sp>
        <p:nvSpPr>
          <p:cNvPr id="487" name="r487"/>
          <p:cNvSpPr>
            <a:spLocks noGrp="1"/>
          </p:cNvSpPr>
          <p:nvPr/>
        </p:nvSpPr>
        <p:spPr>
          <a:xfrm>
            <a:off x="396000" y="2397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88" name="t488"/>
          <p:cNvSpPr txBox="1"/>
          <p:nvPr/>
        </p:nvSpPr>
        <p:spPr>
          <a:xfrm>
            <a:off x="521999" y="2318400"/>
            <a:ext cx="545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Tel-radiologiya / patologiya — tasvirlarni masofaviy tahlil</a:t>
            </a:r>
          </a:p>
        </p:txBody>
      </p:sp>
      <p:sp>
        <p:nvSpPr>
          <p:cNvPr id="489" name="r489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90" name="t490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+mj-lt"/>
              </a:rPr>
              <a:t>Kimga foydali?</a:t>
            </a:r>
          </a:p>
        </p:txBody>
      </p:sp>
      <p:sp>
        <p:nvSpPr>
          <p:cNvPr id="491" name="r491"/>
          <p:cNvSpPr>
            <a:spLocks noGrp="1"/>
          </p:cNvSpPr>
          <p:nvPr/>
        </p:nvSpPr>
        <p:spPr>
          <a:xfrm>
            <a:off x="6623999" y="1303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92" name="t492"/>
          <p:cNvSpPr txBox="1"/>
          <p:nvPr/>
        </p:nvSpPr>
        <p:spPr>
          <a:xfrm>
            <a:off x="6749998" y="12240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Olis va qishloq hududlari aholisi</a:t>
            </a:r>
          </a:p>
        </p:txBody>
      </p:sp>
      <p:sp>
        <p:nvSpPr>
          <p:cNvPr id="493" name="r493"/>
          <p:cNvSpPr>
            <a:spLocks noGrp="1"/>
          </p:cNvSpPr>
          <p:nvPr/>
        </p:nvSpPr>
        <p:spPr>
          <a:xfrm>
            <a:off x="6623999" y="15984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94" name="t494"/>
          <p:cNvSpPr txBox="1"/>
          <p:nvPr/>
        </p:nvSpPr>
        <p:spPr>
          <a:xfrm>
            <a:off x="6749998" y="15192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Harakati cheklangan bemorlar</a:t>
            </a:r>
          </a:p>
        </p:txBody>
      </p:sp>
      <p:sp>
        <p:nvSpPr>
          <p:cNvPr id="495" name="r495"/>
          <p:cNvSpPr>
            <a:spLocks noGrp="1"/>
          </p:cNvSpPr>
          <p:nvPr/>
        </p:nvSpPr>
        <p:spPr>
          <a:xfrm>
            <a:off x="6623999" y="1893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96" name="t496"/>
          <p:cNvSpPr txBox="1"/>
          <p:nvPr/>
        </p:nvSpPr>
        <p:spPr>
          <a:xfrm>
            <a:off x="6749998" y="18144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Surunkali kasallarni kuzatish</a:t>
            </a:r>
          </a:p>
        </p:txBody>
      </p:sp>
      <p:sp>
        <p:nvSpPr>
          <p:cNvPr id="497" name="r497"/>
          <p:cNvSpPr>
            <a:spLocks noGrp="1"/>
          </p:cNvSpPr>
          <p:nvPr/>
        </p:nvSpPr>
        <p:spPr>
          <a:xfrm>
            <a:off x="6623999" y="21888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98" name="t498"/>
          <p:cNvSpPr txBox="1"/>
          <p:nvPr/>
        </p:nvSpPr>
        <p:spPr>
          <a:xfrm>
            <a:off x="6749998" y="21096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Mutaxassislar yetishmaydigan markazlar</a:t>
            </a:r>
          </a:p>
        </p:txBody>
      </p:sp>
    </p:spTree>
  </p:cSld>
  <p:clrMapOvr>
    <a:masterClr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499" name="r499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00" name="t500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07 · MASOFAVIY REABILITATSIYA</a:t>
            </a:r>
          </a:p>
        </p:txBody>
      </p:sp>
      <p:sp>
        <p:nvSpPr>
          <p:cNvPr id="501" name="t501"/>
          <p:cNvSpPr txBox="1"/>
          <p:nvPr/>
        </p:nvSpPr>
        <p:spPr>
          <a:xfrm>
            <a:off x="216000" y="684000"/>
            <a:ext cx="1152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9AA6D6"/>
                </a:solidFill>
                <a:latin typeface="+mj-lt"/>
              </a:rPr>
              <a:t>Telereabilitatsiya bemorga uy sharoitida, mutaxassis nazorati ostida tiklanish imkonini beradi.</a:t>
            </a:r>
          </a:p>
        </p:txBody>
      </p:sp>
      <p:sp>
        <p:nvSpPr>
          <p:cNvPr id="502" name="r502"/>
          <p:cNvSpPr>
            <a:spLocks noGrp="1"/>
          </p:cNvSpPr>
          <p:nvPr/>
        </p:nvSpPr>
        <p:spPr>
          <a:xfrm>
            <a:off x="180000" y="108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03" name="r503"/>
          <p:cNvSpPr>
            <a:spLocks noGrp="1"/>
          </p:cNvSpPr>
          <p:nvPr/>
        </p:nvSpPr>
        <p:spPr>
          <a:xfrm>
            <a:off x="180000" y="1080000"/>
            <a:ext cx="3780000" cy="90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04" name="t504"/>
          <p:cNvSpPr txBox="1"/>
          <p:nvPr/>
        </p:nvSpPr>
        <p:spPr>
          <a:xfrm>
            <a:off x="288000" y="124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Video-mashg'ulotlar</a:t>
            </a:r>
          </a:p>
        </p:txBody>
      </p:sp>
      <p:sp>
        <p:nvSpPr>
          <p:cNvPr id="505" name="t505"/>
          <p:cNvSpPr txBox="1"/>
          <p:nvPr/>
        </p:nvSpPr>
        <p:spPr>
          <a:xfrm>
            <a:off x="288000" y="1548000"/>
            <a:ext cx="3600000" cy="55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Mashqlarni real vaqtda nazorat qilish va to'g'rilash.</a:t>
            </a:r>
          </a:p>
        </p:txBody>
      </p:sp>
      <p:sp>
        <p:nvSpPr>
          <p:cNvPr id="506" name="r506"/>
          <p:cNvSpPr>
            <a:spLocks noGrp="1"/>
          </p:cNvSpPr>
          <p:nvPr/>
        </p:nvSpPr>
        <p:spPr>
          <a:xfrm>
            <a:off x="4176000" y="108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07" name="r507"/>
          <p:cNvSpPr>
            <a:spLocks noGrp="1"/>
          </p:cNvSpPr>
          <p:nvPr/>
        </p:nvSpPr>
        <p:spPr>
          <a:xfrm>
            <a:off x="4176000" y="1080000"/>
            <a:ext cx="3780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08" name="t508"/>
          <p:cNvSpPr txBox="1"/>
          <p:nvPr/>
        </p:nvSpPr>
        <p:spPr>
          <a:xfrm>
            <a:off x="4284000" y="124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Sensorlar va kiyiladigan qurilmalar</a:t>
            </a:r>
          </a:p>
        </p:txBody>
      </p:sp>
      <p:sp>
        <p:nvSpPr>
          <p:cNvPr id="509" name="t509"/>
          <p:cNvSpPr txBox="1"/>
          <p:nvPr/>
        </p:nvSpPr>
        <p:spPr>
          <a:xfrm>
            <a:off x="4284000" y="1548000"/>
            <a:ext cx="3600000" cy="55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Harakat, yurish va fiziologik ko'rsatkichlarni o'lchash.</a:t>
            </a:r>
          </a:p>
        </p:txBody>
      </p:sp>
      <p:sp>
        <p:nvSpPr>
          <p:cNvPr id="510" name="r510"/>
          <p:cNvSpPr>
            <a:spLocks noGrp="1"/>
          </p:cNvSpPr>
          <p:nvPr/>
        </p:nvSpPr>
        <p:spPr>
          <a:xfrm>
            <a:off x="8172000" y="108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11" name="r511"/>
          <p:cNvSpPr>
            <a:spLocks noGrp="1"/>
          </p:cNvSpPr>
          <p:nvPr/>
        </p:nvSpPr>
        <p:spPr>
          <a:xfrm>
            <a:off x="8172000" y="1080000"/>
            <a:ext cx="3780000" cy="900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512" name="t512"/>
          <p:cNvSpPr txBox="1"/>
          <p:nvPr/>
        </p:nvSpPr>
        <p:spPr>
          <a:xfrm>
            <a:off x="8280000" y="124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VR + AI birikmasi</a:t>
            </a:r>
          </a:p>
        </p:txBody>
      </p:sp>
      <p:sp>
        <p:nvSpPr>
          <p:cNvPr id="513" name="t513"/>
          <p:cNvSpPr txBox="1"/>
          <p:nvPr/>
        </p:nvSpPr>
        <p:spPr>
          <a:xfrm>
            <a:off x="8280000" y="1548000"/>
            <a:ext cx="3600000" cy="55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O'yinlashtirilgan, motivatsion va moslashuvchan reabilitatsiya.</a:t>
            </a:r>
          </a:p>
        </p:txBody>
      </p:sp>
      <p:sp>
        <p:nvSpPr>
          <p:cNvPr id="514" name="r514"/>
          <p:cNvSpPr>
            <a:spLocks noGrp="1"/>
          </p:cNvSpPr>
          <p:nvPr/>
        </p:nvSpPr>
        <p:spPr>
          <a:xfrm>
            <a:off x="180000" y="2448000"/>
            <a:ext cx="5922000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15" name="t515"/>
          <p:cNvSpPr txBox="1"/>
          <p:nvPr/>
        </p:nvSpPr>
        <p:spPr>
          <a:xfrm>
            <a:off x="252000" y="2520000"/>
            <a:ext cx="5778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22E6FF"/>
                </a:solidFill>
                <a:latin typeface="+mj-lt"/>
              </a:rPr>
              <a:t>Adherens yaxshilanadi</a:t>
            </a:r>
          </a:p>
        </p:txBody>
      </p:sp>
      <p:sp>
        <p:nvSpPr>
          <p:cNvPr id="516" name="t516"/>
          <p:cNvSpPr txBox="1"/>
          <p:nvPr/>
        </p:nvSpPr>
        <p:spPr>
          <a:xfrm>
            <a:off x="252000" y="2844000"/>
            <a:ext cx="5778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Dasturga rioya qilish ortadi</a:t>
            </a:r>
          </a:p>
        </p:txBody>
      </p:sp>
      <p:sp>
        <p:nvSpPr>
          <p:cNvPr id="517" name="r517"/>
          <p:cNvSpPr>
            <a:spLocks noGrp="1"/>
          </p:cNvSpPr>
          <p:nvPr/>
        </p:nvSpPr>
        <p:spPr>
          <a:xfrm>
            <a:off x="6210000" y="2448000"/>
            <a:ext cx="5922000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18" name="t518"/>
          <p:cNvSpPr txBox="1"/>
          <p:nvPr/>
        </p:nvSpPr>
        <p:spPr>
          <a:xfrm>
            <a:off x="6282000" y="2520000"/>
            <a:ext cx="5778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22E6FF"/>
                </a:solidFill>
                <a:latin typeface="+mj-lt"/>
              </a:rPr>
              <a:t>Xarajat kamayadi</a:t>
            </a:r>
          </a:p>
        </p:txBody>
      </p:sp>
      <p:sp>
        <p:nvSpPr>
          <p:cNvPr id="519" name="t519"/>
          <p:cNvSpPr txBox="1"/>
          <p:nvPr/>
        </p:nvSpPr>
        <p:spPr>
          <a:xfrm>
            <a:off x="6282000" y="2844000"/>
            <a:ext cx="5778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Qatnov va kasalxona xarajatlari</a:t>
            </a:r>
          </a:p>
        </p:txBody>
      </p:sp>
    </p:spTree>
  </p:cSld>
  <p:clrMapOvr>
    <a:masterClr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520" name="r520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21" name="t521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08 · TEXNOLOGIYALAR INTEGRATSIYASI</a:t>
            </a:r>
          </a:p>
        </p:txBody>
      </p:sp>
      <p:sp>
        <p:nvSpPr>
          <p:cNvPr id="522" name="r522"/>
          <p:cNvSpPr>
            <a:spLocks noGrp="1"/>
          </p:cNvSpPr>
          <p:nvPr/>
        </p:nvSpPr>
        <p:spPr>
          <a:xfrm>
            <a:off x="180000" y="720000"/>
            <a:ext cx="2520000" cy="468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23" name="t523"/>
          <p:cNvSpPr txBox="1"/>
          <p:nvPr/>
        </p:nvSpPr>
        <p:spPr>
          <a:xfrm>
            <a:off x="288000" y="810000"/>
            <a:ext cx="234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500" b="1" dirty="0" smtClean="0">
                <a:solidFill>
                  <a:srgbClr val="22E6FF"/>
                </a:solidFill>
                <a:latin typeface="+mj-lt"/>
              </a:rPr>
              <a:t>Tashxis</a:t>
            </a:r>
          </a:p>
        </p:txBody>
      </p:sp>
      <p:sp>
        <p:nvSpPr>
          <p:cNvPr id="524" name="r524"/>
          <p:cNvSpPr>
            <a:spLocks noGrp="1"/>
          </p:cNvSpPr>
          <p:nvPr/>
        </p:nvSpPr>
        <p:spPr>
          <a:xfrm>
            <a:off x="3060000" y="936000"/>
            <a:ext cx="720000" cy="36000"/>
          </a:xfrm>
          <a:prstGeom prst="rect">
            <a:avLst/>
          </a:prstGeom>
          <a:solidFill>
            <a:srgbClr val="9AA6D6"/>
          </a:solidFill>
          <a:ln>
            <a:noFill/>
          </a:ln>
        </p:spPr>
        <p:txBody>
          <a:bodyPr/>
          <a:lstStyle/>
          <a:p/>
        </p:txBody>
      </p:sp>
      <p:sp>
        <p:nvSpPr>
          <p:cNvPr id="525" name="r525"/>
          <p:cNvSpPr>
            <a:spLocks noGrp="1"/>
          </p:cNvSpPr>
          <p:nvPr/>
        </p:nvSpPr>
        <p:spPr>
          <a:xfrm>
            <a:off x="3960000" y="720000"/>
            <a:ext cx="3240000" cy="468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26" name="t526"/>
          <p:cNvSpPr txBox="1"/>
          <p:nvPr/>
        </p:nvSpPr>
        <p:spPr>
          <a:xfrm>
            <a:off x="4031999" y="810000"/>
            <a:ext cx="306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52D9"/>
                </a:solidFill>
                <a:latin typeface="+mj-lt"/>
              </a:rPr>
              <a:t>AI + Telemeditsina</a:t>
            </a:r>
          </a:p>
        </p:txBody>
      </p:sp>
      <p:sp>
        <p:nvSpPr>
          <p:cNvPr id="527" name="t527"/>
          <p:cNvSpPr txBox="1"/>
          <p:nvPr/>
        </p:nvSpPr>
        <p:spPr>
          <a:xfrm>
            <a:off x="7560000" y="756000"/>
            <a:ext cx="4428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Masofadan yig'ilgan ma'lumotni AI tahlil qiladi, shifokor tasdiqlaydi.</a:t>
            </a:r>
          </a:p>
        </p:txBody>
      </p:sp>
      <p:sp>
        <p:nvSpPr>
          <p:cNvPr id="528" name="r528"/>
          <p:cNvSpPr>
            <a:spLocks noGrp="1"/>
          </p:cNvSpPr>
          <p:nvPr/>
        </p:nvSpPr>
        <p:spPr>
          <a:xfrm>
            <a:off x="180000" y="1332000"/>
            <a:ext cx="2520000" cy="468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29" name="t529"/>
          <p:cNvSpPr txBox="1"/>
          <p:nvPr/>
        </p:nvSpPr>
        <p:spPr>
          <a:xfrm>
            <a:off x="288000" y="1422000"/>
            <a:ext cx="234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500" b="1" dirty="0" smtClean="0">
                <a:solidFill>
                  <a:srgbClr val="22E6FF"/>
                </a:solidFill>
                <a:latin typeface="+mj-lt"/>
              </a:rPr>
              <a:t>Reja</a:t>
            </a:r>
          </a:p>
        </p:txBody>
      </p:sp>
      <p:sp>
        <p:nvSpPr>
          <p:cNvPr id="530" name="r530"/>
          <p:cNvSpPr>
            <a:spLocks noGrp="1"/>
          </p:cNvSpPr>
          <p:nvPr/>
        </p:nvSpPr>
        <p:spPr>
          <a:xfrm>
            <a:off x="3060000" y="1548000"/>
            <a:ext cx="720000" cy="36000"/>
          </a:xfrm>
          <a:prstGeom prst="rect">
            <a:avLst/>
          </a:prstGeom>
          <a:solidFill>
            <a:srgbClr val="9AA6D6"/>
          </a:solidFill>
          <a:ln>
            <a:noFill/>
          </a:ln>
        </p:spPr>
        <p:txBody>
          <a:bodyPr/>
          <a:lstStyle/>
          <a:p/>
        </p:txBody>
      </p:sp>
      <p:sp>
        <p:nvSpPr>
          <p:cNvPr id="531" name="r531"/>
          <p:cNvSpPr>
            <a:spLocks noGrp="1"/>
          </p:cNvSpPr>
          <p:nvPr/>
        </p:nvSpPr>
        <p:spPr>
          <a:xfrm>
            <a:off x="3960000" y="1332000"/>
            <a:ext cx="3240000" cy="468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32" name="t532"/>
          <p:cNvSpPr txBox="1"/>
          <p:nvPr/>
        </p:nvSpPr>
        <p:spPr>
          <a:xfrm>
            <a:off x="4031999" y="1422000"/>
            <a:ext cx="306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52D9"/>
                </a:solidFill>
                <a:latin typeface="+mj-lt"/>
              </a:rPr>
              <a:t>AI + VR/AR</a:t>
            </a:r>
          </a:p>
        </p:txBody>
      </p:sp>
      <p:sp>
        <p:nvSpPr>
          <p:cNvPr id="533" name="t533"/>
          <p:cNvSpPr txBox="1"/>
          <p:nvPr/>
        </p:nvSpPr>
        <p:spPr>
          <a:xfrm>
            <a:off x="7560000" y="1368000"/>
            <a:ext cx="4428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Shaxsiylashtirilgan davo rejasi va 3D operatsiya simulyatsiyasi.</a:t>
            </a:r>
          </a:p>
        </p:txBody>
      </p:sp>
      <p:sp>
        <p:nvSpPr>
          <p:cNvPr id="534" name="r534"/>
          <p:cNvSpPr>
            <a:spLocks noGrp="1"/>
          </p:cNvSpPr>
          <p:nvPr/>
        </p:nvSpPr>
        <p:spPr>
          <a:xfrm>
            <a:off x="180000" y="1944000"/>
            <a:ext cx="2520000" cy="468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35" name="t535"/>
          <p:cNvSpPr txBox="1"/>
          <p:nvPr/>
        </p:nvSpPr>
        <p:spPr>
          <a:xfrm>
            <a:off x="288000" y="2034000"/>
            <a:ext cx="234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500" b="1" dirty="0" smtClean="0">
                <a:solidFill>
                  <a:srgbClr val="22E6FF"/>
                </a:solidFill>
                <a:latin typeface="+mj-lt"/>
              </a:rPr>
              <a:t>Davolash</a:t>
            </a:r>
          </a:p>
        </p:txBody>
      </p:sp>
      <p:sp>
        <p:nvSpPr>
          <p:cNvPr id="536" name="r536"/>
          <p:cNvSpPr>
            <a:spLocks noGrp="1"/>
          </p:cNvSpPr>
          <p:nvPr/>
        </p:nvSpPr>
        <p:spPr>
          <a:xfrm>
            <a:off x="3060000" y="2160000"/>
            <a:ext cx="720000" cy="36000"/>
          </a:xfrm>
          <a:prstGeom prst="rect">
            <a:avLst/>
          </a:prstGeom>
          <a:solidFill>
            <a:srgbClr val="9AA6D6"/>
          </a:solidFill>
          <a:ln>
            <a:noFill/>
          </a:ln>
        </p:spPr>
        <p:txBody>
          <a:bodyPr/>
          <a:lstStyle/>
          <a:p/>
        </p:txBody>
      </p:sp>
      <p:sp>
        <p:nvSpPr>
          <p:cNvPr id="537" name="r537"/>
          <p:cNvSpPr>
            <a:spLocks noGrp="1"/>
          </p:cNvSpPr>
          <p:nvPr/>
        </p:nvSpPr>
        <p:spPr>
          <a:xfrm>
            <a:off x="3960000" y="1944000"/>
            <a:ext cx="3240000" cy="468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38" name="t538"/>
          <p:cNvSpPr txBox="1"/>
          <p:nvPr/>
        </p:nvSpPr>
        <p:spPr>
          <a:xfrm>
            <a:off x="4031999" y="2034000"/>
            <a:ext cx="306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52D9"/>
                </a:solidFill>
                <a:latin typeface="+mj-lt"/>
              </a:rPr>
              <a:t>AR navigatsiya</a:t>
            </a:r>
          </a:p>
        </p:txBody>
      </p:sp>
      <p:sp>
        <p:nvSpPr>
          <p:cNvPr id="539" name="t539"/>
          <p:cNvSpPr txBox="1"/>
          <p:nvPr/>
        </p:nvSpPr>
        <p:spPr>
          <a:xfrm>
            <a:off x="7560000" y="1980000"/>
            <a:ext cx="4428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Operatsiya va protseduralarda real vaqt yo'riqnoma.</a:t>
            </a:r>
          </a:p>
        </p:txBody>
      </p:sp>
      <p:sp>
        <p:nvSpPr>
          <p:cNvPr id="540" name="r540"/>
          <p:cNvSpPr>
            <a:spLocks noGrp="1"/>
          </p:cNvSpPr>
          <p:nvPr/>
        </p:nvSpPr>
        <p:spPr>
          <a:xfrm>
            <a:off x="180000" y="2556000"/>
            <a:ext cx="2520000" cy="468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41" name="t541"/>
          <p:cNvSpPr txBox="1"/>
          <p:nvPr/>
        </p:nvSpPr>
        <p:spPr>
          <a:xfrm>
            <a:off x="288000" y="2646000"/>
            <a:ext cx="234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500" b="1" dirty="0" smtClean="0">
                <a:solidFill>
                  <a:srgbClr val="22E6FF"/>
                </a:solidFill>
                <a:latin typeface="+mj-lt"/>
              </a:rPr>
              <a:t>Tiklanish</a:t>
            </a:r>
          </a:p>
        </p:txBody>
      </p:sp>
      <p:sp>
        <p:nvSpPr>
          <p:cNvPr id="542" name="r542"/>
          <p:cNvSpPr>
            <a:spLocks noGrp="1"/>
          </p:cNvSpPr>
          <p:nvPr/>
        </p:nvSpPr>
        <p:spPr>
          <a:xfrm>
            <a:off x="3060000" y="2772000"/>
            <a:ext cx="720000" cy="36000"/>
          </a:xfrm>
          <a:prstGeom prst="rect">
            <a:avLst/>
          </a:prstGeom>
          <a:solidFill>
            <a:srgbClr val="9AA6D6"/>
          </a:solidFill>
          <a:ln>
            <a:noFill/>
          </a:ln>
        </p:spPr>
        <p:txBody>
          <a:bodyPr/>
          <a:lstStyle/>
          <a:p/>
        </p:txBody>
      </p:sp>
      <p:sp>
        <p:nvSpPr>
          <p:cNvPr id="543" name="r543"/>
          <p:cNvSpPr>
            <a:spLocks noGrp="1"/>
          </p:cNvSpPr>
          <p:nvPr/>
        </p:nvSpPr>
        <p:spPr>
          <a:xfrm>
            <a:off x="3960000" y="2556000"/>
            <a:ext cx="3240000" cy="468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44" name="t544"/>
          <p:cNvSpPr txBox="1"/>
          <p:nvPr/>
        </p:nvSpPr>
        <p:spPr>
          <a:xfrm>
            <a:off x="4031999" y="2646000"/>
            <a:ext cx="306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52D9"/>
                </a:solidFill>
                <a:latin typeface="+mj-lt"/>
              </a:rPr>
              <a:t>Telereabilitatsiya</a:t>
            </a:r>
          </a:p>
        </p:txBody>
      </p:sp>
      <p:sp>
        <p:nvSpPr>
          <p:cNvPr id="545" name="t545"/>
          <p:cNvSpPr txBox="1"/>
          <p:nvPr/>
        </p:nvSpPr>
        <p:spPr>
          <a:xfrm>
            <a:off x="7560000" y="2592000"/>
            <a:ext cx="4428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Uyda VR-mashqlar, sensorlar va masofaviy nazorat.</a:t>
            </a:r>
          </a:p>
        </p:txBody>
      </p:sp>
    </p:spTree>
  </p:cSld>
  <p:clrMapOvr>
    <a:masterClr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546" name="r546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47" name="t547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09 · ASOSIY AFZALLIKLAR</a:t>
            </a:r>
          </a:p>
        </p:txBody>
      </p:sp>
      <p:sp>
        <p:nvSpPr>
          <p:cNvPr id="548" name="r548"/>
          <p:cNvSpPr>
            <a:spLocks noGrp="1"/>
          </p:cNvSpPr>
          <p:nvPr/>
        </p:nvSpPr>
        <p:spPr>
          <a:xfrm>
            <a:off x="180000" y="720000"/>
            <a:ext cx="2808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49" name="r549"/>
          <p:cNvSpPr>
            <a:spLocks noGrp="1"/>
          </p:cNvSpPr>
          <p:nvPr/>
        </p:nvSpPr>
        <p:spPr>
          <a:xfrm>
            <a:off x="180000" y="720000"/>
            <a:ext cx="2808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50" name="t550"/>
          <p:cNvSpPr txBox="1"/>
          <p:nvPr/>
        </p:nvSpPr>
        <p:spPr>
          <a:xfrm>
            <a:off x="288000" y="882000"/>
            <a:ext cx="2628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1" dirty="0" smtClean="0">
                <a:solidFill>
                  <a:srgbClr val="FFFFFF"/>
                </a:solidFill>
                <a:latin typeface="+mj-lt"/>
              </a:rPr>
              <a:t>Aniqlik</a:t>
            </a:r>
          </a:p>
        </p:txBody>
      </p:sp>
      <p:sp>
        <p:nvSpPr>
          <p:cNvPr id="551" name="t551"/>
          <p:cNvSpPr txBox="1"/>
          <p:nvPr/>
        </p:nvSpPr>
        <p:spPr>
          <a:xfrm>
            <a:off x="288000" y="1188000"/>
            <a:ext cx="2628000" cy="55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100" b="0" dirty="0" smtClean="0">
                <a:solidFill>
                  <a:srgbClr val="9AA6D6"/>
                </a:solidFill>
                <a:latin typeface="+mj-lt"/>
              </a:rPr>
              <a:t>Tashxis va davo aniqligi oshadi.</a:t>
            </a:r>
          </a:p>
        </p:txBody>
      </p:sp>
      <p:sp>
        <p:nvSpPr>
          <p:cNvPr id="552" name="r552"/>
          <p:cNvSpPr>
            <a:spLocks noGrp="1"/>
          </p:cNvSpPr>
          <p:nvPr/>
        </p:nvSpPr>
        <p:spPr>
          <a:xfrm>
            <a:off x="3204000" y="720000"/>
            <a:ext cx="2808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53" name="r553"/>
          <p:cNvSpPr>
            <a:spLocks noGrp="1"/>
          </p:cNvSpPr>
          <p:nvPr/>
        </p:nvSpPr>
        <p:spPr>
          <a:xfrm>
            <a:off x="3204000" y="720000"/>
            <a:ext cx="2808000" cy="90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54" name="t554"/>
          <p:cNvSpPr txBox="1"/>
          <p:nvPr/>
        </p:nvSpPr>
        <p:spPr>
          <a:xfrm>
            <a:off x="3312000" y="882000"/>
            <a:ext cx="2628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1" dirty="0" smtClean="0">
                <a:solidFill>
                  <a:srgbClr val="FFFFFF"/>
                </a:solidFill>
                <a:latin typeface="+mj-lt"/>
              </a:rPr>
              <a:t>Tezlik</a:t>
            </a:r>
          </a:p>
        </p:txBody>
      </p:sp>
      <p:sp>
        <p:nvSpPr>
          <p:cNvPr id="555" name="t555"/>
          <p:cNvSpPr txBox="1"/>
          <p:nvPr/>
        </p:nvSpPr>
        <p:spPr>
          <a:xfrm>
            <a:off x="3312000" y="1188000"/>
            <a:ext cx="2628000" cy="55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100" b="0" dirty="0" smtClean="0">
                <a:solidFill>
                  <a:srgbClr val="9AA6D6"/>
                </a:solidFill>
                <a:latin typeface="+mj-lt"/>
              </a:rPr>
              <a:t>Qaror va xizmat tezlashadi.</a:t>
            </a:r>
          </a:p>
        </p:txBody>
      </p:sp>
      <p:sp>
        <p:nvSpPr>
          <p:cNvPr id="556" name="r556"/>
          <p:cNvSpPr>
            <a:spLocks noGrp="1"/>
          </p:cNvSpPr>
          <p:nvPr/>
        </p:nvSpPr>
        <p:spPr>
          <a:xfrm>
            <a:off x="6228000" y="720000"/>
            <a:ext cx="2808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57" name="r557"/>
          <p:cNvSpPr>
            <a:spLocks noGrp="1"/>
          </p:cNvSpPr>
          <p:nvPr/>
        </p:nvSpPr>
        <p:spPr>
          <a:xfrm>
            <a:off x="6228000" y="720000"/>
            <a:ext cx="2808000" cy="900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558" name="t558"/>
          <p:cNvSpPr txBox="1"/>
          <p:nvPr/>
        </p:nvSpPr>
        <p:spPr>
          <a:xfrm>
            <a:off x="6336000" y="882000"/>
            <a:ext cx="2628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1" dirty="0" smtClean="0">
                <a:solidFill>
                  <a:srgbClr val="FFFFFF"/>
                </a:solidFill>
                <a:latin typeface="+mj-lt"/>
              </a:rPr>
              <a:t>Qulaylik</a:t>
            </a:r>
          </a:p>
        </p:txBody>
      </p:sp>
      <p:sp>
        <p:nvSpPr>
          <p:cNvPr id="559" name="t559"/>
          <p:cNvSpPr txBox="1"/>
          <p:nvPr/>
        </p:nvSpPr>
        <p:spPr>
          <a:xfrm>
            <a:off x="6336000" y="1188000"/>
            <a:ext cx="2628000" cy="55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100" b="0" dirty="0" smtClean="0">
                <a:solidFill>
                  <a:srgbClr val="9AA6D6"/>
                </a:solidFill>
                <a:latin typeface="+mj-lt"/>
              </a:rPr>
              <a:t>Masofa to'siqlari yo'qoladi.</a:t>
            </a:r>
          </a:p>
        </p:txBody>
      </p:sp>
      <p:sp>
        <p:nvSpPr>
          <p:cNvPr id="560" name="r560"/>
          <p:cNvSpPr>
            <a:spLocks noGrp="1"/>
          </p:cNvSpPr>
          <p:nvPr/>
        </p:nvSpPr>
        <p:spPr>
          <a:xfrm>
            <a:off x="9252000" y="720000"/>
            <a:ext cx="2808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61" name="r561"/>
          <p:cNvSpPr>
            <a:spLocks noGrp="1"/>
          </p:cNvSpPr>
          <p:nvPr/>
        </p:nvSpPr>
        <p:spPr>
          <a:xfrm>
            <a:off x="9252000" y="720000"/>
            <a:ext cx="2808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62" name="t562"/>
          <p:cNvSpPr txBox="1"/>
          <p:nvPr/>
        </p:nvSpPr>
        <p:spPr>
          <a:xfrm>
            <a:off x="9360000" y="882000"/>
            <a:ext cx="2628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1" dirty="0" smtClean="0">
                <a:solidFill>
                  <a:srgbClr val="FFFFFF"/>
                </a:solidFill>
                <a:latin typeface="+mj-lt"/>
              </a:rPr>
              <a:t>Tejamkorlik</a:t>
            </a:r>
          </a:p>
        </p:txBody>
      </p:sp>
      <p:sp>
        <p:nvSpPr>
          <p:cNvPr id="563" name="t563"/>
          <p:cNvSpPr txBox="1"/>
          <p:nvPr/>
        </p:nvSpPr>
        <p:spPr>
          <a:xfrm>
            <a:off x="9360000" y="1188000"/>
            <a:ext cx="2628000" cy="55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100" b="0" dirty="0" smtClean="0">
                <a:solidFill>
                  <a:srgbClr val="9AA6D6"/>
                </a:solidFill>
                <a:latin typeface="+mj-lt"/>
              </a:rPr>
              <a:t>Uzoq muddatda xarajat kamayadi.</a:t>
            </a:r>
          </a:p>
        </p:txBody>
      </p:sp>
      <p:sp>
        <p:nvSpPr>
          <p:cNvPr id="564" name="r564"/>
          <p:cNvSpPr>
            <a:spLocks noGrp="1"/>
          </p:cNvSpPr>
          <p:nvPr/>
        </p:nvSpPr>
        <p:spPr>
          <a:xfrm>
            <a:off x="180000" y="1980000"/>
            <a:ext cx="3911999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65" name="t565"/>
          <p:cNvSpPr txBox="1"/>
          <p:nvPr/>
        </p:nvSpPr>
        <p:spPr>
          <a:xfrm>
            <a:off x="252000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22E6FF"/>
                </a:solidFill>
                <a:latin typeface="+mj-lt"/>
              </a:rPr>
              <a:t>24/7</a:t>
            </a:r>
          </a:p>
        </p:txBody>
      </p:sp>
      <p:sp>
        <p:nvSpPr>
          <p:cNvPr id="566" name="t566"/>
          <p:cNvSpPr txBox="1"/>
          <p:nvPr/>
        </p:nvSpPr>
        <p:spPr>
          <a:xfrm>
            <a:off x="252000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Uzluksiz monitoring</a:t>
            </a:r>
          </a:p>
        </p:txBody>
      </p:sp>
      <p:sp>
        <p:nvSpPr>
          <p:cNvPr id="567" name="r567"/>
          <p:cNvSpPr>
            <a:spLocks noGrp="1"/>
          </p:cNvSpPr>
          <p:nvPr/>
        </p:nvSpPr>
        <p:spPr>
          <a:xfrm>
            <a:off x="4199999" y="1980000"/>
            <a:ext cx="3911999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68" name="t568"/>
          <p:cNvSpPr txBox="1"/>
          <p:nvPr/>
        </p:nvSpPr>
        <p:spPr>
          <a:xfrm>
            <a:off x="4271999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22E6FF"/>
                </a:solidFill>
                <a:latin typeface="+mj-lt"/>
              </a:rPr>
              <a:t>Qamrov</a:t>
            </a:r>
          </a:p>
        </p:txBody>
      </p:sp>
      <p:sp>
        <p:nvSpPr>
          <p:cNvPr id="569" name="t569"/>
          <p:cNvSpPr txBox="1"/>
          <p:nvPr/>
        </p:nvSpPr>
        <p:spPr>
          <a:xfrm>
            <a:off x="4271999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Olis hududlar</a:t>
            </a:r>
          </a:p>
        </p:txBody>
      </p:sp>
      <p:sp>
        <p:nvSpPr>
          <p:cNvPr id="570" name="r570"/>
          <p:cNvSpPr>
            <a:spLocks noGrp="1"/>
          </p:cNvSpPr>
          <p:nvPr/>
        </p:nvSpPr>
        <p:spPr>
          <a:xfrm>
            <a:off x="8219998" y="1980000"/>
            <a:ext cx="3911999" cy="792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71" name="t571"/>
          <p:cNvSpPr txBox="1"/>
          <p:nvPr/>
        </p:nvSpPr>
        <p:spPr>
          <a:xfrm>
            <a:off x="8291998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22E6FF"/>
                </a:solidFill>
                <a:latin typeface="+mj-lt"/>
              </a:rPr>
              <a:t>Ta'lim</a:t>
            </a:r>
          </a:p>
        </p:txBody>
      </p:sp>
      <p:sp>
        <p:nvSpPr>
          <p:cNvPr id="572" name="t572"/>
          <p:cNvSpPr txBox="1"/>
          <p:nvPr/>
        </p:nvSpPr>
        <p:spPr>
          <a:xfrm>
            <a:off x="8291998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Xavfsiz mashq</a:t>
            </a:r>
          </a:p>
        </p:txBody>
      </p:sp>
    </p:spTree>
  </p:cSld>
  <p:clrMapOvr>
    <a:masterClr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573" name="r573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74" name="t574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10 · TO'SIQLAR VA YECHIMLAR</a:t>
            </a:r>
          </a:p>
        </p:txBody>
      </p:sp>
      <p:sp>
        <p:nvSpPr>
          <p:cNvPr id="575" name="r575"/>
          <p:cNvSpPr>
            <a:spLocks noGrp="1"/>
          </p:cNvSpPr>
          <p:nvPr/>
        </p:nvSpPr>
        <p:spPr>
          <a:xfrm>
            <a:off x="180000" y="684000"/>
            <a:ext cx="5688000" cy="2700000"/>
          </a:xfrm>
          <a:prstGeom prst="rect">
            <a:avLst/>
          </a:prstGeom>
          <a:solidFill>
            <a:srgbClr val="2A1020"/>
          </a:solidFill>
          <a:ln>
            <a:noFill/>
          </a:ln>
        </p:spPr>
        <p:txBody>
          <a:bodyPr/>
          <a:lstStyle/>
          <a:p/>
        </p:txBody>
      </p:sp>
      <p:sp>
        <p:nvSpPr>
          <p:cNvPr id="576" name="t576"/>
          <p:cNvSpPr txBox="1"/>
          <p:nvPr/>
        </p:nvSpPr>
        <p:spPr>
          <a:xfrm>
            <a:off x="324000" y="792000"/>
            <a:ext cx="504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52D9"/>
                </a:solidFill>
                <a:latin typeface="+mj-lt"/>
              </a:rPr>
              <a:t>MUAMMOLAR</a:t>
            </a:r>
          </a:p>
        </p:txBody>
      </p:sp>
      <p:sp>
        <p:nvSpPr>
          <p:cNvPr id="577" name="r577"/>
          <p:cNvSpPr>
            <a:spLocks noGrp="1"/>
          </p:cNvSpPr>
          <p:nvPr/>
        </p:nvSpPr>
        <p:spPr>
          <a:xfrm>
            <a:off x="324000" y="12312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578" name="t578"/>
          <p:cNvSpPr txBox="1"/>
          <p:nvPr/>
        </p:nvSpPr>
        <p:spPr>
          <a:xfrm>
            <a:off x="449999" y="11520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Ma'lumotlar maxfiyligi va kiberxavfsizlik</a:t>
            </a:r>
          </a:p>
        </p:txBody>
      </p:sp>
      <p:sp>
        <p:nvSpPr>
          <p:cNvPr id="579" name="r579"/>
          <p:cNvSpPr>
            <a:spLocks noGrp="1"/>
          </p:cNvSpPr>
          <p:nvPr/>
        </p:nvSpPr>
        <p:spPr>
          <a:xfrm>
            <a:off x="324000" y="15264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580" name="t580"/>
          <p:cNvSpPr txBox="1"/>
          <p:nvPr/>
        </p:nvSpPr>
        <p:spPr>
          <a:xfrm>
            <a:off x="449999" y="14472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Yuqori boshlang'ich xarajat va infratuzilma</a:t>
            </a:r>
          </a:p>
        </p:txBody>
      </p:sp>
      <p:sp>
        <p:nvSpPr>
          <p:cNvPr id="581" name="r581"/>
          <p:cNvSpPr>
            <a:spLocks noGrp="1"/>
          </p:cNvSpPr>
          <p:nvPr/>
        </p:nvSpPr>
        <p:spPr>
          <a:xfrm>
            <a:off x="324000" y="18216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582" name="t582"/>
          <p:cNvSpPr txBox="1"/>
          <p:nvPr/>
        </p:nvSpPr>
        <p:spPr>
          <a:xfrm>
            <a:off x="449999" y="17424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Huquqiy-etik baza va javobgarlik</a:t>
            </a:r>
          </a:p>
        </p:txBody>
      </p:sp>
      <p:sp>
        <p:nvSpPr>
          <p:cNvPr id="583" name="r583"/>
          <p:cNvSpPr>
            <a:spLocks noGrp="1"/>
          </p:cNvSpPr>
          <p:nvPr/>
        </p:nvSpPr>
        <p:spPr>
          <a:xfrm>
            <a:off x="324000" y="21168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584" name="t584"/>
          <p:cNvSpPr txBox="1"/>
          <p:nvPr/>
        </p:nvSpPr>
        <p:spPr>
          <a:xfrm>
            <a:off x="449999" y="20376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Raqamli tengsizlik (internet / qurilma)</a:t>
            </a:r>
          </a:p>
        </p:txBody>
      </p:sp>
      <p:sp>
        <p:nvSpPr>
          <p:cNvPr id="585" name="r585"/>
          <p:cNvSpPr>
            <a:spLocks noGrp="1"/>
          </p:cNvSpPr>
          <p:nvPr/>
        </p:nvSpPr>
        <p:spPr>
          <a:xfrm>
            <a:off x="324000" y="2412000"/>
            <a:ext cx="57600" cy="576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586" name="t586"/>
          <p:cNvSpPr txBox="1"/>
          <p:nvPr/>
        </p:nvSpPr>
        <p:spPr>
          <a:xfrm>
            <a:off x="449999" y="23328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Kadrlar malakasi va qarshilik</a:t>
            </a:r>
          </a:p>
        </p:txBody>
      </p:sp>
      <p:sp>
        <p:nvSpPr>
          <p:cNvPr id="587" name="r587"/>
          <p:cNvSpPr>
            <a:spLocks noGrp="1"/>
          </p:cNvSpPr>
          <p:nvPr/>
        </p:nvSpPr>
        <p:spPr>
          <a:xfrm>
            <a:off x="6228000" y="684000"/>
            <a:ext cx="5688000" cy="2700000"/>
          </a:xfrm>
          <a:prstGeom prst="rect">
            <a:avLst/>
          </a:prstGeom>
          <a:solidFill>
            <a:srgbClr val="0D2030"/>
          </a:solidFill>
          <a:ln>
            <a:noFill/>
          </a:ln>
        </p:spPr>
        <p:txBody>
          <a:bodyPr/>
          <a:lstStyle/>
          <a:p/>
        </p:txBody>
      </p:sp>
      <p:sp>
        <p:nvSpPr>
          <p:cNvPr id="588" name="t588"/>
          <p:cNvSpPr txBox="1"/>
          <p:nvPr/>
        </p:nvSpPr>
        <p:spPr>
          <a:xfrm>
            <a:off x="6372000" y="792000"/>
            <a:ext cx="504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22E6FF"/>
                </a:solidFill>
                <a:latin typeface="+mj-lt"/>
              </a:rPr>
              <a:t>YECHIMLAR</a:t>
            </a:r>
          </a:p>
        </p:txBody>
      </p:sp>
      <p:sp>
        <p:nvSpPr>
          <p:cNvPr id="589" name="r589"/>
          <p:cNvSpPr>
            <a:spLocks noGrp="1"/>
          </p:cNvSpPr>
          <p:nvPr/>
        </p:nvSpPr>
        <p:spPr>
          <a:xfrm>
            <a:off x="6372000" y="1231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90" name="t590"/>
          <p:cNvSpPr txBox="1"/>
          <p:nvPr/>
        </p:nvSpPr>
        <p:spPr>
          <a:xfrm>
            <a:off x="6497999" y="11520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Shifrlash va standartlar (HL7/FHIR, GDPR)</a:t>
            </a:r>
          </a:p>
        </p:txBody>
      </p:sp>
      <p:sp>
        <p:nvSpPr>
          <p:cNvPr id="591" name="r591"/>
          <p:cNvSpPr>
            <a:spLocks noGrp="1"/>
          </p:cNvSpPr>
          <p:nvPr/>
        </p:nvSpPr>
        <p:spPr>
          <a:xfrm>
            <a:off x="6372000" y="15264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92" name="t592"/>
          <p:cNvSpPr txBox="1"/>
          <p:nvPr/>
        </p:nvSpPr>
        <p:spPr>
          <a:xfrm>
            <a:off x="6497999" y="14472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Bosqichma-bosqich joriy etish va pilotlar</a:t>
            </a:r>
          </a:p>
        </p:txBody>
      </p:sp>
      <p:sp>
        <p:nvSpPr>
          <p:cNvPr id="593" name="r593"/>
          <p:cNvSpPr>
            <a:spLocks noGrp="1"/>
          </p:cNvSpPr>
          <p:nvPr/>
        </p:nvSpPr>
        <p:spPr>
          <a:xfrm>
            <a:off x="6372000" y="1821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94" name="t594"/>
          <p:cNvSpPr txBox="1"/>
          <p:nvPr/>
        </p:nvSpPr>
        <p:spPr>
          <a:xfrm>
            <a:off x="6497999" y="17424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Aniq normativ-huquqiy hujjatlar</a:t>
            </a:r>
          </a:p>
        </p:txBody>
      </p:sp>
      <p:sp>
        <p:nvSpPr>
          <p:cNvPr id="595" name="r595"/>
          <p:cNvSpPr>
            <a:spLocks noGrp="1"/>
          </p:cNvSpPr>
          <p:nvPr/>
        </p:nvSpPr>
        <p:spPr>
          <a:xfrm>
            <a:off x="6372000" y="21168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96" name="t596"/>
          <p:cNvSpPr txBox="1"/>
          <p:nvPr/>
        </p:nvSpPr>
        <p:spPr>
          <a:xfrm>
            <a:off x="6497999" y="20376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Davlat dasturlari va internet qamrovi</a:t>
            </a:r>
          </a:p>
        </p:txBody>
      </p:sp>
      <p:sp>
        <p:nvSpPr>
          <p:cNvPr id="597" name="r597"/>
          <p:cNvSpPr>
            <a:spLocks noGrp="1"/>
          </p:cNvSpPr>
          <p:nvPr/>
        </p:nvSpPr>
        <p:spPr>
          <a:xfrm>
            <a:off x="6372000" y="24120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98" name="t598"/>
          <p:cNvSpPr txBox="1"/>
          <p:nvPr/>
        </p:nvSpPr>
        <p:spPr>
          <a:xfrm>
            <a:off x="6497999" y="23328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EAF0FF"/>
                </a:solidFill>
                <a:latin typeface="+mj-lt"/>
              </a:rPr>
              <a:t>Uzluksiz o'qitish va sertifikatsiya</a:t>
            </a:r>
          </a:p>
        </p:txBody>
      </p:sp>
    </p:spTree>
  </p:cSld>
  <p:clrMapOvr>
    <a:masterClr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599" name="r599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00" name="t600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11 · ISTIQBOL YO'NALISHLARI</a:t>
            </a:r>
          </a:p>
        </p:txBody>
      </p:sp>
      <p:sp>
        <p:nvSpPr>
          <p:cNvPr id="601" name="r601"/>
          <p:cNvSpPr>
            <a:spLocks noGrp="1"/>
          </p:cNvSpPr>
          <p:nvPr/>
        </p:nvSpPr>
        <p:spPr>
          <a:xfrm>
            <a:off x="180000" y="72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602" name="r602"/>
          <p:cNvSpPr>
            <a:spLocks noGrp="1"/>
          </p:cNvSpPr>
          <p:nvPr/>
        </p:nvSpPr>
        <p:spPr>
          <a:xfrm>
            <a:off x="180000" y="720000"/>
            <a:ext cx="3780000" cy="90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03" name="t603"/>
          <p:cNvSpPr txBox="1"/>
          <p:nvPr/>
        </p:nvSpPr>
        <p:spPr>
          <a:xfrm>
            <a:off x="288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Raqamli egizak</a:t>
            </a:r>
          </a:p>
        </p:txBody>
      </p:sp>
      <p:sp>
        <p:nvSpPr>
          <p:cNvPr id="604" name="t604"/>
          <p:cNvSpPr txBox="1"/>
          <p:nvPr/>
        </p:nvSpPr>
        <p:spPr>
          <a:xfrm>
            <a:off x="288000" y="1188000"/>
            <a:ext cx="3600000" cy="55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Bemorning virtual modeli orqali davoni oldindan sinash.</a:t>
            </a:r>
          </a:p>
        </p:txBody>
      </p:sp>
      <p:sp>
        <p:nvSpPr>
          <p:cNvPr id="605" name="r605"/>
          <p:cNvSpPr>
            <a:spLocks noGrp="1"/>
          </p:cNvSpPr>
          <p:nvPr/>
        </p:nvSpPr>
        <p:spPr>
          <a:xfrm>
            <a:off x="4176000" y="72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606" name="r606"/>
          <p:cNvSpPr>
            <a:spLocks noGrp="1"/>
          </p:cNvSpPr>
          <p:nvPr/>
        </p:nvSpPr>
        <p:spPr>
          <a:xfrm>
            <a:off x="4176000" y="720000"/>
            <a:ext cx="3780000" cy="900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07" name="t607"/>
          <p:cNvSpPr txBox="1"/>
          <p:nvPr/>
        </p:nvSpPr>
        <p:spPr>
          <a:xfrm>
            <a:off x="4284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Generativ AI</a:t>
            </a:r>
          </a:p>
        </p:txBody>
      </p:sp>
      <p:sp>
        <p:nvSpPr>
          <p:cNvPr id="608" name="t608"/>
          <p:cNvSpPr txBox="1"/>
          <p:nvPr/>
        </p:nvSpPr>
        <p:spPr>
          <a:xfrm>
            <a:off x="4284000" y="1188000"/>
            <a:ext cx="3600000" cy="55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Hujjat, tavsiya va ta'limda yangi avlod yordamchilari.</a:t>
            </a:r>
          </a:p>
        </p:txBody>
      </p:sp>
      <p:sp>
        <p:nvSpPr>
          <p:cNvPr id="609" name="r609"/>
          <p:cNvSpPr>
            <a:spLocks noGrp="1"/>
          </p:cNvSpPr>
          <p:nvPr/>
        </p:nvSpPr>
        <p:spPr>
          <a:xfrm>
            <a:off x="8172000" y="720000"/>
            <a:ext cx="3780000" cy="10800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txBody>
          <a:bodyPr/>
          <a:lstStyle/>
          <a:p/>
        </p:txBody>
      </p:sp>
      <p:sp>
        <p:nvSpPr>
          <p:cNvPr id="610" name="r610"/>
          <p:cNvSpPr>
            <a:spLocks noGrp="1"/>
          </p:cNvSpPr>
          <p:nvPr/>
        </p:nvSpPr>
        <p:spPr>
          <a:xfrm>
            <a:off x="8172000" y="720000"/>
            <a:ext cx="3780000" cy="90000"/>
          </a:xfrm>
          <a:prstGeom prst="rect">
            <a:avLst/>
          </a:prstGeom>
          <a:solidFill>
            <a:srgbClr val="FF52D9"/>
          </a:solidFill>
          <a:ln>
            <a:noFill/>
          </a:ln>
        </p:spPr>
        <p:txBody>
          <a:bodyPr/>
          <a:lstStyle/>
          <a:p/>
        </p:txBody>
      </p:sp>
      <p:sp>
        <p:nvSpPr>
          <p:cNvPr id="611" name="t611"/>
          <p:cNvSpPr txBox="1"/>
          <p:nvPr/>
        </p:nvSpPr>
        <p:spPr>
          <a:xfrm>
            <a:off x="8280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FFFFFF"/>
                </a:solidFill>
                <a:latin typeface="+mj-lt"/>
              </a:rPr>
              <a:t>Metaverse-klinika</a:t>
            </a:r>
          </a:p>
        </p:txBody>
      </p:sp>
      <p:sp>
        <p:nvSpPr>
          <p:cNvPr id="612" name="t612"/>
          <p:cNvSpPr txBox="1"/>
          <p:nvPr/>
        </p:nvSpPr>
        <p:spPr>
          <a:xfrm>
            <a:off x="8280000" y="1188000"/>
            <a:ext cx="3600000" cy="55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9AA6D6"/>
                </a:solidFill>
                <a:latin typeface="+mj-lt"/>
              </a:rPr>
              <a:t>Immersiv virtual qabulxonalar va jamoaviy operatsiya.</a:t>
            </a:r>
          </a:p>
        </p:txBody>
      </p:sp>
      <p:sp>
        <p:nvSpPr>
          <p:cNvPr id="613" name="t613"/>
          <p:cNvSpPr txBox="1"/>
          <p:nvPr/>
        </p:nvSpPr>
        <p:spPr>
          <a:xfrm>
            <a:off x="216000" y="2160000"/>
            <a:ext cx="1152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1" dirty="0" smtClean="0">
                <a:solidFill>
                  <a:srgbClr val="22E6FF"/>
                </a:solidFill>
                <a:latin typeface="+mj-lt"/>
              </a:rPr>
              <a:t>Texnologiyalar shifokorni ALMASHTIRMAYDI — imkoniyatlarini kuchaytiradi.</a:t>
            </a:r>
          </a:p>
          <a:p>
            <a:pPr algn="l" indent="0" marL="0"/>
            <a:r>
              <a:rPr lang="uz-UZ" sz="1400" b="0" dirty="0" smtClean="0">
                <a:solidFill>
                  <a:srgbClr val="9AA6D6"/>
                </a:solidFill>
                <a:latin typeface="+mj-lt"/>
              </a:rPr>
              <a:t>Qaror baribir inson zimmasida qoladi.</a:t>
            </a:r>
          </a:p>
        </p:txBody>
      </p:sp>
    </p:spTree>
  </p:cSld>
  <p:clrMapOvr>
    <a:masterClr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614" name="r614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15" name="t615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ASOSIY XULOSALAR</a:t>
            </a:r>
          </a:p>
        </p:txBody>
      </p:sp>
      <p:sp>
        <p:nvSpPr>
          <p:cNvPr id="616" name="r616"/>
          <p:cNvSpPr>
            <a:spLocks noGrp="1"/>
          </p:cNvSpPr>
          <p:nvPr/>
        </p:nvSpPr>
        <p:spPr>
          <a:xfrm>
            <a:off x="360000" y="8712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17" name="t617"/>
          <p:cNvSpPr txBox="1"/>
          <p:nvPr/>
        </p:nvSpPr>
        <p:spPr>
          <a:xfrm>
            <a:off x="485999" y="792000"/>
            <a:ext cx="110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EAF0FF"/>
                </a:solidFill>
                <a:latin typeface="+mj-lt"/>
              </a:rPr>
              <a:t>VR/AR, AI va telemeditsina tashxis, davolash va reabilitatsiyani sifat jihatdan yangilaydi.</a:t>
            </a:r>
          </a:p>
        </p:txBody>
      </p:sp>
      <p:sp>
        <p:nvSpPr>
          <p:cNvPr id="618" name="r618"/>
          <p:cNvSpPr>
            <a:spLocks noGrp="1"/>
          </p:cNvSpPr>
          <p:nvPr/>
        </p:nvSpPr>
        <p:spPr>
          <a:xfrm>
            <a:off x="360000" y="11664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19" name="t619"/>
          <p:cNvSpPr txBox="1"/>
          <p:nvPr/>
        </p:nvSpPr>
        <p:spPr>
          <a:xfrm>
            <a:off x="485999" y="1087200"/>
            <a:ext cx="110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EAF0FF"/>
                </a:solidFill>
                <a:latin typeface="+mj-lt"/>
              </a:rPr>
              <a:t>Ularning integratsiyasi uzluksiz bemor yo'lini (tashxis → davo → tiklanish) yaratadi.</a:t>
            </a:r>
          </a:p>
        </p:txBody>
      </p:sp>
      <p:sp>
        <p:nvSpPr>
          <p:cNvPr id="620" name="r620"/>
          <p:cNvSpPr>
            <a:spLocks noGrp="1"/>
          </p:cNvSpPr>
          <p:nvPr/>
        </p:nvSpPr>
        <p:spPr>
          <a:xfrm>
            <a:off x="360000" y="14616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21" name="t621"/>
          <p:cNvSpPr txBox="1"/>
          <p:nvPr/>
        </p:nvSpPr>
        <p:spPr>
          <a:xfrm>
            <a:off x="485999" y="1382400"/>
            <a:ext cx="110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EAF0FF"/>
                </a:solidFill>
                <a:latin typeface="+mj-lt"/>
              </a:rPr>
              <a:t>Maxfiylik, etika va kadrlar tayyorgarligi — muvaffaqiyatning asosiy sharti.</a:t>
            </a:r>
          </a:p>
        </p:txBody>
      </p:sp>
      <p:sp>
        <p:nvSpPr>
          <p:cNvPr id="622" name="r622"/>
          <p:cNvSpPr>
            <a:spLocks noGrp="1"/>
          </p:cNvSpPr>
          <p:nvPr/>
        </p:nvSpPr>
        <p:spPr>
          <a:xfrm>
            <a:off x="360000" y="1756800"/>
            <a:ext cx="57600" cy="57600"/>
          </a:xfrm>
          <a:prstGeom prst="rect">
            <a:avLst/>
          </a:prstGeom>
          <a:solidFill>
            <a:srgbClr val="22E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23" name="t623"/>
          <p:cNvSpPr txBox="1"/>
          <p:nvPr/>
        </p:nvSpPr>
        <p:spPr>
          <a:xfrm>
            <a:off x="485999" y="1677600"/>
            <a:ext cx="110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EAF0FF"/>
                </a:solidFill>
                <a:latin typeface="+mj-lt"/>
              </a:rPr>
              <a:t>Bosqichma-bosqich va inson nazorati ostida joriy etish eng samarali yondashuv.</a:t>
            </a:r>
          </a:p>
        </p:txBody>
      </p:sp>
    </p:spTree>
  </p:cSld>
  <p:clrMapOvr>
    <a:masterClr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07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624" name="r624"/>
          <p:cNvSpPr>
            <a:spLocks noGrp="1"/>
          </p:cNvSpPr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70713"/>
          </a:solidFill>
          <a:ln>
            <a:noFill/>
          </a:ln>
        </p:spPr>
        <p:txBody>
          <a:bodyPr/>
          <a:lstStyle/>
          <a:p/>
        </p:txBody>
      </p:sp>
      <p:sp>
        <p:nvSpPr>
          <p:cNvPr id="625" name="r625"/>
          <p:cNvSpPr>
            <a:spLocks noGrp="1"/>
          </p:cNvSpPr>
          <p:nvPr/>
        </p:nvSpPr>
        <p:spPr>
          <a:xfrm>
            <a:off x="0" y="0"/>
            <a:ext cx="12192119" cy="162000"/>
          </a:xfrm>
          <a:prstGeom prst="rect">
            <a:avLst/>
          </a:prstGeom>
          <a:solidFill>
            <a:srgbClr val="8B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26" name="r626"/>
          <p:cNvSpPr>
            <a:spLocks noGrp="1"/>
          </p:cNvSpPr>
          <p:nvPr/>
        </p:nvSpPr>
        <p:spPr>
          <a:xfrm>
            <a:off x="0" y="6696000"/>
            <a:ext cx="12192119" cy="162000"/>
          </a:xfrm>
          <a:prstGeom prst="rect">
            <a:avLst/>
          </a:prstGeom>
          <a:solidFill>
            <a:srgbClr val="1CB3CC"/>
          </a:solidFill>
          <a:ln>
            <a:noFill/>
          </a:ln>
        </p:spPr>
        <p:txBody>
          <a:bodyPr/>
          <a:lstStyle/>
          <a:p/>
        </p:txBody>
      </p:sp>
      <p:sp>
        <p:nvSpPr>
          <p:cNvPr id="627" name="t627"/>
          <p:cNvSpPr txBox="1"/>
          <p:nvPr/>
        </p:nvSpPr>
        <p:spPr>
          <a:xfrm>
            <a:off x="0" y="1080000"/>
            <a:ext cx="12192119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3600" b="1" dirty="0" smtClean="0">
                <a:solidFill>
                  <a:srgbClr val="FFFFFF"/>
                </a:solidFill>
                <a:latin typeface="+mj-lt"/>
              </a:rPr>
              <a:t>E'tiboringiz uchun rahmat!</a:t>
            </a:r>
          </a:p>
        </p:txBody>
      </p:sp>
      <p:sp>
        <p:nvSpPr>
          <p:cNvPr id="628" name="t628"/>
          <p:cNvSpPr txBox="1"/>
          <p:nvPr/>
        </p:nvSpPr>
        <p:spPr>
          <a:xfrm>
            <a:off x="0" y="1980000"/>
            <a:ext cx="12192119" cy="43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800" b="0" dirty="0" smtClean="0">
                <a:solidFill>
                  <a:srgbClr val="22E6FF"/>
                </a:solidFill>
                <a:latin typeface="+mj-lt"/>
              </a:rPr>
              <a:t>Kelajak tibbiyoti — texnologiya va insoniylikning uyg'unligi.</a:t>
            </a:r>
          </a:p>
        </p:txBody>
      </p:sp>
      <p:sp>
        <p:nvSpPr>
          <p:cNvPr id="629" name="t629"/>
          <p:cNvSpPr txBox="1"/>
          <p:nvPr/>
        </p:nvSpPr>
        <p:spPr>
          <a:xfrm>
            <a:off x="0" y="2700000"/>
            <a:ext cx="12192119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400" b="0" dirty="0" smtClean="0">
                <a:solidFill>
                  <a:srgbClr val="9AA6D6"/>
                </a:solidFill>
                <a:latin typeface="+mj-lt"/>
              </a:rPr>
              <a:t>MedTech  ·  2026</a:t>
            </a:r>
          </a:p>
        </p:txBody>
      </p:sp>
    </p:spTree>
  </p:cSld>
  <p:clrMapOvr>
    <a:masterClr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lastClr="000000" val="windowText"/>
      </a:dk1>
      <a:lt1>
        <a:sysClr lastClr="FFFFFF" val="window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100000">
              <a:schemeClr val="phClr">
                <a:tint val="98000"/>
                <a:lumMod val="103000"/>
                <a:satMod val="120000"/>
                <a:shade val="94000"/>
              </a:schemeClr>
            </a:gs>
          </a:gsLst>
          <a:lin ang="16200000" scaled="0"/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VR/AR, AI va telemeditsina-telereabilitatsiyani klinik amaliyotga joriy etish</dc:title>
  <dc:creator>Kiro AI</dc:creator>
</cp:coreProperties>
</file>